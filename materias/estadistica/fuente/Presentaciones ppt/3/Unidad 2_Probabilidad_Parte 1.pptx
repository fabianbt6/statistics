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382" r:id="rId3"/>
    <p:sldId id="407" r:id="rId4"/>
    <p:sldId id="408" r:id="rId5"/>
    <p:sldId id="424" r:id="rId6"/>
    <p:sldId id="423" r:id="rId7"/>
    <p:sldId id="425" r:id="rId8"/>
    <p:sldId id="426" r:id="rId9"/>
    <p:sldId id="427" r:id="rId10"/>
    <p:sldId id="428" r:id="rId11"/>
    <p:sldId id="429" r:id="rId12"/>
    <p:sldId id="431" r:id="rId13"/>
    <p:sldId id="421" r:id="rId14"/>
    <p:sldId id="432" r:id="rId15"/>
    <p:sldId id="433" r:id="rId16"/>
    <p:sldId id="435" r:id="rId17"/>
    <p:sldId id="434" r:id="rId18"/>
    <p:sldId id="436" r:id="rId19"/>
    <p:sldId id="437" r:id="rId20"/>
    <p:sldId id="438" r:id="rId21"/>
    <p:sldId id="440" r:id="rId22"/>
    <p:sldId id="439" r:id="rId23"/>
    <p:sldId id="443" r:id="rId24"/>
    <p:sldId id="441" r:id="rId25"/>
    <p:sldId id="442" r:id="rId26"/>
    <p:sldId id="444" r:id="rId27"/>
    <p:sldId id="445" r:id="rId28"/>
    <p:sldId id="465" r:id="rId29"/>
    <p:sldId id="422" r:id="rId30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F9F"/>
    <a:srgbClr val="000000"/>
    <a:srgbClr val="E31D93"/>
    <a:srgbClr val="FFD600"/>
    <a:srgbClr val="00B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34F677-7D38-4CC3-8173-3CA1B48CAFB7}" v="1" dt="2026-06-06T00:02:44.7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9"/>
    <p:restoredTop sz="92218" autoAdjust="0"/>
  </p:normalViewPr>
  <p:slideViewPr>
    <p:cSldViewPr snapToGrid="0">
      <p:cViewPr varScale="1">
        <p:scale>
          <a:sx n="113" d="100"/>
          <a:sy n="113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Brenes" userId="0a98a788-2542-4baf-b081-64ee1e965425" providerId="ADAL" clId="{3D44E08D-C675-4D64-922C-0261EF110F0B}"/>
    <pc:docChg chg="undo redo custSel addSld delSld modSld sldOrd">
      <pc:chgData name="Fabian Brenes" userId="0a98a788-2542-4baf-b081-64ee1e965425" providerId="ADAL" clId="{3D44E08D-C675-4D64-922C-0261EF110F0B}" dt="2026-06-06T00:24:11.600" v="10295" actId="1076"/>
      <pc:docMkLst>
        <pc:docMk/>
      </pc:docMkLst>
      <pc:sldChg chg="modSp add mod">
        <pc:chgData name="Fabian Brenes" userId="0a98a788-2542-4baf-b081-64ee1e965425" providerId="ADAL" clId="{3D44E08D-C675-4D64-922C-0261EF110F0B}" dt="2026-06-06T00:24:11.600" v="10295" actId="1076"/>
        <pc:sldMkLst>
          <pc:docMk/>
          <pc:sldMk cId="2938256236" sldId="465"/>
        </pc:sldMkLst>
        <pc:picChg chg="mod">
          <ac:chgData name="Fabian Brenes" userId="0a98a788-2542-4baf-b081-64ee1e965425" providerId="ADAL" clId="{3D44E08D-C675-4D64-922C-0261EF110F0B}" dt="2026-06-06T00:24:11.600" v="10295" actId="1076"/>
          <ac:picMkLst>
            <pc:docMk/>
            <pc:sldMk cId="2938256236" sldId="465"/>
            <ac:picMk id="3" creationId="{1FAF3F26-E153-6998-BE37-BD9AA691BB7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90E02-228F-4EE4-B8DB-40CD5C605F12}" type="datetimeFigureOut">
              <a:rPr lang="es-CR" smtClean="0"/>
              <a:t>5/6/2026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78745-B1E6-4434-BB1A-E7B3F7352ADB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53189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678745-B1E6-4434-BB1A-E7B3F7352ADB}" type="slidenum">
              <a:rPr lang="es-CR" smtClean="0"/>
              <a:t>22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4687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678745-B1E6-4434-BB1A-E7B3F7352ADB}" type="slidenum">
              <a:rPr lang="es-CR" smtClean="0"/>
              <a:t>23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80431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678745-B1E6-4434-BB1A-E7B3F7352ADB}" type="slidenum">
              <a:rPr lang="es-CR" smtClean="0"/>
              <a:t>28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695224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5F2A3D7-D255-7DCD-6AEE-4A3CB82FF3F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435" t="3287" b="3287"/>
          <a:stretch/>
        </p:blipFill>
        <p:spPr>
          <a:xfrm>
            <a:off x="0" y="2494722"/>
            <a:ext cx="2600946" cy="956818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05F754BB-255D-0FE5-FB11-2E7D44DB33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26443" y="1176898"/>
            <a:ext cx="7794913" cy="225210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Trust Sans Black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FFE5A59-DA03-60BF-23E2-491F1C0AB5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26444" y="4165636"/>
            <a:ext cx="7794912" cy="957689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subtitle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942F5F3-D9C5-32A4-1D88-43EF7BE18CE7}"/>
              </a:ext>
            </a:extLst>
          </p:cNvPr>
          <p:cNvCxnSpPr>
            <a:cxnSpLocks/>
          </p:cNvCxnSpPr>
          <p:nvPr userDrawn="1"/>
        </p:nvCxnSpPr>
        <p:spPr>
          <a:xfrm>
            <a:off x="2926444" y="3741684"/>
            <a:ext cx="7794913" cy="0"/>
          </a:xfrm>
          <a:prstGeom prst="line">
            <a:avLst/>
          </a:prstGeom>
          <a:ln w="76200" cap="rnd">
            <a:solidFill>
              <a:srgbClr val="FFD600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197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43BE044-ED31-3F60-3A2F-7E880992B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8200" y="2735376"/>
            <a:ext cx="1139757" cy="7123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441604-9A2B-F58B-7730-B0BA9FF9D2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chemeClr val="bg1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80049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5D7F6B5-6E7F-9DFE-350A-5B76D265B4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3814" y="2735376"/>
            <a:ext cx="1139757" cy="71234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3C3988A-175F-3624-D13A-0B7D7469B5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32540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90F0828-C61C-4406-DC2A-08D1B900E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C64957B-02E4-9B5C-8E18-E36EA9BA263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C6D7E9F4-35B6-1C90-CF52-751FB46A86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37BC75-F084-050C-B722-406BB5C801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78A961E-E13E-27B7-195D-9EA2B5A9AFBA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94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822B41A-10D2-12DC-7415-C3DFB5FFA59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94509" y="2526894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EE44A15-0D2B-2A97-C607-CF9797EB1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4509" y="771305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Marcador de posición de imagen 2">
            <a:extLst>
              <a:ext uri="{FF2B5EF4-FFF2-40B4-BE49-F238E27FC236}">
                <a16:creationId xmlns:a16="http://schemas.microsoft.com/office/drawing/2014/main" id="{740D23F4-F7F1-B2AC-63CE-98E96B87EDA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902036" y="771306"/>
            <a:ext cx="5453352" cy="4444534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Trust Sans" pitchFamily="2" charset="7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CR" dirty="0" err="1"/>
              <a:t>Click</a:t>
            </a:r>
            <a:r>
              <a:rPr lang="es-CR" dirty="0"/>
              <a:t> </a:t>
            </a:r>
            <a:r>
              <a:rPr lang="es-CR" dirty="0" err="1"/>
              <a:t>to</a:t>
            </a:r>
            <a:r>
              <a:rPr lang="es-CR" dirty="0"/>
              <a:t> </a:t>
            </a:r>
            <a:r>
              <a:rPr lang="es-CR" dirty="0" err="1"/>
              <a:t>add</a:t>
            </a:r>
            <a:r>
              <a:rPr lang="es-CR" dirty="0"/>
              <a:t> a </a:t>
            </a:r>
            <a:r>
              <a:rPr lang="es-CR" dirty="0" err="1"/>
              <a:t>image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08235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2">
            <a:extLst>
              <a:ext uri="{FF2B5EF4-FFF2-40B4-BE49-F238E27FC236}">
                <a16:creationId xmlns:a16="http://schemas.microsoft.com/office/drawing/2014/main" id="{C70069F9-4D6A-A47A-AF4F-EED984AE3C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28928" y="2511123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2FB0BBF-334E-02E6-E3B0-595FF2DA8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8928" y="755534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9719F092-9774-93FA-2C6C-7F477253B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42363" y="698733"/>
            <a:ext cx="4918364" cy="4444534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588962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o liso +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588C353-EDDC-B884-9CAB-022D5154F4E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5E2DD159-D272-5B1F-5E0C-14A3DC6252E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757F612-090F-A7EF-4E70-7AAD35CF72DC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FC846CE2-3AED-AB04-9835-976A0147B7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pic>
        <p:nvPicPr>
          <p:cNvPr id="11" name="Imagen 7">
            <a:extLst>
              <a:ext uri="{FF2B5EF4-FFF2-40B4-BE49-F238E27FC236}">
                <a16:creationId xmlns:a16="http://schemas.microsoft.com/office/drawing/2014/main" id="{A5B6BF07-8364-9FED-F612-95E99DC32A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6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(NO US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0F7BE623-D05C-AB7B-74E9-BF7866F7D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2183" y="365125"/>
            <a:ext cx="98076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3F1B8A1-C662-D115-0579-1F78DFAED100}"/>
              </a:ext>
            </a:extLst>
          </p:cNvPr>
          <p:cNvCxnSpPr>
            <a:cxnSpLocks/>
          </p:cNvCxnSpPr>
          <p:nvPr userDrawn="1"/>
        </p:nvCxnSpPr>
        <p:spPr>
          <a:xfrm>
            <a:off x="999779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01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portada1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0">
            <a:extLst>
              <a:ext uri="{FF2B5EF4-FFF2-40B4-BE49-F238E27FC236}">
                <a16:creationId xmlns:a16="http://schemas.microsoft.com/office/drawing/2014/main" id="{5250FC87-7BE0-64CD-5A1C-F02DACE6C0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00" y="2686050"/>
            <a:ext cx="1139825" cy="711200"/>
          </a:xfrm>
          <a:prstGeom prst="rect">
            <a:avLst/>
          </a:prstGeom>
        </p:spPr>
      </p:pic>
      <p:pic>
        <p:nvPicPr>
          <p:cNvPr id="3" name="Imagen 13">
            <a:extLst>
              <a:ext uri="{FF2B5EF4-FFF2-40B4-BE49-F238E27FC236}">
                <a16:creationId xmlns:a16="http://schemas.microsoft.com/office/drawing/2014/main" id="{57B46863-8923-8669-6050-FFC1273C50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61563" y="5749925"/>
            <a:ext cx="1814512" cy="871538"/>
          </a:xfrm>
          <a:prstGeom prst="rect">
            <a:avLst/>
          </a:prstGeom>
        </p:spPr>
      </p:pic>
      <p:sp>
        <p:nvSpPr>
          <p:cNvPr id="9" name="Título 1"/>
          <p:cNvSpPr>
            <a:spLocks noGrp="1"/>
          </p:cNvSpPr>
          <p:nvPr>
            <p:ph type="ctrTitle"/>
          </p:nvPr>
        </p:nvSpPr>
        <p:spPr>
          <a:xfrm>
            <a:off x="2353235" y="2393265"/>
            <a:ext cx="7077635" cy="2393889"/>
          </a:xfrm>
        </p:spPr>
        <p:txBody>
          <a:bodyPr anchor="b">
            <a:normAutofit/>
          </a:bodyPr>
          <a:lstStyle>
            <a:lvl1pPr algn="l">
              <a:defRPr sz="8000" b="1" i="0">
                <a:solidFill>
                  <a:schemeClr val="bg1"/>
                </a:solidFill>
                <a:latin typeface="Trust Sans Bold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62436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659041-7ADC-62BC-6910-5620613E9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0333AB-DD6B-8268-4367-48E815507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3ADE5-809A-F847-849A-CF38205A1D8E}" type="datetimeFigureOut">
              <a:rPr lang="es-CR" smtClean="0"/>
              <a:t>5/6/2026</a:t>
            </a:fld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71165C-2410-72E9-B41A-2B2E95CD3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56CB7-7D20-A748-9388-BFDA1817F9B8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6315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2" r:id="rId4"/>
    <p:sldLayoutId id="2147483653" r:id="rId5"/>
    <p:sldLayoutId id="2147483659" r:id="rId6"/>
    <p:sldLayoutId id="2147483656" r:id="rId7"/>
    <p:sldLayoutId id="2147483657" r:id="rId8"/>
    <p:sldLayoutId id="214748366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3RAvqpEvYFw?feature=oembed" TargetMode="External"/><Relationship Id="rId4" Type="http://schemas.openxmlformats.org/officeDocument/2006/relationships/image" Target="../media/image15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37BA2ED-03A6-64B1-A460-86640E3E0D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CR" sz="4800" dirty="0">
                <a:solidFill>
                  <a:schemeClr val="bg1"/>
                </a:solidFill>
              </a:rPr>
              <a:t>Teoría Estadística y Métodos Cuantitativos</a:t>
            </a:r>
            <a:endParaRPr lang="es-CR" sz="480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2B11D00-0642-76C8-3292-F75149E5AA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Unidad 2. Probabilidad</a:t>
            </a:r>
          </a:p>
          <a:p>
            <a:r>
              <a:rPr lang="es-CR" dirty="0"/>
              <a:t>Profesor: Fabián Brenes Trejos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1C7B05-9423-80AD-ABDC-E6E927A0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Contenido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42AB4-C6E9-CFD1-1545-A52B284137FA}"/>
              </a:ext>
            </a:extLst>
          </p:cNvPr>
          <p:cNvSpPr txBox="1"/>
          <p:nvPr/>
        </p:nvSpPr>
        <p:spPr>
          <a:xfrm>
            <a:off x="932688" y="1792224"/>
            <a:ext cx="103266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b="1" dirty="0"/>
              <a:t>Repaso de teoría de conjuntos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b="1" dirty="0"/>
              <a:t>Probabilidad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R" sz="2400" dirty="0"/>
              <a:t>Conceptos básicos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R" sz="2400" dirty="0"/>
              <a:t>Teoremas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b="1" dirty="0"/>
              <a:t>Métodos de conteo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R" sz="2400" dirty="0"/>
              <a:t>Muestreo sin reemplazo (Permutaciones)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R" sz="2400" dirty="0"/>
              <a:t>Muestreo con reemplazo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R" sz="2400" dirty="0"/>
              <a:t>Combinaciones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b="1" dirty="0"/>
              <a:t>Práctica #1</a:t>
            </a:r>
          </a:p>
        </p:txBody>
      </p:sp>
    </p:spTree>
    <p:extLst>
      <p:ext uri="{BB962C8B-B14F-4D97-AF65-F5344CB8AC3E}">
        <p14:creationId xmlns:p14="http://schemas.microsoft.com/office/powerpoint/2010/main" val="90007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FCA79D-595F-F16D-DC91-BF554148B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4452" y="2454966"/>
            <a:ext cx="8208748" cy="2057400"/>
          </a:xfrm>
        </p:spPr>
        <p:txBody>
          <a:bodyPr/>
          <a:lstStyle/>
          <a:p>
            <a:r>
              <a:rPr lang="es-CR" dirty="0"/>
              <a:t>Teoría de Conjuntos</a:t>
            </a:r>
          </a:p>
        </p:txBody>
      </p:sp>
    </p:spTree>
    <p:extLst>
      <p:ext uri="{BB962C8B-B14F-4D97-AF65-F5344CB8AC3E}">
        <p14:creationId xmlns:p14="http://schemas.microsoft.com/office/powerpoint/2010/main" val="2928963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C7106-FCC4-5A9F-5A58-C3A4B3780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Conceptos básicos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0E8AC2-DB58-A9F9-8174-5CC63AF8C806}"/>
                  </a:ext>
                </a:extLst>
              </p:cNvPr>
              <p:cNvSpPr txBox="1"/>
              <p:nvPr/>
            </p:nvSpPr>
            <p:spPr>
              <a:xfrm>
                <a:off x="850392" y="1690688"/>
                <a:ext cx="11219688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R" sz="2000" dirty="0"/>
                  <a:t>Rama de la matemática que estudia las propiedades y relaciones de colecciones de objetos.</a:t>
                </a:r>
              </a:p>
              <a:p>
                <a:endParaRPr lang="es-CR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R" sz="2000" b="1" dirty="0"/>
                  <a:t>Conjunto</a:t>
                </a:r>
                <a:r>
                  <a:rPr lang="en-US" sz="2000" b="1" dirty="0"/>
                  <a:t>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 err="1">
                    <a:solidFill>
                      <a:srgbClr val="000F9F"/>
                    </a:solidFill>
                  </a:rPr>
                  <a:t>Colección</a:t>
                </a:r>
                <a:r>
                  <a:rPr lang="en-US" sz="2000" b="1" dirty="0">
                    <a:solidFill>
                      <a:srgbClr val="000F9F"/>
                    </a:solidFill>
                  </a:rPr>
                  <a:t> de </a:t>
                </a:r>
                <a:r>
                  <a:rPr lang="en-US" sz="2000" b="1" dirty="0" err="1">
                    <a:solidFill>
                      <a:srgbClr val="000F9F"/>
                    </a:solidFill>
                  </a:rPr>
                  <a:t>objetos</a:t>
                </a:r>
                <a:r>
                  <a:rPr lang="en-US" sz="2000" b="1" dirty="0">
                    <a:solidFill>
                      <a:srgbClr val="000F9F"/>
                    </a:solidFill>
                  </a:rPr>
                  <a:t>, </a:t>
                </a:r>
                <a:r>
                  <a:rPr lang="en-US" sz="2000" dirty="0"/>
                  <a:t>se </a:t>
                </a:r>
                <a:r>
                  <a:rPr lang="en-US" sz="2000" dirty="0" err="1"/>
                  <a:t>representan</a:t>
                </a:r>
                <a:r>
                  <a:rPr lang="en-US" sz="2000" dirty="0"/>
                  <a:t> con </a:t>
                </a:r>
                <a:r>
                  <a:rPr lang="en-US" sz="2000" dirty="0" err="1"/>
                  <a:t>letra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mayúscula</a:t>
                </a:r>
                <a:r>
                  <a:rPr lang="en-US" sz="2000" dirty="0"/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Los conjuntos se </a:t>
                </a:r>
                <a:r>
                  <a:rPr lang="en-US" sz="2000" dirty="0" err="1"/>
                  <a:t>representan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listando</a:t>
                </a:r>
                <a:r>
                  <a:rPr lang="en-US" sz="2000" dirty="0"/>
                  <a:t> los </a:t>
                </a:r>
                <a:r>
                  <a:rPr lang="en-US" sz="2000" dirty="0" err="1"/>
                  <a:t>elementos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que</a:t>
                </a:r>
                <a:r>
                  <a:rPr lang="en-US" sz="2000" dirty="0"/>
                  <a:t> lo </a:t>
                </a:r>
                <a:r>
                  <a:rPr lang="en-US" sz="2000" dirty="0" err="1"/>
                  <a:t>conforman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seguidos</a:t>
                </a:r>
                <a:r>
                  <a:rPr lang="en-US" sz="2000" dirty="0"/>
                  <a:t> de comas, entre </a:t>
                </a:r>
                <a:r>
                  <a:rPr lang="en-US" sz="2000" dirty="0" err="1"/>
                  <a:t>corchetes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</m:e>
                    </m:d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Se </a:t>
                </a:r>
                <a:r>
                  <a:rPr lang="en-US" sz="2000" dirty="0" err="1"/>
                  <a:t>pueden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describir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por</a:t>
                </a:r>
                <a:r>
                  <a:rPr lang="en-US" sz="2000" dirty="0"/>
                  <a:t> extension, </a:t>
                </a:r>
                <a:r>
                  <a:rPr lang="en-US" sz="2000" dirty="0" err="1"/>
                  <a:t>ejemplo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𝒆𝒔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𝒖𝒏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ú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𝒎𝒆𝒓𝒐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𝒑𝒓𝒊𝒎𝒐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𝒄𝒐𝒏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C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/>
                  <a:t>: </a:t>
                </a:r>
                <a:r>
                  <a:rPr lang="en-US" sz="2000" dirty="0" err="1"/>
                  <a:t>Símbolo</a:t>
                </a:r>
                <a:r>
                  <a:rPr lang="en-US" sz="2000" dirty="0"/>
                  <a:t> </a:t>
                </a:r>
                <a:r>
                  <a:rPr lang="en-US" sz="2000" dirty="0" err="1"/>
                  <a:t>que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representa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que</a:t>
                </a:r>
                <a:r>
                  <a:rPr lang="en-US" sz="2000" dirty="0"/>
                  <a:t> un </a:t>
                </a:r>
                <a:r>
                  <a:rPr lang="en-US" sz="2000" dirty="0" err="1"/>
                  <a:t>elemento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pertenece</a:t>
                </a:r>
                <a:r>
                  <a:rPr lang="en-US" sz="2000" dirty="0"/>
                  <a:t> a un conjunto.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 err="1"/>
                  <a:t>Ejemplos</a:t>
                </a:r>
                <a:r>
                  <a:rPr lang="en-US" sz="2000" dirty="0"/>
                  <a:t>: </a:t>
                </a:r>
                <a:endParaRPr lang="en-US" sz="20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𝐱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</m:oMath>
                </a14:m>
                <a:endParaRPr lang="en-US" sz="2000" b="1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𝐱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en-US" sz="2000" b="1" dirty="0"/>
                  <a:t>: </a:t>
                </a:r>
                <a:r>
                  <a:rPr lang="en-US" sz="2000" dirty="0"/>
                  <a:t>Indica </a:t>
                </a:r>
                <a:r>
                  <a:rPr lang="en-US" sz="2000" dirty="0" err="1"/>
                  <a:t>que</a:t>
                </a:r>
                <a:r>
                  <a:rPr lang="en-US" sz="2000" dirty="0"/>
                  <a:t> un conjunto es </a:t>
                </a:r>
                <a:r>
                  <a:rPr lang="en-US" sz="2000" dirty="0" err="1"/>
                  <a:t>subconjunto</a:t>
                </a:r>
                <a:r>
                  <a:rPr lang="en-US" sz="2000" dirty="0"/>
                  <a:t> de </a:t>
                </a:r>
                <a:r>
                  <a:rPr lang="en-US" sz="2000" dirty="0" err="1"/>
                  <a:t>otro</a:t>
                </a:r>
                <a:r>
                  <a:rPr lang="en-US" sz="2000" dirty="0"/>
                  <a:t>. </a:t>
                </a:r>
                <a:r>
                  <a:rPr lang="en-US" sz="2000" dirty="0" err="1"/>
                  <a:t>Ejemplo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𝐀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𝑼</m:t>
                    </m:r>
                  </m:oMath>
                </a14:m>
                <a:endParaRPr lang="es-CR" sz="2000" b="1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CR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000" b="1" dirty="0"/>
                  <a:t>: </a:t>
                </a:r>
                <a:r>
                  <a:rPr lang="en-US" sz="2000" dirty="0"/>
                  <a:t>Conjunto </a:t>
                </a:r>
                <a:r>
                  <a:rPr lang="en-US" sz="2000" dirty="0" err="1"/>
                  <a:t>vacío</a:t>
                </a:r>
                <a:endParaRPr lang="es-CR" sz="20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0E8AC2-DB58-A9F9-8174-5CC63AF8C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92" y="1690688"/>
                <a:ext cx="11219688" cy="5016758"/>
              </a:xfrm>
              <a:prstGeom prst="rect">
                <a:avLst/>
              </a:prstGeom>
              <a:blipFill>
                <a:blip r:embed="rId2"/>
                <a:stretch>
                  <a:fillRect l="-489" t="-608" b="-1215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04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6A28-E205-B848-B0FE-1197F570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Operaciones</a:t>
            </a:r>
            <a:r>
              <a:rPr lang="en-US" dirty="0"/>
              <a:t> de Conjuntos</a:t>
            </a:r>
            <a:endParaRPr lang="es-C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7D8101-933F-B901-D970-5016519F5E2F}"/>
              </a:ext>
            </a:extLst>
          </p:cNvPr>
          <p:cNvSpPr/>
          <p:nvPr/>
        </p:nvSpPr>
        <p:spPr>
          <a:xfrm>
            <a:off x="1558213" y="1817152"/>
            <a:ext cx="3247053" cy="198557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2800" b="1" dirty="0">
                <a:solidFill>
                  <a:schemeClr val="tx1"/>
                </a:solidFill>
              </a:rPr>
              <a:t>S</a:t>
            </a:r>
            <a:endParaRPr lang="es-CR" sz="2800" b="1" dirty="0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86E39D0-8402-A561-89EC-BFEA201E1F63}"/>
              </a:ext>
            </a:extLst>
          </p:cNvPr>
          <p:cNvSpPr/>
          <p:nvPr/>
        </p:nvSpPr>
        <p:spPr>
          <a:xfrm>
            <a:off x="2341984" y="2321004"/>
            <a:ext cx="1855459" cy="10920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A</a:t>
            </a:r>
            <a:endParaRPr lang="es-CR" sz="28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372F9B-04AD-0E68-FDF5-8B7B85F89C66}"/>
                  </a:ext>
                </a:extLst>
              </p:cNvPr>
              <p:cNvSpPr txBox="1"/>
              <p:nvPr/>
            </p:nvSpPr>
            <p:spPr>
              <a:xfrm>
                <a:off x="1558212" y="3802725"/>
                <a:ext cx="32470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s-CR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372F9B-04AD-0E68-FDF5-8B7B85F89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212" y="3802725"/>
                <a:ext cx="3247053" cy="461665"/>
              </a:xfrm>
              <a:prstGeom prst="rect">
                <a:avLst/>
              </a:prstGeom>
              <a:blipFill>
                <a:blip r:embed="rId2"/>
                <a:stretch>
                  <a:fillRect l="-940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026DB0D1-209A-8114-19C6-57111811A7BD}"/>
              </a:ext>
            </a:extLst>
          </p:cNvPr>
          <p:cNvSpPr/>
          <p:nvPr/>
        </p:nvSpPr>
        <p:spPr>
          <a:xfrm>
            <a:off x="6770914" y="2215591"/>
            <a:ext cx="1855459" cy="1092065"/>
          </a:xfrm>
          <a:prstGeom prst="ellipse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A</a:t>
            </a:r>
            <a:endParaRPr lang="es-CR" sz="2800" b="1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8BDED8-AFF4-F5EB-C323-F68618C01FE0}"/>
              </a:ext>
            </a:extLst>
          </p:cNvPr>
          <p:cNvSpPr/>
          <p:nvPr/>
        </p:nvSpPr>
        <p:spPr>
          <a:xfrm>
            <a:off x="7866594" y="2233524"/>
            <a:ext cx="1855459" cy="1092065"/>
          </a:xfrm>
          <a:prstGeom prst="ellipse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endParaRPr lang="es-CR" sz="2800" b="1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5A16FD-BB8F-2EE9-5D13-E430ABA5E98B}"/>
              </a:ext>
            </a:extLst>
          </p:cNvPr>
          <p:cNvSpPr/>
          <p:nvPr/>
        </p:nvSpPr>
        <p:spPr>
          <a:xfrm>
            <a:off x="6602963" y="1800035"/>
            <a:ext cx="3247053" cy="198557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2800" b="1" dirty="0">
                <a:solidFill>
                  <a:schemeClr val="tx1"/>
                </a:solidFill>
              </a:rPr>
              <a:t>S</a:t>
            </a:r>
            <a:endParaRPr lang="es-CR" sz="28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B2FF9B-31A2-425B-1E7C-AAAF09AECF43}"/>
                  </a:ext>
                </a:extLst>
              </p:cNvPr>
              <p:cNvSpPr txBox="1"/>
              <p:nvPr/>
            </p:nvSpPr>
            <p:spPr>
              <a:xfrm>
                <a:off x="6602962" y="3785608"/>
                <a:ext cx="32470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s-CR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B2FF9B-31A2-425B-1E7C-AAAF09AEC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962" y="3785608"/>
                <a:ext cx="3247053" cy="461665"/>
              </a:xfrm>
              <a:prstGeom prst="rect">
                <a:avLst/>
              </a:prstGeom>
              <a:blipFill>
                <a:blip r:embed="rId3"/>
                <a:stretch>
                  <a:fillRect l="-375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40E93FAD-4428-3EDD-C8CA-A64FE7680BBF}"/>
              </a:ext>
            </a:extLst>
          </p:cNvPr>
          <p:cNvSpPr/>
          <p:nvPr/>
        </p:nvSpPr>
        <p:spPr>
          <a:xfrm>
            <a:off x="4144571" y="4426906"/>
            <a:ext cx="3247053" cy="198557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2800" b="1" dirty="0">
                <a:solidFill>
                  <a:schemeClr val="tx1"/>
                </a:solidFill>
              </a:rPr>
              <a:t>S</a:t>
            </a:r>
            <a:endParaRPr lang="es-CR" sz="28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E6AAAEE-19FA-C8A8-F673-DA5FB9864AB0}"/>
                  </a:ext>
                </a:extLst>
              </p:cNvPr>
              <p:cNvSpPr txBox="1"/>
              <p:nvPr/>
            </p:nvSpPr>
            <p:spPr>
              <a:xfrm>
                <a:off x="4144570" y="6412479"/>
                <a:ext cx="32470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s-CR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E6AAAEE-19FA-C8A8-F673-DA5FB9864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570" y="6412479"/>
                <a:ext cx="3247053" cy="461665"/>
              </a:xfrm>
              <a:prstGeom prst="rect">
                <a:avLst/>
              </a:prstGeom>
              <a:blipFill>
                <a:blip r:embed="rId4"/>
                <a:stretch>
                  <a:fillRect l="-563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33075FD8-4BD5-04D0-F94A-601231A08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937" y="4906994"/>
            <a:ext cx="2448267" cy="118126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E935009-82FB-D6F5-D520-E748B598D00A}"/>
              </a:ext>
            </a:extLst>
          </p:cNvPr>
          <p:cNvSpPr txBox="1"/>
          <p:nvPr/>
        </p:nvSpPr>
        <p:spPr>
          <a:xfrm>
            <a:off x="4631937" y="5266793"/>
            <a:ext cx="2448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                B</a:t>
            </a:r>
            <a:endParaRPr lang="es-CR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47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04B0-E5A6-8303-C6AE-541949B39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Leyes de Conjuntos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31E98E-1091-DE77-83B3-82BB366FAEF1}"/>
                  </a:ext>
                </a:extLst>
              </p:cNvPr>
              <p:cNvSpPr txBox="1"/>
              <p:nvPr/>
            </p:nvSpPr>
            <p:spPr>
              <a:xfrm>
                <a:off x="989045" y="1866122"/>
                <a:ext cx="10263673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R" b="1" i="1" dirty="0">
                    <a:solidFill>
                      <a:srgbClr val="000F9F"/>
                    </a:solidFill>
                  </a:rPr>
                  <a:t>Leyes Conmutativas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s-C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s-C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s-C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CR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R" b="1" i="1" dirty="0">
                    <a:solidFill>
                      <a:srgbClr val="000F9F"/>
                    </a:solidFill>
                  </a:rPr>
                  <a:t>Leyes Asociativas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s-C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s-C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C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C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s-C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s-C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C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C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C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s-C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CR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CR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R" b="1" i="1" dirty="0">
                    <a:solidFill>
                      <a:srgbClr val="000F9F"/>
                    </a:solidFill>
                  </a:rPr>
                  <a:t>Leyes Distributivas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s-C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C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C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s-C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s-C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s-C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R" b="1" i="1" dirty="0">
                    <a:solidFill>
                      <a:srgbClr val="000F9F"/>
                    </a:solidFill>
                  </a:rPr>
                  <a:t>Leyes De Morgan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s-C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s-C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es-CR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31E98E-1091-DE77-83B3-82BB366FA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045" y="1866122"/>
                <a:ext cx="10263673" cy="4247317"/>
              </a:xfrm>
              <a:prstGeom prst="rect">
                <a:avLst/>
              </a:prstGeom>
              <a:blipFill>
                <a:blip r:embed="rId2"/>
                <a:stretch>
                  <a:fillRect l="-356" t="-717" b="-717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7722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F0488-BB5B-8387-2EA2-EC7AAD76D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935546-1D4D-8B0A-33D2-49D6C3D49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4452" y="2454966"/>
            <a:ext cx="8208748" cy="2057400"/>
          </a:xfrm>
        </p:spPr>
        <p:txBody>
          <a:bodyPr/>
          <a:lstStyle/>
          <a:p>
            <a:r>
              <a:rPr lang="es-CR" dirty="0"/>
              <a:t>Probabilidad</a:t>
            </a:r>
          </a:p>
        </p:txBody>
      </p:sp>
    </p:spTree>
    <p:extLst>
      <p:ext uri="{BB962C8B-B14F-4D97-AF65-F5344CB8AC3E}">
        <p14:creationId xmlns:p14="http://schemas.microsoft.com/office/powerpoint/2010/main" val="297066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0920C3-09F5-C584-B501-B93ABC23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Definición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BC320A-6B5F-A418-652B-CC9948AEB3A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11098" y="1959428"/>
                <a:ext cx="10969803" cy="3956179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sz="2400" dirty="0"/>
                  <a:t>Supongamos </a:t>
                </a:r>
                <a:r>
                  <a:rPr lang="en-US" sz="2400" dirty="0" err="1"/>
                  <a:t>que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queremos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calcular</a:t>
                </a:r>
                <a:r>
                  <a:rPr lang="en-US" sz="2400" dirty="0"/>
                  <a:t> la </a:t>
                </a:r>
                <a:r>
                  <a:rPr lang="en-US" sz="2400" dirty="0" err="1"/>
                  <a:t>probabilidad</a:t>
                </a:r>
                <a:r>
                  <a:rPr lang="en-US" sz="2400" dirty="0"/>
                  <a:t> de </a:t>
                </a:r>
                <a:r>
                  <a:rPr lang="en-US" sz="2400" dirty="0" err="1"/>
                  <a:t>ocurrencia</a:t>
                </a:r>
                <a:r>
                  <a:rPr lang="en-US" sz="2400" dirty="0"/>
                  <a:t> de un </a:t>
                </a:r>
                <a:r>
                  <a:rPr lang="en-US" sz="2400" dirty="0" err="1"/>
                  <a:t>evento</a:t>
                </a:r>
                <a:r>
                  <a:rPr lang="en-US" sz="2400" dirty="0"/>
                  <a:t> A, </a:t>
                </a:r>
                <a:r>
                  <a:rPr lang="en-US" sz="2400" dirty="0" err="1"/>
                  <a:t>definido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por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R" sz="2400" b="1" i="1" dirty="0">
                  <a:solidFill>
                    <a:srgbClr val="000F9F"/>
                  </a:solidFill>
                </a:endParaRPr>
              </a:p>
              <a:p>
                <a:endParaRPr lang="es-CR" sz="2400" b="1" i="1" dirty="0">
                  <a:solidFill>
                    <a:srgbClr val="000F9F"/>
                  </a:solidFill>
                </a:endParaRPr>
              </a:p>
              <a:p>
                <a:r>
                  <a:rPr lang="es-CR" sz="2400" dirty="0"/>
                  <a:t>Para ello realizamos un ensayo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R" sz="2400" dirty="0"/>
                  <a:t> veces y contamos las veces que ocurre el evento A. Este conteo se llama la frecuencia del evento A y se denota con esta expresión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𝓝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endParaRPr lang="en-US" sz="2400" b="1" dirty="0">
                  <a:solidFill>
                    <a:srgbClr val="000F9F"/>
                  </a:solidFill>
                </a:endParaRPr>
              </a:p>
              <a:p>
                <a:endParaRPr lang="es-CR" sz="2400" dirty="0"/>
              </a:p>
              <a:p>
                <a:r>
                  <a:rPr lang="es-CR" sz="2400" dirty="0"/>
                  <a:t>El ratio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𝓝</m:t>
                        </m:r>
                        <m:d>
                          <m:dPr>
                            <m:ctrlPr>
                              <a:rPr lang="en-US" sz="2400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</m:num>
                      <m:den>
                        <m: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r>
                  <a:rPr lang="es-CR" sz="2400" dirty="0"/>
                  <a:t> es la </a:t>
                </a:r>
                <a:r>
                  <a:rPr lang="es-CR" sz="2400" b="1" i="1" dirty="0">
                    <a:solidFill>
                      <a:srgbClr val="000F9F"/>
                    </a:solidFill>
                  </a:rPr>
                  <a:t>frecuencia relativa </a:t>
                </a:r>
                <a:r>
                  <a:rPr lang="es-CR" sz="2400" dirty="0"/>
                  <a:t>del evento A en las </a:t>
                </a:r>
                <a14:m>
                  <m:oMath xmlns:m="http://schemas.openxmlformats.org/officeDocument/2006/math">
                    <m:r>
                      <a:rPr lang="es-CR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s-CR" sz="2400" dirty="0"/>
                  <a:t> repeticiones del experimento</a:t>
                </a:r>
              </a:p>
              <a:p>
                <a:endParaRPr lang="es-CR" sz="2400" dirty="0"/>
              </a:p>
              <a:p>
                <a:r>
                  <a:rPr lang="es-CR" sz="2400" dirty="0"/>
                  <a:t>Entre mayor sea la cantidad de ensayos, la frecuencia relativa se va a estabilizar cerca de un valor, que llamaremos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s-CR" sz="2400" dirty="0"/>
                  <a:t> </a:t>
                </a:r>
              </a:p>
              <a:p>
                <a:endParaRPr lang="es-CR" sz="2400" dirty="0"/>
              </a:p>
              <a:p>
                <a:r>
                  <a:rPr lang="es-CR" sz="2400" dirty="0"/>
                  <a:t>El valor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s-CR" sz="2400" dirty="0"/>
                  <a:t> es la probabilidad de ocurrencia del evento A, y representa la proporción de resultados de un experimento aleatorio que terminan en el evento A, a medida que el número de ensayos aumenta sin límite</a:t>
                </a:r>
              </a:p>
              <a:p>
                <a:endParaRPr lang="es-CR" sz="2400" dirty="0"/>
              </a:p>
              <a:p>
                <a:endParaRPr lang="es-CR" sz="2400" dirty="0"/>
              </a:p>
              <a:p>
                <a:endParaRPr lang="es-CR" sz="2400" dirty="0"/>
              </a:p>
              <a:p>
                <a:endParaRPr lang="es-CR" sz="2400" b="1" i="1" dirty="0">
                  <a:solidFill>
                    <a:srgbClr val="000F9F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BC320A-6B5F-A418-652B-CC9948AEB3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11098" y="1959428"/>
                <a:ext cx="10969803" cy="3956179"/>
              </a:xfrm>
              <a:blipFill>
                <a:blip r:embed="rId2"/>
                <a:stretch>
                  <a:fillRect l="-389" t="-2619" r="-500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893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E8B3-E01E-3B9A-2BC7-FB8D8C8FF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Propiedades</a:t>
            </a:r>
            <a:r>
              <a:rPr lang="en-US" dirty="0"/>
              <a:t> de la </a:t>
            </a:r>
            <a:r>
              <a:rPr lang="en-US" dirty="0" err="1"/>
              <a:t>función</a:t>
            </a:r>
            <a:r>
              <a:rPr lang="en-US" dirty="0"/>
              <a:t> P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2A04E-1904-68E0-F9AB-45AD4A4A3B5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29208" y="2067983"/>
                <a:ext cx="10745869" cy="3735410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La </a:t>
                </a:r>
                <a:r>
                  <a:rPr lang="es-MX" sz="2000" dirty="0"/>
                  <a:t>probabilidad es una función de conjunto de valores reales </a:t>
                </a:r>
                <a:r>
                  <a:rPr lang="es-MX" sz="2000" b="1" i="1" dirty="0">
                    <a:solidFill>
                      <a:srgbClr val="000F9F"/>
                    </a:solidFill>
                  </a:rPr>
                  <a:t>P</a:t>
                </a:r>
                <a:r>
                  <a:rPr lang="es-MX" sz="2000" dirty="0"/>
                  <a:t> que asigna, a cada evento </a:t>
                </a:r>
                <a:r>
                  <a:rPr lang="es-MX" sz="2000" b="1" i="1" dirty="0">
                    <a:solidFill>
                      <a:srgbClr val="000F9F"/>
                    </a:solidFill>
                  </a:rPr>
                  <a:t>A </a:t>
                </a:r>
                <a:r>
                  <a:rPr lang="es-MX" sz="2000" dirty="0"/>
                  <a:t>en el espacio muestral </a:t>
                </a:r>
                <a:r>
                  <a:rPr lang="es-MX" sz="2000" b="1" i="1" dirty="0">
                    <a:solidFill>
                      <a:srgbClr val="000F9F"/>
                    </a:solidFill>
                  </a:rPr>
                  <a:t>S</a:t>
                </a:r>
                <a:r>
                  <a:rPr lang="es-MX" sz="2000" dirty="0"/>
                  <a:t>, un valor </a:t>
                </a:r>
                <a:r>
                  <a:rPr lang="es-MX" sz="2000" b="1" i="1" dirty="0">
                    <a:solidFill>
                      <a:srgbClr val="000F9F"/>
                    </a:solidFill>
                  </a:rPr>
                  <a:t>P(A)</a:t>
                </a:r>
                <a:r>
                  <a:rPr lang="es-MX" sz="2000" dirty="0"/>
                  <a:t>, llamado la probabilidad del evento </a:t>
                </a:r>
                <a:r>
                  <a:rPr lang="es-MX" sz="2000" b="1" i="1" dirty="0">
                    <a:solidFill>
                      <a:srgbClr val="000F9F"/>
                    </a:solidFill>
                  </a:rPr>
                  <a:t>A</a:t>
                </a:r>
                <a:r>
                  <a:rPr lang="es-MX" sz="2000" dirty="0"/>
                  <a:t>, de forma tal que se cumplan las siguientes propiedades:</a:t>
                </a:r>
                <a:endParaRPr lang="es-MX" sz="2000" dirty="0">
                  <a:solidFill>
                    <a:schemeClr val="tx1"/>
                  </a:solidFill>
                </a:endParaRPr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0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s-CR" sz="2000" dirty="0">
                  <a:solidFill>
                    <a:schemeClr val="tx1"/>
                  </a:solidFill>
                </a:endParaRPr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CR" sz="2000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s-CR" sz="2000" dirty="0"/>
                  <a:t> son eventos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endParaRPr lang="es-CR" sz="2000" dirty="0"/>
              </a:p>
              <a:p>
                <a:pPr marL="914400" lvl="2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para </a:t>
                </a:r>
                <a:r>
                  <a:rPr lang="en-US" dirty="0" err="1">
                    <a:ea typeface="Cambria Math" panose="02040503050406030204" pitchFamily="18" charset="0"/>
                  </a:rPr>
                  <a:t>cada</a:t>
                </a:r>
                <a:r>
                  <a:rPr lang="en-US" dirty="0">
                    <a:ea typeface="Cambria Math" panose="02040503050406030204" pitchFamily="18" charset="0"/>
                  </a:rPr>
                  <a:t> valor </a:t>
                </a:r>
                <a:r>
                  <a:rPr lang="en-US" dirty="0" err="1">
                    <a:ea typeface="Cambria Math" panose="02040503050406030204" pitchFamily="18" charset="0"/>
                  </a:rPr>
                  <a:t>entero</a:t>
                </a:r>
                <a:r>
                  <a:rPr lang="en-US" dirty="0">
                    <a:ea typeface="Cambria Math" panose="02040503050406030204" pitchFamily="18" charset="0"/>
                  </a:rPr>
                  <a:t> k, y 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para </a:t>
                </a:r>
                <a:r>
                  <a:rPr lang="en-US" dirty="0" err="1">
                    <a:ea typeface="Cambria Math" panose="02040503050406030204" pitchFamily="18" charset="0"/>
                  </a:rPr>
                  <a:t>número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en-US" dirty="0" err="1">
                    <a:ea typeface="Cambria Math" panose="02040503050406030204" pitchFamily="18" charset="0"/>
                  </a:rPr>
                  <a:t>infinito</a:t>
                </a:r>
                <a:r>
                  <a:rPr lang="en-US" dirty="0">
                    <a:ea typeface="Cambria Math" panose="02040503050406030204" pitchFamily="18" charset="0"/>
                  </a:rPr>
                  <a:t> de </a:t>
                </a:r>
                <a:r>
                  <a:rPr lang="en-US" dirty="0" err="1">
                    <a:ea typeface="Cambria Math" panose="02040503050406030204" pitchFamily="18" charset="0"/>
                  </a:rPr>
                  <a:t>eventos</a:t>
                </a:r>
                <a:endParaRPr lang="es-CR" dirty="0"/>
              </a:p>
              <a:p>
                <a:pPr marL="971550" lvl="1" indent="-514350">
                  <a:buFont typeface="+mj-lt"/>
                  <a:buAutoNum type="arabicPeriod"/>
                </a:pPr>
                <a:endParaRPr lang="es-CR" sz="2000" dirty="0">
                  <a:solidFill>
                    <a:schemeClr val="tx1"/>
                  </a:solidFill>
                </a:endParaRPr>
              </a:p>
              <a:p>
                <a:pPr marL="971550" lvl="1" indent="-514350">
                  <a:buFont typeface="+mj-lt"/>
                  <a:buAutoNum type="arabicPeriod"/>
                </a:pPr>
                <a:endParaRPr lang="es-CR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2A04E-1904-68E0-F9AB-45AD4A4A3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29208" y="2067983"/>
                <a:ext cx="10745869" cy="3735410"/>
              </a:xfrm>
              <a:blipFill>
                <a:blip r:embed="rId2"/>
                <a:stretch>
                  <a:fillRect l="-510" t="-1631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6170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AC64A-B96A-45B0-9E0A-D27301C55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Teoremas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334946-ED71-AB53-1E7F-407B303D9AD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9593425" cy="1361017"/>
              </a:xfr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indent="0">
                  <a:buNone/>
                </a:pPr>
                <a:r>
                  <a:rPr lang="en-US" sz="2600" b="1" dirty="0"/>
                  <a:t>Teorema 1:</a:t>
                </a:r>
              </a:p>
              <a:p>
                <a:pPr marL="457200" lvl="1" indent="0">
                  <a:buNone/>
                </a:pPr>
                <a:r>
                  <a:rPr lang="es-CR" dirty="0"/>
                  <a:t>Para cada evento A, 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R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334946-ED71-AB53-1E7F-407B303D9A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9593425" cy="1361017"/>
              </a:xfrm>
              <a:blipFill>
                <a:blip r:embed="rId2"/>
                <a:stretch>
                  <a:fillRect l="-1015" t="-6195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AA14D51-9CB4-5AB5-0EEE-73C94FD5E3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4049185"/>
                <a:ext cx="9593425" cy="136101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dk1"/>
                    </a:solidFill>
                    <a:latin typeface="Trust Sans" pitchFamily="2" charset="77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dk1"/>
                    </a:solidFill>
                    <a:latin typeface="Trust Sans" pitchFamily="2" charset="77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dk1"/>
                    </a:solidFill>
                    <a:latin typeface="Trust Sans" pitchFamily="2" charset="77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Trust Sans" pitchFamily="2" charset="77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Trust Sans" pitchFamily="2" charset="77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600" b="1" dirty="0"/>
                  <a:t>Teorema 2:</a:t>
                </a:r>
              </a:p>
              <a:p>
                <a:pPr marL="914400" lvl="2" indent="0">
                  <a:buFont typeface="Arial" panose="020B0604020202020204" pitchFamily="34" charset="0"/>
                  <a:buNone/>
                </a:pPr>
                <a:r>
                  <a:rPr lang="es-CR" dirty="0"/>
                  <a:t>		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s-CR" b="1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AA14D51-9CB4-5AB5-0EEE-73C94FD5E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049185"/>
                <a:ext cx="9593425" cy="1361017"/>
              </a:xfrm>
              <a:prstGeom prst="rect">
                <a:avLst/>
              </a:prstGeom>
              <a:blipFill>
                <a:blip r:embed="rId3"/>
                <a:stretch>
                  <a:fillRect l="-1015" t="-6195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1577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8E2FE-5445-FB9F-A9C7-AE7905436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DE782-1AED-07A9-3EF5-FE48F6BA0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Teoremas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F19469-9774-F394-FE03-9789659B10E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9593425" cy="1361017"/>
              </a:xfr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600" b="1" dirty="0"/>
                  <a:t>Teorema 3:</a:t>
                </a:r>
              </a:p>
              <a:p>
                <a:pPr marL="457200" lvl="1" indent="0">
                  <a:buNone/>
                </a:pPr>
                <a:r>
                  <a:rPr lang="es-CR" dirty="0"/>
                  <a:t>Si los eventos A y B, son tales que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s-CR" dirty="0"/>
                  <a:t>, entonces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F19469-9774-F394-FE03-9789659B10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9593425" cy="1361017"/>
              </a:xfrm>
              <a:blipFill>
                <a:blip r:embed="rId2"/>
                <a:stretch>
                  <a:fillRect l="-1015" t="-6195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F731F90-4CB8-C7F5-3808-CCBA0BD755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8" y="4040020"/>
                <a:ext cx="9593425" cy="136101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dk1"/>
                    </a:solidFill>
                    <a:latin typeface="Trust Sans" pitchFamily="2" charset="77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dk1"/>
                    </a:solidFill>
                    <a:latin typeface="Trust Sans" pitchFamily="2" charset="77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dk1"/>
                    </a:solidFill>
                    <a:latin typeface="Trust Sans" pitchFamily="2" charset="77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Trust Sans" pitchFamily="2" charset="77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Trust Sans" pitchFamily="2" charset="77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600" b="1" dirty="0"/>
                  <a:t>Teorema 4:</a:t>
                </a:r>
              </a:p>
              <a:p>
                <a:pPr marL="457200" lvl="1" indent="0">
                  <a:buNone/>
                </a:pPr>
                <a:r>
                  <a:rPr lang="en-US" dirty="0"/>
                  <a:t>Para </a:t>
                </a:r>
                <a:r>
                  <a:rPr lang="en-US" dirty="0" err="1"/>
                  <a:t>cada</a:t>
                </a:r>
                <a:r>
                  <a:rPr lang="en-US" dirty="0"/>
                  <a:t> </a:t>
                </a:r>
                <a:r>
                  <a:rPr lang="en-US" dirty="0" err="1"/>
                  <a:t>evento</a:t>
                </a:r>
                <a:r>
                  <a:rPr lang="en-US" dirty="0"/>
                  <a:t> A,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F731F90-4CB8-C7F5-3808-CCBA0BD75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4040020"/>
                <a:ext cx="9593425" cy="1361017"/>
              </a:xfrm>
              <a:prstGeom prst="rect">
                <a:avLst/>
              </a:prstGeom>
              <a:blipFill>
                <a:blip r:embed="rId3"/>
                <a:stretch>
                  <a:fillRect l="-1015" t="-6667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6819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EB383-D111-5E5E-5493-5899FB322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8D32-3E74-3784-BAEA-87E6C5E3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Teoremas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EBC94D-3C47-2834-39C0-91F44A92094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9593425" cy="1361017"/>
              </a:xfr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600" b="1" dirty="0"/>
                  <a:t>Teorema 5:</a:t>
                </a:r>
              </a:p>
              <a:p>
                <a:pPr marL="457200" lvl="1" indent="0">
                  <a:buNone/>
                </a:pPr>
                <a:r>
                  <a:rPr lang="es-CR" dirty="0"/>
                  <a:t>Si A y B son eventos cualquiera, entonces:</a:t>
                </a:r>
              </a:p>
              <a:p>
                <a:pPr marL="457200" lvl="1" indent="0">
                  <a:buNone/>
                </a:pPr>
                <a:r>
                  <a:rPr lang="en-US" b="1" dirty="0"/>
                  <a:t>		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R" dirty="0"/>
              </a:p>
              <a:p>
                <a:pPr marL="457200" lvl="1" indent="0">
                  <a:buNone/>
                </a:pPr>
                <a:endParaRPr lang="es-C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EBC94D-3C47-2834-39C0-91F44A9209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9593425" cy="1361017"/>
              </a:xfrm>
              <a:blipFill>
                <a:blip r:embed="rId2"/>
                <a:stretch>
                  <a:fillRect l="-1015" t="-6195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2AE5653-F8A3-6FD6-45B8-0D93099385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4040020"/>
                <a:ext cx="9593425" cy="136101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dk1"/>
                    </a:solidFill>
                    <a:latin typeface="Trust Sans" pitchFamily="2" charset="77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dk1"/>
                    </a:solidFill>
                    <a:latin typeface="Trust Sans" pitchFamily="2" charset="77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dk1"/>
                    </a:solidFill>
                    <a:latin typeface="Trust Sans" pitchFamily="2" charset="77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Trust Sans" pitchFamily="2" charset="77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Trust Sans" pitchFamily="2" charset="77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Teorema 6:</a:t>
                </a:r>
              </a:p>
              <a:p>
                <a:pPr marL="457200" lvl="1" indent="0">
                  <a:buNone/>
                </a:pPr>
                <a:r>
                  <a:rPr lang="es-CR" dirty="0"/>
                  <a:t>Si A, B y C son eventos cualquiera, entonces:</a:t>
                </a:r>
              </a:p>
              <a:p>
                <a:pPr marL="457200" lvl="1" indent="0">
                  <a:buNone/>
                </a:pPr>
                <a:r>
                  <a:rPr lang="es-CR" b="1" dirty="0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R" dirty="0"/>
              </a:p>
              <a:p>
                <a:pPr marL="457200" lvl="1" indent="0">
                  <a:buNone/>
                </a:pPr>
                <a:endParaRPr lang="es-CR" dirty="0"/>
              </a:p>
              <a:p>
                <a:pPr marL="457200" lvl="1" indent="0">
                  <a:buNone/>
                </a:pPr>
                <a:endParaRPr lang="es-CR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2AE5653-F8A3-6FD6-45B8-0D9309938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040020"/>
                <a:ext cx="9593425" cy="1361017"/>
              </a:xfrm>
              <a:prstGeom prst="rect">
                <a:avLst/>
              </a:prstGeom>
              <a:blipFill>
                <a:blip r:embed="rId3"/>
                <a:stretch>
                  <a:fillRect l="-1015" t="-8889" b="-4000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7568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EC8D5-5DA1-6272-AD6B-F372D3C639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Ejercicios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522688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E01BA7-AF84-AA16-1607-4E978E2C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r>
              <a:rPr lang="en-US" dirty="0"/>
              <a:t> 1</a:t>
            </a:r>
            <a:endParaRPr lang="es-C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CA2E3-593E-A40F-669C-2B3A18887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059955" cy="373541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 un </a:t>
            </a:r>
            <a:r>
              <a:rPr lang="en-US" dirty="0" err="1"/>
              <a:t>grupo</a:t>
            </a:r>
            <a:r>
              <a:rPr lang="en-US" dirty="0"/>
              <a:t> de </a:t>
            </a:r>
            <a:r>
              <a:rPr lang="en-US" dirty="0" err="1"/>
              <a:t>peque</a:t>
            </a:r>
            <a:r>
              <a:rPr lang="es-CR" dirty="0" err="1"/>
              <a:t>ños</a:t>
            </a:r>
            <a:r>
              <a:rPr lang="es-CR" dirty="0"/>
              <a:t> empresarios, el 30% contratan servicios de contabilidad y planificación financiera y 10% no contrata ninguno de los dos servicios. La probabilidad de contratar a un contador supera por 20% la probabilidad de contratar al planificador financiero. </a:t>
            </a:r>
          </a:p>
          <a:p>
            <a:pPr marL="0" indent="0">
              <a:buNone/>
            </a:pPr>
            <a:r>
              <a:rPr lang="es-MX" dirty="0"/>
              <a:t>¿Cuál es la probabilidad de seleccionar de forma aleatoria un empresario que contrate los servicios de contabilidad?</a:t>
            </a:r>
            <a:endParaRPr lang="es-CR" dirty="0"/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671999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AB13F-DBF7-0B39-B973-6C56F933B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Solución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0444B4-9081-0B54-DDE1-1324570B25B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54563" y="1996751"/>
                <a:ext cx="4982547" cy="380664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i="1" dirty="0" err="1">
                    <a:latin typeface="Cambria Math" panose="02040503050406030204" pitchFamily="18" charset="0"/>
                  </a:rPr>
                  <a:t>Planteamiento</a:t>
                </a:r>
                <a:r>
                  <a:rPr lang="en-US" sz="2000" b="1" i="1" dirty="0">
                    <a:latin typeface="Cambria Math" panose="02040503050406030204" pitchFamily="18" charset="0"/>
                  </a:rPr>
                  <a:t> del </a:t>
                </a:r>
                <a:r>
                  <a:rPr lang="en-US" sz="2000" b="1" i="1" dirty="0" err="1">
                    <a:latin typeface="Cambria Math" panose="02040503050406030204" pitchFamily="18" charset="0"/>
                  </a:rPr>
                  <a:t>problema</a:t>
                </a:r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r>
                  <a:rPr lang="en-US" sz="2000" i="1" dirty="0">
                    <a:latin typeface="Cambria Math" panose="02040503050406030204" pitchFamily="18" charset="0"/>
                  </a:rPr>
                  <a:t>A =  </a:t>
                </a:r>
                <a:r>
                  <a:rPr lang="en-US" sz="2000" i="1" dirty="0" err="1">
                    <a:latin typeface="Cambria Math" panose="02040503050406030204" pitchFamily="18" charset="0"/>
                  </a:rPr>
                  <a:t>Contratar</a:t>
                </a:r>
                <a:r>
                  <a:rPr lang="en-US" sz="20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000" i="1" dirty="0" err="1">
                    <a:latin typeface="Cambria Math" panose="02040503050406030204" pitchFamily="18" charset="0"/>
                  </a:rPr>
                  <a:t>servicios</a:t>
                </a:r>
                <a:r>
                  <a:rPr lang="en-US" sz="2000" i="1" dirty="0">
                    <a:latin typeface="Cambria Math" panose="02040503050406030204" pitchFamily="18" charset="0"/>
                  </a:rPr>
                  <a:t> de contabilidad</a:t>
                </a:r>
              </a:p>
              <a:p>
                <a:r>
                  <a:rPr lang="en-US" sz="2000" i="1" dirty="0">
                    <a:latin typeface="Cambria Math" panose="02040503050406030204" pitchFamily="18" charset="0"/>
                  </a:rPr>
                  <a:t>B = </a:t>
                </a:r>
                <a:r>
                  <a:rPr lang="en-US" sz="2000" i="1" dirty="0" err="1">
                    <a:latin typeface="Cambria Math" panose="02040503050406030204" pitchFamily="18" charset="0"/>
                  </a:rPr>
                  <a:t>Contratar</a:t>
                </a:r>
                <a:r>
                  <a:rPr lang="en-US" sz="20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000" i="1" dirty="0" err="1">
                    <a:latin typeface="Cambria Math" panose="02040503050406030204" pitchFamily="18" charset="0"/>
                  </a:rPr>
                  <a:t>servicios</a:t>
                </a:r>
                <a:r>
                  <a:rPr lang="en-US" sz="2000" i="1" dirty="0">
                    <a:latin typeface="Cambria Math" panose="02040503050406030204" pitchFamily="18" charset="0"/>
                  </a:rPr>
                  <a:t> de  </a:t>
                </a:r>
                <a:r>
                  <a:rPr lang="en-US" sz="2000" i="1" dirty="0" err="1">
                    <a:latin typeface="Cambria Math" panose="02040503050406030204" pitchFamily="18" charset="0"/>
                  </a:rPr>
                  <a:t>planificación</a:t>
                </a:r>
                <a:r>
                  <a:rPr lang="en-US" sz="20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000" i="1" dirty="0" err="1">
                    <a:latin typeface="Cambria Math" panose="02040503050406030204" pitchFamily="18" charset="0"/>
                  </a:rPr>
                  <a:t>financiera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=30%</m:t>
                    </m:r>
                  </m:oMath>
                </a14:m>
                <a:endParaRPr lang="es-CR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=10%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=90%</m:t>
                    </m:r>
                  </m:oMath>
                </a14:m>
                <a:endParaRPr lang="es-CR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+20%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0444B4-9081-0B54-DDE1-1324570B25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54563" y="1996751"/>
                <a:ext cx="4982547" cy="3806642"/>
              </a:xfrm>
              <a:blipFill>
                <a:blip r:embed="rId2"/>
                <a:stretch>
                  <a:fillRect l="-1222" t="-1763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6DA9F2E-FF5B-5384-CCC7-C72F58124A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29943" y="1996751"/>
                <a:ext cx="6307494" cy="380664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Trust Sans" pitchFamily="2" charset="77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Trust Sans" pitchFamily="2" charset="77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Trust Sans" pitchFamily="2" charset="77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Trust Sans" pitchFamily="2" charset="77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Trust Sans" pitchFamily="2" charset="77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b="1" i="1" dirty="0">
                    <a:latin typeface="Cambria Math" panose="02040503050406030204" pitchFamily="18" charset="0"/>
                  </a:rPr>
                  <a:t>Solución</a:t>
                </a:r>
              </a:p>
              <a:p>
                <a:r>
                  <a:rPr lang="en-US" sz="2000" b="1" dirty="0"/>
                  <a:t>Del </a:t>
                </a:r>
                <a:r>
                  <a:rPr lang="en-US" sz="2000" b="1" dirty="0" err="1"/>
                  <a:t>teorema</a:t>
                </a:r>
                <a:r>
                  <a:rPr lang="en-US" sz="2000" b="1" dirty="0"/>
                  <a:t> 5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R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90%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b="0" i="1">
                        <a:latin typeface="Cambria Math" panose="02040503050406030204" pitchFamily="18" charset="0"/>
                      </a:rPr>
                      <m:t>+20%+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30%</m:t>
                    </m:r>
                  </m:oMath>
                </a14:m>
                <a:endParaRPr lang="es-CR" sz="2000" dirty="0"/>
              </a:p>
              <a:p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90%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−20%+30%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 ∗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s-CR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%=2 ∗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s-CR" sz="20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100%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s-CR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50%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70%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endParaRPr lang="es-CR" sz="2000" dirty="0"/>
              </a:p>
              <a:p>
                <a:pPr marL="0" indent="0">
                  <a:buNone/>
                </a:pPr>
                <a:endParaRPr lang="es-CR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CR" sz="2000" dirty="0"/>
              </a:p>
              <a:p>
                <a:endParaRPr lang="es-CR" sz="20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6DA9F2E-FF5B-5384-CCC7-C72F58124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943" y="1996751"/>
                <a:ext cx="6307494" cy="3806642"/>
              </a:xfrm>
              <a:prstGeom prst="rect">
                <a:avLst/>
              </a:prstGeom>
              <a:blipFill>
                <a:blip r:embed="rId3"/>
                <a:stretch>
                  <a:fillRect l="-966" t="-1763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1AB538CC-4DD3-2298-5CD2-A1218BAA0423}"/>
              </a:ext>
            </a:extLst>
          </p:cNvPr>
          <p:cNvSpPr/>
          <p:nvPr/>
        </p:nvSpPr>
        <p:spPr>
          <a:xfrm>
            <a:off x="5784980" y="4851918"/>
            <a:ext cx="1716832" cy="4851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3117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69083-F76A-536D-6F00-9057CF495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0206B-8ADD-71B7-C1AB-C63D4A34F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r>
              <a:rPr lang="en-US" dirty="0"/>
              <a:t> 2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C321028-32F9-40A3-F64D-F7EE17BC7B7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10059955" cy="373541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 un juego de cartas de </a:t>
                </a:r>
                <a:r>
                  <a:rPr lang="en-US" dirty="0" err="1"/>
                  <a:t>naipe</a:t>
                </a:r>
                <a:r>
                  <a:rPr lang="en-US" dirty="0"/>
                  <a:t>, se </a:t>
                </a:r>
                <a:r>
                  <a:rPr lang="en-US" dirty="0" err="1"/>
                  <a:t>saca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carta de </a:t>
                </a:r>
                <a:r>
                  <a:rPr lang="en-US" dirty="0" err="1"/>
                  <a:t>manera</a:t>
                </a:r>
                <a:r>
                  <a:rPr lang="en-US" dirty="0"/>
                  <a:t> </a:t>
                </a:r>
                <a:r>
                  <a:rPr lang="en-US" dirty="0" err="1"/>
                  <a:t>aleatoria</a:t>
                </a:r>
                <a:r>
                  <a:rPr lang="en-US" dirty="0"/>
                  <a:t>. El </a:t>
                </a:r>
                <a:r>
                  <a:rPr lang="en-US" dirty="0" err="1"/>
                  <a:t>espacio</a:t>
                </a:r>
                <a:r>
                  <a:rPr lang="en-US" dirty="0"/>
                  <a:t> </a:t>
                </a:r>
                <a:r>
                  <a:rPr lang="en-US" dirty="0" err="1"/>
                  <a:t>muestral</a:t>
                </a:r>
                <a:r>
                  <a:rPr lang="en-US" dirty="0"/>
                  <a:t> </a:t>
                </a:r>
                <a:r>
                  <a:rPr lang="en-US" i="1" dirty="0"/>
                  <a:t>S</a:t>
                </a:r>
                <a:r>
                  <a:rPr lang="en-US" dirty="0"/>
                  <a:t> es </a:t>
                </a:r>
                <a:r>
                  <a:rPr lang="en-US" dirty="0" err="1"/>
                  <a:t>el</a:t>
                </a:r>
                <a:r>
                  <a:rPr lang="en-US" dirty="0"/>
                  <a:t> conjunto de las 52 cartas. Se </a:t>
                </a:r>
                <a:r>
                  <a:rPr lang="en-US" dirty="0" err="1"/>
                  <a:t>asume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la </a:t>
                </a:r>
                <a:r>
                  <a:rPr lang="en-US" dirty="0" err="1"/>
                  <a:t>función</a:t>
                </a:r>
                <a:r>
                  <a:rPr lang="en-US" dirty="0"/>
                  <a:t> conjunto de la </a:t>
                </a:r>
                <a:r>
                  <a:rPr lang="en-US" dirty="0" err="1"/>
                  <a:t>probabilidad</a:t>
                </a:r>
                <a:r>
                  <a:rPr lang="en-US" dirty="0"/>
                  <a:t> </a:t>
                </a:r>
                <a:r>
                  <a:rPr lang="en-US" dirty="0" err="1"/>
                  <a:t>asigna</a:t>
                </a:r>
                <a:r>
                  <a:rPr lang="en-US" dirty="0"/>
                  <a:t> un valor de 1/52 a </a:t>
                </a:r>
                <a:r>
                  <a:rPr lang="en-US" dirty="0" err="1"/>
                  <a:t>cada</a:t>
                </a:r>
                <a:r>
                  <a:rPr lang="en-US" dirty="0"/>
                  <a:t> uno de los </a:t>
                </a:r>
                <a:r>
                  <a:rPr lang="en-US" dirty="0" err="1"/>
                  <a:t>posibles</a:t>
                </a:r>
                <a:r>
                  <a:rPr lang="en-US" dirty="0"/>
                  <a:t> </a:t>
                </a:r>
                <a:r>
                  <a:rPr lang="en-US" dirty="0" err="1"/>
                  <a:t>resultados</a:t>
                </a:r>
                <a:r>
                  <a:rPr lang="en-US" dirty="0"/>
                  <a:t>. </a:t>
                </a:r>
                <a:r>
                  <a:rPr lang="en-US" dirty="0" err="1"/>
                  <a:t>Calcular</a:t>
                </a:r>
                <a:r>
                  <a:rPr lang="en-US" dirty="0"/>
                  <a:t> la </a:t>
                </a:r>
                <a:r>
                  <a:rPr lang="en-US" dirty="0" err="1"/>
                  <a:t>probabilidad</a:t>
                </a:r>
                <a:r>
                  <a:rPr lang="en-US" dirty="0"/>
                  <a:t> de </a:t>
                </a:r>
                <a:r>
                  <a:rPr lang="en-US" dirty="0" err="1"/>
                  <a:t>ocurrencia</a:t>
                </a:r>
                <a:r>
                  <a:rPr lang="en-US" dirty="0"/>
                  <a:t> del </a:t>
                </a:r>
                <a:r>
                  <a:rPr lang="en-US" dirty="0" err="1"/>
                  <a:t>siguiente</a:t>
                </a:r>
                <a:r>
                  <a:rPr lang="en-US" dirty="0"/>
                  <a:t> </a:t>
                </a:r>
                <a:r>
                  <a:rPr lang="en-US" dirty="0" err="1"/>
                  <a:t>evento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𝑒𝑠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𝑢𝑛𝑎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𝑗𝑜𝑡𝑎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𝑟𝑒𝑖𝑛𝑎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𝑟𝑒𝑦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s-CR" dirty="0"/>
              </a:p>
              <a:p>
                <a:endParaRPr lang="es-CR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C321028-32F9-40A3-F64D-F7EE17BC7B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10059955" cy="3735410"/>
              </a:xfrm>
              <a:blipFill>
                <a:blip r:embed="rId2"/>
                <a:stretch>
                  <a:fillRect l="-1211" t="-2610" r="-1575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5196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EB635-ABBA-68A2-52A9-8E28439A2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Solución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E13B8-7D30-9161-751D-B15148A4D62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2067983"/>
                <a:ext cx="10171922" cy="3735410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s-C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s-CR" i="1"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s-CR" i="1"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</m:oMath>
                </a14:m>
                <a:endParaRPr lang="es-CR" dirty="0"/>
              </a:p>
              <a:p>
                <a:endParaRPr lang="es-CR" dirty="0"/>
              </a:p>
              <a:p>
                <a14:m>
                  <m:oMath xmlns:m="http://schemas.openxmlformats.org/officeDocument/2006/math">
                    <m:r>
                      <a:rPr lang="es-C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s-CR" i="1"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</m:oMath>
                </a14:m>
                <a:endParaRPr lang="es-CR" dirty="0"/>
              </a:p>
              <a:p>
                <a:endParaRPr lang="es-C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C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endParaRPr lang="es-CR" dirty="0"/>
              </a:p>
              <a:p>
                <a:endParaRPr lang="es-C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C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23.07%</m:t>
                    </m:r>
                  </m:oMath>
                </a14:m>
                <a:endParaRPr lang="es-CR" dirty="0"/>
              </a:p>
              <a:p>
                <a:endParaRPr lang="es-C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E13B8-7D30-9161-751D-B15148A4D6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2067983"/>
                <a:ext cx="10171922" cy="37354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173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BA0E3-A30B-4076-CD1B-593B3CEB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71D11-FA77-5433-09EF-EA043DC929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Métodos</a:t>
            </a:r>
            <a:r>
              <a:rPr lang="en-US" dirty="0"/>
              <a:t> de </a:t>
            </a:r>
            <a:r>
              <a:rPr lang="en-US" dirty="0" err="1"/>
              <a:t>conteo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084195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CD05A5-5AD1-8065-635E-C67C08AC5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Principio de multiplicación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6EFA7E-CB73-4893-3E81-C3692DACF69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Suponga </a:t>
                </a:r>
                <a:r>
                  <a:rPr lang="en-US" sz="3200" dirty="0" err="1"/>
                  <a:t>que</a:t>
                </a:r>
                <a:r>
                  <a:rPr lang="en-US" sz="3200" dirty="0"/>
                  <a:t> un </a:t>
                </a:r>
                <a:r>
                  <a:rPr lang="en-US" sz="3200" dirty="0" err="1"/>
                  <a:t>experimento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R" sz="3200" dirty="0"/>
                  <a:t> tiene posibles resultados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R" sz="3200" dirty="0"/>
                  <a:t> y por cada uno de estos posibles resultados, un experimento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CR" sz="3200" dirty="0"/>
                  <a:t> tiene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CR" sz="3200" dirty="0"/>
                  <a:t> posibles resultados. </a:t>
                </a:r>
              </a:p>
              <a:p>
                <a:pPr marL="0" indent="0">
                  <a:buNone/>
                </a:pPr>
                <a:endParaRPr lang="es-CR" sz="3200" dirty="0"/>
              </a:p>
              <a:p>
                <a:r>
                  <a:rPr lang="es-CR" sz="3200" dirty="0"/>
                  <a:t>Por tanto, el experimento compuesto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CR" sz="3200" dirty="0"/>
                  <a:t> que consiste en realizar primero el experimento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R" sz="3200" dirty="0"/>
                  <a:t> y luego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CR" sz="3200" dirty="0"/>
                  <a:t>, tiene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C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CR" sz="3200" dirty="0"/>
                  <a:t> posibles resultados.</a:t>
                </a:r>
              </a:p>
              <a:p>
                <a:pPr marL="0" indent="0">
                  <a:buNone/>
                </a:pPr>
                <a:endParaRPr lang="es-CR" sz="32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6EFA7E-CB73-4893-3E81-C3692DACF6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  <a:blipFill>
                <a:blip r:embed="rId2"/>
                <a:stretch>
                  <a:fillRect l="-1297" t="-3263" r="-531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2599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CF75-5C9A-DC8D-EC9D-698A0B338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444" y="603830"/>
            <a:ext cx="9807633" cy="871794"/>
          </a:xfrm>
        </p:spPr>
        <p:txBody>
          <a:bodyPr/>
          <a:lstStyle/>
          <a:p>
            <a:r>
              <a:rPr lang="es-MX" dirty="0"/>
              <a:t>Principio de multiplicación. Ejemplo 1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087DA8-3CF3-D0A9-799C-C3630894094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</p:spPr>
            <p:txBody>
              <a:bodyPr/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R" dirty="0"/>
                  <a:t>: denota la selección de un ratón en una jaula, que contiene un ratón hembra (F) y un macho (M).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CR" dirty="0"/>
                  <a:t>:  Denota la administración de una droga A, una droga B, o un placebo.</a:t>
                </a:r>
              </a:p>
              <a:p>
                <a:pPr algn="just"/>
                <a:r>
                  <a:rPr lang="es-CR" dirty="0"/>
                  <a:t>Los posibles resultados de este experimento, se pueden representar en pares ordenados: </a:t>
                </a:r>
              </a:p>
              <a:p>
                <a:pPr marL="0" indent="0" algn="just">
                  <a:buNone/>
                </a:pPr>
                <a:r>
                  <a:rPr lang="es-CR" b="0" dirty="0"/>
                  <a:t>		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/>
                  <a:t>		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 algn="just">
                  <a:buNone/>
                </a:pPr>
                <a:endParaRPr lang="es-C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087DA8-3CF3-D0A9-799C-C363089409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  <a:blipFill>
                <a:blip r:embed="rId2"/>
                <a:stretch>
                  <a:fillRect l="-1002" t="-2610" r="-1238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937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0266E-447C-B9D6-E6A4-FBEC5C315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3DFD3-F085-1FDA-E015-F984DC6BE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444" y="603830"/>
            <a:ext cx="9807633" cy="871794"/>
          </a:xfrm>
        </p:spPr>
        <p:txBody>
          <a:bodyPr/>
          <a:lstStyle/>
          <a:p>
            <a:r>
              <a:rPr lang="es-MX" dirty="0"/>
              <a:t>Principio de multiplicación. Ejemplo 2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250392-60AE-E425-9D0F-CC9D895E864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</p:spPr>
            <p:txBody>
              <a:bodyPr/>
              <a:lstStyle/>
              <a:p>
                <a:pPr algn="just"/>
                <a:r>
                  <a:rPr lang="en-US" dirty="0"/>
                  <a:t>Un </a:t>
                </a:r>
                <a:r>
                  <a:rPr lang="en-US" dirty="0" err="1"/>
                  <a:t>restaurante</a:t>
                </a:r>
                <a:r>
                  <a:rPr lang="en-US" dirty="0"/>
                  <a:t> </a:t>
                </a:r>
                <a:r>
                  <a:rPr lang="en-US" dirty="0" err="1"/>
                  <a:t>ofrece</a:t>
                </a:r>
                <a:r>
                  <a:rPr lang="en-US" dirty="0"/>
                  <a:t> un menu con </a:t>
                </a:r>
                <a:r>
                  <a:rPr lang="en-US" dirty="0" err="1"/>
                  <a:t>tres</a:t>
                </a:r>
                <a:r>
                  <a:rPr lang="en-US" dirty="0"/>
                  <a:t> </a:t>
                </a:r>
                <a:r>
                  <a:rPr lang="en-US" dirty="0" err="1"/>
                  <a:t>tiempos</a:t>
                </a:r>
                <a:r>
                  <a:rPr lang="en-US" dirty="0"/>
                  <a:t> de comida, entrada, </a:t>
                </a:r>
                <a:r>
                  <a:rPr lang="en-US" dirty="0" err="1"/>
                  <a:t>plato</a:t>
                </a:r>
                <a:r>
                  <a:rPr lang="en-US" dirty="0"/>
                  <a:t> Fuerte, y </a:t>
                </a:r>
                <a:r>
                  <a:rPr lang="en-US" dirty="0" err="1"/>
                  <a:t>postre</a:t>
                </a:r>
                <a:r>
                  <a:rPr lang="en-US" dirty="0"/>
                  <a:t>. Para la entrada hay 4 </a:t>
                </a:r>
                <a:r>
                  <a:rPr lang="en-US" dirty="0" err="1"/>
                  <a:t>opciones</a:t>
                </a:r>
                <a:r>
                  <a:rPr lang="en-US" dirty="0"/>
                  <a:t>, </a:t>
                </a:r>
                <a:r>
                  <a:rPr lang="en-US" dirty="0" err="1"/>
                  <a:t>plato</a:t>
                </a:r>
                <a:r>
                  <a:rPr lang="en-US" dirty="0"/>
                  <a:t> Fuerte hay 5 </a:t>
                </a:r>
                <a:r>
                  <a:rPr lang="en-US" dirty="0" err="1"/>
                  <a:t>opciones</a:t>
                </a:r>
                <a:r>
                  <a:rPr lang="en-US" dirty="0"/>
                  <a:t> y </a:t>
                </a:r>
                <a:r>
                  <a:rPr lang="en-US" dirty="0" err="1"/>
                  <a:t>postre</a:t>
                </a:r>
                <a:r>
                  <a:rPr lang="en-US" dirty="0"/>
                  <a:t> hay 2. </a:t>
                </a:r>
              </a:p>
              <a:p>
                <a:pPr algn="just"/>
                <a:r>
                  <a:rPr lang="en-US" dirty="0"/>
                  <a:t>Si se </a:t>
                </a:r>
                <a:r>
                  <a:rPr lang="en-US" dirty="0" err="1"/>
                  <a:t>desea</a:t>
                </a:r>
                <a:r>
                  <a:rPr lang="en-US" dirty="0"/>
                  <a:t> </a:t>
                </a:r>
                <a:r>
                  <a:rPr lang="en-US" dirty="0" err="1"/>
                  <a:t>escoger</a:t>
                </a:r>
                <a:r>
                  <a:rPr lang="en-US" dirty="0"/>
                  <a:t> los </a:t>
                </a:r>
                <a:r>
                  <a:rPr lang="en-US" dirty="0" err="1"/>
                  <a:t>tres</a:t>
                </a:r>
                <a:r>
                  <a:rPr lang="en-US" dirty="0"/>
                  <a:t> </a:t>
                </a:r>
                <a:r>
                  <a:rPr lang="en-US" dirty="0" err="1"/>
                  <a:t>tiempos</a:t>
                </a:r>
                <a:r>
                  <a:rPr lang="en-US" dirty="0"/>
                  <a:t>, </a:t>
                </a:r>
                <a:r>
                  <a:rPr lang="es-CR" dirty="0"/>
                  <a:t>¿</a:t>
                </a:r>
                <a:r>
                  <a:rPr lang="en-US" dirty="0" err="1"/>
                  <a:t>cuántas</a:t>
                </a:r>
                <a:r>
                  <a:rPr lang="en-US" dirty="0"/>
                  <a:t> </a:t>
                </a:r>
                <a:r>
                  <a:rPr lang="en-US" dirty="0" err="1"/>
                  <a:t>posibles</a:t>
                </a:r>
                <a:r>
                  <a:rPr lang="en-US" dirty="0"/>
                  <a:t> </a:t>
                </a:r>
                <a:r>
                  <a:rPr lang="en-US" dirty="0" err="1"/>
                  <a:t>combinaciones</a:t>
                </a:r>
                <a:r>
                  <a:rPr lang="en-US" dirty="0"/>
                  <a:t> </a:t>
                </a:r>
                <a:r>
                  <a:rPr lang="en-US" dirty="0" err="1"/>
                  <a:t>podría</a:t>
                </a:r>
                <a:r>
                  <a:rPr lang="en-US" dirty="0"/>
                  <a:t> </a:t>
                </a:r>
                <a:r>
                  <a:rPr lang="en-US" dirty="0" err="1"/>
                  <a:t>seleccionarse</a:t>
                </a:r>
                <a:r>
                  <a:rPr lang="en-US" dirty="0"/>
                  <a:t>?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=40</m:t>
                      </m:r>
                    </m:oMath>
                  </m:oMathPara>
                </a14:m>
                <a:endParaRPr lang="en-US" b="0" dirty="0"/>
              </a:p>
              <a:p>
                <a:pPr marL="0" indent="0" algn="just">
                  <a:buNone/>
                </a:pPr>
                <a:endParaRPr lang="es-C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250392-60AE-E425-9D0F-CC9D895E86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  <a:blipFill>
                <a:blip r:embed="rId2"/>
                <a:stretch>
                  <a:fillRect l="-1002" t="-2610" r="-1238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1740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D1D44-E86C-2CF6-66D3-DEFDCE055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 factorial (n!)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FE734B-1B46-18A7-1B8A-E7E39E4D621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716832"/>
                <a:ext cx="10336877" cy="403082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Existen </a:t>
                </a:r>
                <a:r>
                  <a:rPr lang="en-US" dirty="0" err="1"/>
                  <a:t>casos</a:t>
                </a:r>
                <a:r>
                  <a:rPr lang="en-US" dirty="0"/>
                  <a:t>, </a:t>
                </a:r>
                <a:r>
                  <a:rPr lang="en-US" dirty="0" err="1"/>
                  <a:t>donde</a:t>
                </a:r>
                <a:r>
                  <a:rPr lang="en-US" dirty="0"/>
                  <a:t> se </a:t>
                </a:r>
                <a:r>
                  <a:rPr lang="en-US" dirty="0" err="1"/>
                  <a:t>tienen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R" dirty="0"/>
                  <a:t> posiciones, para ser llenadas por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R" dirty="0"/>
                  <a:t> diferentes objetos, sin repetición. </a:t>
                </a:r>
              </a:p>
              <a:p>
                <a:endParaRPr lang="es-CR" dirty="0"/>
              </a:p>
              <a:p>
                <a:r>
                  <a:rPr lang="es-CR" dirty="0"/>
                  <a:t>Esto implica que para la primera posición hay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R" dirty="0"/>
                  <a:t>posibles resultados,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R" dirty="0"/>
                  <a:t>posibles resultados para la segunda posición, y así sucesivamente. Por el principio de multiplicación, esto se puede expresar de la siguiente forma: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s-CR" dirty="0"/>
              </a:p>
              <a:p>
                <a:r>
                  <a:rPr lang="es-CR" dirty="0"/>
                  <a:t>El resultado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s-CR" dirty="0"/>
                  <a:t>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R" dirty="0"/>
                  <a:t> diferentes objetos se llama </a:t>
                </a:r>
                <a:r>
                  <a:rPr lang="es-CR" b="1" i="1" dirty="0">
                    <a:solidFill>
                      <a:srgbClr val="000F9F"/>
                    </a:solidFill>
                  </a:rPr>
                  <a:t>permutaciones </a:t>
                </a:r>
                <a:r>
                  <a:rPr lang="es-CR" dirty="0"/>
                  <a:t>del objeto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R" dirty="0"/>
                  <a:t> </a:t>
                </a:r>
              </a:p>
              <a:p>
                <a:endParaRPr lang="es-CR" dirty="0"/>
              </a:p>
              <a:p>
                <a:r>
                  <a:rPr lang="es-CR" dirty="0"/>
                  <a:t>Ejemplos: El número de permutaciones de las letras, “</a:t>
                </a:r>
                <a:r>
                  <a:rPr lang="es-CR" dirty="0" err="1"/>
                  <a:t>a,b,c,d</a:t>
                </a:r>
                <a:r>
                  <a:rPr lang="es-CR" dirty="0"/>
                  <a:t>” 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4!=24</m:t>
                    </m:r>
                  </m:oMath>
                </a14:m>
                <a:r>
                  <a:rPr lang="es-CR" dirty="0"/>
                  <a:t>. </a:t>
                </a:r>
              </a:p>
              <a:p>
                <a:endParaRPr lang="es-C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FE734B-1B46-18A7-1B8A-E7E39E4D62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716832"/>
                <a:ext cx="10336877" cy="4030825"/>
              </a:xfrm>
              <a:blipFill>
                <a:blip r:embed="rId3"/>
                <a:stretch>
                  <a:fillRect l="-884" t="-3933" r="-1769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134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D8A37-6D31-994E-5AB2-768AA049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Muestreo</a:t>
            </a:r>
            <a:r>
              <a:rPr lang="en-US" dirty="0"/>
              <a:t> con </a:t>
            </a:r>
            <a:r>
              <a:rPr lang="en-US" dirty="0" err="1"/>
              <a:t>reemplazo</a:t>
            </a:r>
            <a:r>
              <a:rPr lang="en-US" dirty="0"/>
              <a:t> y sin </a:t>
            </a:r>
            <a:r>
              <a:rPr lang="en-US" dirty="0" err="1"/>
              <a:t>reemplazo</a:t>
            </a:r>
            <a:endParaRPr lang="es-C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2B867-3855-0B07-642D-9846B5EEA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>
            <a:solidFill>
              <a:srgbClr val="000F9F"/>
            </a:solidFill>
            <a:prstDash val="dash"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err="1"/>
              <a:t>Muestreo</a:t>
            </a:r>
            <a:r>
              <a:rPr lang="en-US" sz="3200" b="1" dirty="0"/>
              <a:t> sin </a:t>
            </a:r>
            <a:r>
              <a:rPr lang="en-US" sz="3200" b="1" dirty="0" err="1"/>
              <a:t>reemplazo</a:t>
            </a:r>
            <a:r>
              <a:rPr lang="en-US" sz="3200" b="1" dirty="0"/>
              <a:t>:</a:t>
            </a:r>
          </a:p>
          <a:p>
            <a:pPr marL="0" indent="0">
              <a:buNone/>
            </a:pPr>
            <a:r>
              <a:rPr lang="en-US" sz="3200" dirty="0" err="1"/>
              <a:t>Ocurre</a:t>
            </a:r>
            <a:r>
              <a:rPr lang="en-US" sz="3200" dirty="0"/>
              <a:t> </a:t>
            </a:r>
            <a:r>
              <a:rPr lang="en-US" sz="3200" dirty="0" err="1"/>
              <a:t>cuando</a:t>
            </a:r>
            <a:r>
              <a:rPr lang="en-US" sz="3200" dirty="0"/>
              <a:t> un </a:t>
            </a:r>
            <a:r>
              <a:rPr lang="en-US" sz="3200" dirty="0" err="1"/>
              <a:t>objeto</a:t>
            </a:r>
            <a:r>
              <a:rPr lang="en-US" sz="3200" dirty="0"/>
              <a:t> no es </a:t>
            </a:r>
            <a:r>
              <a:rPr lang="en-US" sz="3200" dirty="0" err="1"/>
              <a:t>reemplazado</a:t>
            </a:r>
            <a:r>
              <a:rPr lang="en-US" sz="3200" dirty="0"/>
              <a:t>, </a:t>
            </a:r>
            <a:r>
              <a:rPr lang="en-US" sz="3200" dirty="0" err="1"/>
              <a:t>una</a:t>
            </a:r>
            <a:r>
              <a:rPr lang="en-US" sz="3200" dirty="0"/>
              <a:t> </a:t>
            </a:r>
            <a:r>
              <a:rPr lang="en-US" sz="3200" dirty="0" err="1"/>
              <a:t>vez</a:t>
            </a:r>
            <a:r>
              <a:rPr lang="en-US" sz="3200" dirty="0"/>
              <a:t> </a:t>
            </a:r>
            <a:r>
              <a:rPr lang="en-US" sz="3200" dirty="0" err="1"/>
              <a:t>seleccionado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F91E3-16CA-1BE5-07EB-DB55408DA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>
              <a:srgbClr val="000F9F"/>
            </a:solidFill>
            <a:prstDash val="dash"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Muestreo con </a:t>
            </a:r>
            <a:r>
              <a:rPr lang="en-US" sz="3200" b="1" dirty="0" err="1"/>
              <a:t>reemplazo</a:t>
            </a:r>
            <a:r>
              <a:rPr lang="en-US" sz="3200" b="1" dirty="0"/>
              <a:t>:</a:t>
            </a:r>
            <a:endParaRPr lang="en-US" sz="3200" dirty="0"/>
          </a:p>
          <a:p>
            <a:pPr marL="0" indent="0">
              <a:buNone/>
            </a:pPr>
            <a:r>
              <a:rPr lang="en-US" sz="3200" dirty="0" err="1"/>
              <a:t>Ocurre</a:t>
            </a:r>
            <a:r>
              <a:rPr lang="en-US" sz="3200" dirty="0"/>
              <a:t> </a:t>
            </a:r>
            <a:r>
              <a:rPr lang="en-US" sz="3200" dirty="0" err="1"/>
              <a:t>cuando</a:t>
            </a:r>
            <a:r>
              <a:rPr lang="en-US" sz="3200" dirty="0"/>
              <a:t> un </a:t>
            </a:r>
            <a:r>
              <a:rPr lang="en-US" sz="3200" dirty="0" err="1"/>
              <a:t>objeto</a:t>
            </a:r>
            <a:r>
              <a:rPr lang="en-US" sz="3200" dirty="0"/>
              <a:t> es </a:t>
            </a:r>
            <a:r>
              <a:rPr lang="en-US" sz="3200" dirty="0" err="1"/>
              <a:t>seleccionado</a:t>
            </a:r>
            <a:r>
              <a:rPr lang="en-US" sz="3200" dirty="0"/>
              <a:t> y </a:t>
            </a:r>
            <a:r>
              <a:rPr lang="en-US" sz="3200" dirty="0" err="1"/>
              <a:t>puede</a:t>
            </a:r>
            <a:r>
              <a:rPr lang="en-US" sz="3200" dirty="0"/>
              <a:t> ser </a:t>
            </a:r>
            <a:r>
              <a:rPr lang="en-US" sz="3200" dirty="0" err="1"/>
              <a:t>reemplazado</a:t>
            </a:r>
            <a:r>
              <a:rPr lang="en-US" sz="3200" dirty="0"/>
              <a:t> antes de </a:t>
            </a:r>
            <a:r>
              <a:rPr lang="en-US" sz="3200" dirty="0" err="1"/>
              <a:t>seleccionar</a:t>
            </a:r>
            <a:r>
              <a:rPr lang="en-US" sz="3200" dirty="0"/>
              <a:t> </a:t>
            </a:r>
            <a:r>
              <a:rPr lang="en-US" sz="3200" dirty="0" err="1"/>
              <a:t>el</a:t>
            </a:r>
            <a:r>
              <a:rPr lang="en-US" sz="3200" dirty="0"/>
              <a:t> </a:t>
            </a:r>
            <a:r>
              <a:rPr lang="en-US" sz="3200" dirty="0" err="1"/>
              <a:t>siguiente</a:t>
            </a:r>
            <a:r>
              <a:rPr lang="en-US" sz="3200" dirty="0"/>
              <a:t> </a:t>
            </a:r>
            <a:r>
              <a:rPr lang="en-US" sz="3200" dirty="0" err="1"/>
              <a:t>objeto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s-CR" sz="3200" b="1" dirty="0"/>
          </a:p>
        </p:txBody>
      </p:sp>
    </p:spTree>
    <p:extLst>
      <p:ext uri="{BB962C8B-B14F-4D97-AF65-F5344CB8AC3E}">
        <p14:creationId xmlns:p14="http://schemas.microsoft.com/office/powerpoint/2010/main" val="3833805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7A921-D845-1BD2-CCD6-1563513B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Muestreo</a:t>
            </a:r>
            <a:r>
              <a:rPr lang="en-US" dirty="0"/>
              <a:t> sin </a:t>
            </a:r>
            <a:r>
              <a:rPr lang="en-US" dirty="0" err="1"/>
              <a:t>reemplazo</a:t>
            </a:r>
            <a:r>
              <a:rPr lang="en-US" dirty="0"/>
              <a:t> (</a:t>
            </a:r>
            <a:r>
              <a:rPr lang="en-US" dirty="0" err="1"/>
              <a:t>Permutaciones</a:t>
            </a:r>
            <a:r>
              <a:rPr lang="en-US" dirty="0"/>
              <a:t>)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007BD4-724C-D6FD-43DF-D66669078F3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19539" y="1772816"/>
                <a:ext cx="10470502" cy="421743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Si solo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s-CR" dirty="0"/>
                  <a:t> posiciones pueden ser llenadas con objetos diferentes seleccionados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R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R" dirty="0"/>
                  <a:t>, entonces la cantidad de potenciales formas en que se pueden llenar los campos se detallan en:</a:t>
                </a:r>
              </a:p>
              <a:p>
                <a:pPr marL="0" indent="0">
                  <a:buNone/>
                </a:pPr>
                <a:endParaRPr lang="es-C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/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−1) ⋯(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)⋯(3)(2)(1)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⋯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(3)(2)(1)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s-CR" dirty="0"/>
              </a:p>
              <a:p>
                <a:endParaRPr lang="es-CR" dirty="0"/>
              </a:p>
              <a:p>
                <a:r>
                  <a:rPr lang="es-CR" dirty="0"/>
                  <a:t>Ejemplo: La cantidad de combinaciones de un código de 4 letras, seleccionando del total del alfabeto (26 letras), en donde las cuatro letras son diferentes es: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/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/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26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26!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26−4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=358,800</m:t>
                      </m:r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007BD4-724C-D6FD-43DF-D66669078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19539" y="1772816"/>
                <a:ext cx="10470502" cy="4217437"/>
              </a:xfrm>
              <a:blipFill>
                <a:blip r:embed="rId2"/>
                <a:stretch>
                  <a:fillRect l="-873" t="-3613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5966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1B25B-9557-AC2F-C449-EEC92220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Muestreo</a:t>
            </a:r>
            <a:r>
              <a:rPr lang="en-US" dirty="0"/>
              <a:t> con </a:t>
            </a:r>
            <a:r>
              <a:rPr lang="en-US" dirty="0" err="1"/>
              <a:t>reemplazo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6F5C6-8480-F563-F2BF-0521D0232D4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47461"/>
                <a:ext cx="10336877" cy="414279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Por </a:t>
                </a:r>
                <a:r>
                  <a:rPr lang="en-US" dirty="0" err="1"/>
                  <a:t>el</a:t>
                </a:r>
                <a:r>
                  <a:rPr lang="en-US" dirty="0"/>
                  <a:t> principio de </a:t>
                </a:r>
                <a:r>
                  <a:rPr lang="en-US" dirty="0" err="1"/>
                  <a:t>multiplicación</a:t>
                </a:r>
                <a:r>
                  <a:rPr lang="en-US" dirty="0"/>
                  <a:t>, la </a:t>
                </a:r>
                <a:r>
                  <a:rPr lang="en-US" dirty="0" err="1"/>
                  <a:t>cantidad</a:t>
                </a:r>
                <a:r>
                  <a:rPr lang="en-US" dirty="0"/>
                  <a:t> total de </a:t>
                </a:r>
                <a:r>
                  <a:rPr lang="en-US" dirty="0" err="1"/>
                  <a:t>combinaciones</a:t>
                </a:r>
                <a:r>
                  <a:rPr lang="en-US" dirty="0"/>
                  <a:t> de </a:t>
                </a:r>
                <a:r>
                  <a:rPr lang="en-US" dirty="0" err="1"/>
                  <a:t>tama</a:t>
                </a:r>
                <a:r>
                  <a:rPr lang="es-CR" dirty="0" err="1"/>
                  <a:t>ño</a:t>
                </a:r>
                <a:r>
                  <a:rPr lang="es-CR" dirty="0"/>
                  <a:t> </a:t>
                </a:r>
                <a14:m>
                  <m:oMath xmlns:m="http://schemas.openxmlformats.org/officeDocument/2006/math">
                    <m:r>
                      <a:rPr lang="es-CR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s-CR" dirty="0"/>
                  <a:t> de un conjunto de </a:t>
                </a:r>
                <a14:m>
                  <m:oMath xmlns:m="http://schemas.openxmlformats.org/officeDocument/2006/math">
                    <m:r>
                      <a:rPr lang="es-CR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R" dirty="0"/>
                  <a:t> objetos 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s-CR" dirty="0"/>
                  <a:t>, cuando se muestrea con reemplazo.</a:t>
                </a:r>
              </a:p>
              <a:p>
                <a:endParaRPr lang="es-CR" dirty="0"/>
              </a:p>
              <a:p>
                <a:r>
                  <a:rPr lang="es-CR" dirty="0"/>
                  <a:t>Ejemplo</a:t>
                </a:r>
                <a:r>
                  <a:rPr lang="en-US" dirty="0"/>
                  <a:t>s:</a:t>
                </a:r>
              </a:p>
              <a:p>
                <a:pPr lvl="1"/>
                <a:r>
                  <a:rPr lang="es-CR" dirty="0"/>
                  <a:t>Cantidad de posibles códigos de 4 caracteres utilizando las letras “</a:t>
                </a:r>
                <a:r>
                  <a:rPr lang="es-CR" dirty="0" err="1"/>
                  <a:t>a,b,c,d</a:t>
                </a:r>
                <a:r>
                  <a:rPr lang="es-CR" dirty="0"/>
                  <a:t>” permitiendo que se repitan letras, es: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=256</m:t>
                    </m:r>
                  </m:oMath>
                </a14:m>
                <a:endParaRPr lang="en-US" dirty="0"/>
              </a:p>
              <a:p>
                <a:pPr lvl="1"/>
                <a:r>
                  <a:rPr lang="es-CR" dirty="0"/>
                  <a:t>La cantidad de combinaciones de un código de 4 letras, seleccionando del total del alfabeto (26 letras), permitiendo que se repitan letras es: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26∗26∗26∗26=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=456,976</m:t>
                      </m:r>
                    </m:oMath>
                  </m:oMathPara>
                </a14:m>
                <a:endParaRPr lang="es-CR" dirty="0"/>
              </a:p>
              <a:p>
                <a:pPr lvl="1"/>
                <a:endParaRPr lang="en-US" dirty="0"/>
              </a:p>
              <a:p>
                <a:pPr lvl="1"/>
                <a:endParaRPr lang="es-C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6F5C6-8480-F563-F2BF-0521D0232D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47461"/>
                <a:ext cx="10336877" cy="4142792"/>
              </a:xfrm>
              <a:blipFill>
                <a:blip r:embed="rId2"/>
                <a:stretch>
                  <a:fillRect l="-1002" t="-2353" r="-1887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7585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FC7D5-DDD9-AF0E-730B-87819FD2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Combinaciones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556912-28D0-64AE-D013-9D771100408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660849"/>
                <a:ext cx="10336878" cy="4310743"/>
              </a:xfrm>
            </p:spPr>
            <p:txBody>
              <a:bodyPr>
                <a:noAutofit/>
              </a:bodyPr>
              <a:lstStyle/>
              <a:p>
                <a:r>
                  <a:rPr lang="en-US" sz="2000" dirty="0"/>
                  <a:t>En </a:t>
                </a:r>
                <a:r>
                  <a:rPr lang="en-US" sz="2000" dirty="0" err="1"/>
                  <a:t>algunas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situaciones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el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orden</a:t>
                </a:r>
                <a:r>
                  <a:rPr lang="en-US" sz="2000" dirty="0"/>
                  <a:t> de la </a:t>
                </a:r>
                <a:r>
                  <a:rPr lang="en-US" sz="2000" dirty="0" err="1"/>
                  <a:t>selección</a:t>
                </a:r>
                <a:r>
                  <a:rPr lang="en-US" sz="2000" dirty="0"/>
                  <a:t> de los </a:t>
                </a:r>
                <a:r>
                  <a:rPr lang="en-US" sz="2000" dirty="0" err="1"/>
                  <a:t>objetos</a:t>
                </a:r>
                <a:r>
                  <a:rPr lang="en-US" sz="2000" dirty="0"/>
                  <a:t> no es </a:t>
                </a:r>
                <a:r>
                  <a:rPr lang="en-US" sz="2000" dirty="0" err="1"/>
                  <a:t>relevante</a:t>
                </a:r>
                <a:r>
                  <a:rPr lang="en-US" sz="2000" dirty="0"/>
                  <a:t> y </a:t>
                </a:r>
                <a:r>
                  <a:rPr lang="en-US" sz="2000" dirty="0" err="1"/>
                  <a:t>el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interés</a:t>
                </a:r>
                <a:r>
                  <a:rPr lang="en-US" sz="2000" dirty="0"/>
                  <a:t> se centra </a:t>
                </a:r>
                <a:r>
                  <a:rPr lang="en-US" sz="2000" dirty="0" err="1"/>
                  <a:t>solamente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en</a:t>
                </a:r>
                <a:r>
                  <a:rPr lang="en-US" sz="2000" dirty="0"/>
                  <a:t> los </a:t>
                </a:r>
                <a:r>
                  <a:rPr lang="en-US" sz="2000" dirty="0" err="1"/>
                  <a:t>objetos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seleccionados</a:t>
                </a:r>
                <a:r>
                  <a:rPr lang="en-US" sz="2000" dirty="0"/>
                  <a:t>. Es </a:t>
                </a:r>
                <a:r>
                  <a:rPr lang="en-US" sz="2000" dirty="0" err="1"/>
                  <a:t>decir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el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objetivo</a:t>
                </a:r>
                <a:r>
                  <a:rPr lang="en-US" sz="2000" dirty="0"/>
                  <a:t> es la </a:t>
                </a:r>
                <a:r>
                  <a:rPr lang="en-US" sz="2000" dirty="0" err="1"/>
                  <a:t>cantidad</a:t>
                </a:r>
                <a:r>
                  <a:rPr lang="en-US" sz="2000" dirty="0"/>
                  <a:t> de </a:t>
                </a:r>
                <a:r>
                  <a:rPr lang="en-US" sz="2000" dirty="0" err="1"/>
                  <a:t>subconjuntos</a:t>
                </a:r>
                <a:r>
                  <a:rPr lang="en-US" sz="2000" dirty="0"/>
                  <a:t> de </a:t>
                </a:r>
                <a:r>
                  <a:rPr lang="en-US" sz="2000" dirty="0" err="1"/>
                  <a:t>tama</a:t>
                </a:r>
                <a:r>
                  <a:rPr lang="es-CR" sz="2000" dirty="0" err="1"/>
                  <a:t>ño</a:t>
                </a:r>
                <a:r>
                  <a:rPr lang="es-CR" sz="2000" dirty="0"/>
                  <a:t> </a:t>
                </a:r>
                <a14:m>
                  <m:oMath xmlns:m="http://schemas.openxmlformats.org/officeDocument/2006/math">
                    <m:r>
                      <a:rPr lang="es-CR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s-CR" sz="2000" dirty="0"/>
                  <a:t> que pueden ser seleccionados de un conjunto con </a:t>
                </a:r>
                <a14:m>
                  <m:oMath xmlns:m="http://schemas.openxmlformats.org/officeDocument/2006/math">
                    <m:r>
                      <a:rPr lang="es-CR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R" sz="2000" dirty="0"/>
                  <a:t> objetos diferentes.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C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/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C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s-CR" sz="2000" dirty="0"/>
              </a:p>
              <a:p>
                <a:r>
                  <a:rPr lang="es-CR" sz="2000" dirty="0"/>
                  <a:t>El resultado representa la cantidad de formas en que  </a:t>
                </a:r>
                <a14:m>
                  <m:oMath xmlns:m="http://schemas.openxmlformats.org/officeDocument/2006/math">
                    <m:r>
                      <a:rPr lang="es-CR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s-CR" sz="2000" dirty="0"/>
                  <a:t> objetos pueden ser seleccionados sin reemplazo, de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R" sz="2000" dirty="0"/>
                  <a:t> objetos, cuando el orden de selección no importa.</a:t>
                </a:r>
              </a:p>
              <a:p>
                <a:endParaRPr lang="es-CR" sz="2000" dirty="0"/>
              </a:p>
              <a:p>
                <a:r>
                  <a:rPr lang="es-CR" sz="2000" dirty="0"/>
                  <a:t>Ejemplo: </a:t>
                </a:r>
                <a:r>
                  <a:rPr lang="es-MX" sz="2000" dirty="0"/>
                  <a:t>El número de manos posibles de 5 cartas extraídas de una baraja de 52 cartas:</a:t>
                </a:r>
              </a:p>
              <a:p>
                <a:pPr marL="0" indent="0">
                  <a:buNone/>
                </a:pPr>
                <a:endParaRPr lang="es-CR" sz="2000" dirty="0"/>
              </a:p>
              <a:p>
                <a:pPr marL="0" indent="0">
                  <a:buNone/>
                </a:pPr>
                <a:r>
                  <a:rPr lang="es-CR" sz="20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s-C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/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52</m:t>
                            </m:r>
                          </m:sub>
                        </m:sSub>
                        <m:r>
                          <a:rPr lang="es-CR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52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52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CR" sz="2000"/>
                      <m:t>2,598,960</m:t>
                    </m:r>
                  </m:oMath>
                </a14:m>
                <a:endParaRPr lang="es-C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556912-28D0-64AE-D013-9D77110040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660849"/>
                <a:ext cx="10336878" cy="4310743"/>
              </a:xfrm>
              <a:blipFill>
                <a:blip r:embed="rId2"/>
                <a:stretch>
                  <a:fillRect l="-472" t="-1412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1137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B6416-AD27-A852-49A4-278A8E5CF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Resumen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44BC9226-B2ED-3529-D813-E9351EB039FF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1521561054"/>
                  </p:ext>
                </p:extLst>
              </p:nvPr>
            </p:nvGraphicFramePr>
            <p:xfrm>
              <a:off x="298580" y="1900561"/>
              <a:ext cx="11607280" cy="3779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8089">
                      <a:extLst>
                        <a:ext uri="{9D8B030D-6E8A-4147-A177-3AD203B41FA5}">
                          <a16:colId xmlns:a16="http://schemas.microsoft.com/office/drawing/2014/main" val="3351986046"/>
                        </a:ext>
                      </a:extLst>
                    </a:gridCol>
                    <a:gridCol w="3004458">
                      <a:extLst>
                        <a:ext uri="{9D8B030D-6E8A-4147-A177-3AD203B41FA5}">
                          <a16:colId xmlns:a16="http://schemas.microsoft.com/office/drawing/2014/main" val="300678027"/>
                        </a:ext>
                      </a:extLst>
                    </a:gridCol>
                    <a:gridCol w="1959428">
                      <a:extLst>
                        <a:ext uri="{9D8B030D-6E8A-4147-A177-3AD203B41FA5}">
                          <a16:colId xmlns:a16="http://schemas.microsoft.com/office/drawing/2014/main" val="1602898511"/>
                        </a:ext>
                      </a:extLst>
                    </a:gridCol>
                    <a:gridCol w="1642188">
                      <a:extLst>
                        <a:ext uri="{9D8B030D-6E8A-4147-A177-3AD203B41FA5}">
                          <a16:colId xmlns:a16="http://schemas.microsoft.com/office/drawing/2014/main" val="2049289362"/>
                        </a:ext>
                      </a:extLst>
                    </a:gridCol>
                    <a:gridCol w="3023117">
                      <a:extLst>
                        <a:ext uri="{9D8B030D-6E8A-4147-A177-3AD203B41FA5}">
                          <a16:colId xmlns:a16="http://schemas.microsoft.com/office/drawing/2014/main" val="2373653656"/>
                        </a:ext>
                      </a:extLst>
                    </a:gridCol>
                  </a:tblGrid>
                  <a:tr h="6000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2200" dirty="0"/>
                            <a:t>Método</a:t>
                          </a:r>
                          <a:endParaRPr lang="es-CR" sz="2200" dirty="0"/>
                        </a:p>
                      </a:txBody>
                      <a:tcPr anchor="ctr">
                        <a:solidFill>
                          <a:srgbClr val="000F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2200" dirty="0"/>
                            <a:t>Fórmula</a:t>
                          </a:r>
                          <a:endParaRPr lang="es-CR" sz="2200" dirty="0"/>
                        </a:p>
                      </a:txBody>
                      <a:tcPr anchor="ctr">
                        <a:solidFill>
                          <a:srgbClr val="000F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200" dirty="0"/>
                            <a:t>¿</a:t>
                          </a:r>
                          <a:r>
                            <a:rPr lang="en-US" sz="2200" dirty="0" err="1"/>
                            <a:t>Importa</a:t>
                          </a:r>
                          <a:r>
                            <a:rPr lang="en-US" sz="2200" dirty="0"/>
                            <a:t> </a:t>
                          </a:r>
                          <a:r>
                            <a:rPr lang="en-US" sz="2200" dirty="0" err="1"/>
                            <a:t>el</a:t>
                          </a:r>
                          <a:r>
                            <a:rPr lang="en-US" sz="2200" dirty="0"/>
                            <a:t> </a:t>
                          </a:r>
                          <a:r>
                            <a:rPr lang="en-US" sz="2200" dirty="0" err="1"/>
                            <a:t>orden</a:t>
                          </a:r>
                          <a:r>
                            <a:rPr lang="en-US" sz="2200" dirty="0"/>
                            <a:t>?</a:t>
                          </a:r>
                          <a:endParaRPr lang="es-CR" sz="2200" dirty="0"/>
                        </a:p>
                      </a:txBody>
                      <a:tcPr anchor="ctr">
                        <a:solidFill>
                          <a:srgbClr val="000F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200" dirty="0"/>
                            <a:t>¿Hay reemplazo</a:t>
                          </a:r>
                          <a:r>
                            <a:rPr lang="en-US" sz="2200" dirty="0"/>
                            <a:t>?</a:t>
                          </a:r>
                          <a:endParaRPr lang="es-CR" sz="2200" dirty="0"/>
                        </a:p>
                      </a:txBody>
                      <a:tcPr anchor="ctr">
                        <a:solidFill>
                          <a:srgbClr val="000F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200" dirty="0"/>
                            <a:t>Ejemplo de uso</a:t>
                          </a:r>
                        </a:p>
                      </a:txBody>
                      <a:tcPr anchor="ctr">
                        <a:solidFill>
                          <a:srgbClr val="000F9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311620"/>
                      </a:ext>
                    </a:extLst>
                  </a:tr>
                  <a:tr h="9345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2000" dirty="0"/>
                            <a:t>Muestreo con reemplazo</a:t>
                          </a:r>
                          <a:endParaRPr lang="es-CR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C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R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s-CR" sz="2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R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000" dirty="0"/>
                            <a:t>Sí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000" dirty="0"/>
                            <a:t>Sí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sz="2000" dirty="0"/>
                            <a:t>Crear un pin numérico de </a:t>
                          </a:r>
                          <a14:m>
                            <m:oMath xmlns:m="http://schemas.openxmlformats.org/officeDocument/2006/math">
                              <m:r>
                                <a:rPr lang="es-CR" sz="20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R" sz="2000" dirty="0"/>
                            <a:t> dígitos</a:t>
                          </a:r>
                        </a:p>
                        <a:p>
                          <a:endParaRPr lang="es-CR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9614764"/>
                      </a:ext>
                    </a:extLst>
                  </a:tr>
                  <a:tr h="9345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2000" dirty="0"/>
                            <a:t>Muestreo sin reemplazo</a:t>
                          </a:r>
                          <a:endParaRPr lang="es-CR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/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R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000" dirty="0"/>
                            <a:t>Sí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000" dirty="0"/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Una carrera de 10 personas donde hay medallas de oro, plata y </a:t>
                          </a:r>
                          <a:r>
                            <a:rPr lang="es-MX" sz="2000"/>
                            <a:t>bronce.</a:t>
                          </a:r>
                          <a:endParaRPr lang="es-CR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10477985"/>
                      </a:ext>
                    </a:extLst>
                  </a:tr>
                  <a:tr h="93450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2000" dirty="0"/>
                            <a:t>Combinaciones</a:t>
                          </a:r>
                          <a:endParaRPr lang="es-CR" sz="2000" dirty="0"/>
                        </a:p>
                        <a:p>
                          <a:pPr algn="ctr"/>
                          <a:endParaRPr lang="es-CR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s-CR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/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s-CR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R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000" dirty="0"/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000" dirty="0"/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r>
                            <a:rPr lang="es-MX" sz="20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Juegos de cartas (póker), selección de comités sin jerarquía</a:t>
                          </a:r>
                          <a:endParaRPr lang="es-CR" sz="20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74597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44BC9226-B2ED-3529-D813-E9351EB039FF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1521561054"/>
                  </p:ext>
                </p:extLst>
              </p:nvPr>
            </p:nvGraphicFramePr>
            <p:xfrm>
              <a:off x="298580" y="1900561"/>
              <a:ext cx="11607280" cy="3779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8089">
                      <a:extLst>
                        <a:ext uri="{9D8B030D-6E8A-4147-A177-3AD203B41FA5}">
                          <a16:colId xmlns:a16="http://schemas.microsoft.com/office/drawing/2014/main" val="3351986046"/>
                        </a:ext>
                      </a:extLst>
                    </a:gridCol>
                    <a:gridCol w="3004458">
                      <a:extLst>
                        <a:ext uri="{9D8B030D-6E8A-4147-A177-3AD203B41FA5}">
                          <a16:colId xmlns:a16="http://schemas.microsoft.com/office/drawing/2014/main" val="300678027"/>
                        </a:ext>
                      </a:extLst>
                    </a:gridCol>
                    <a:gridCol w="1959428">
                      <a:extLst>
                        <a:ext uri="{9D8B030D-6E8A-4147-A177-3AD203B41FA5}">
                          <a16:colId xmlns:a16="http://schemas.microsoft.com/office/drawing/2014/main" val="1602898511"/>
                        </a:ext>
                      </a:extLst>
                    </a:gridCol>
                    <a:gridCol w="1642188">
                      <a:extLst>
                        <a:ext uri="{9D8B030D-6E8A-4147-A177-3AD203B41FA5}">
                          <a16:colId xmlns:a16="http://schemas.microsoft.com/office/drawing/2014/main" val="2049289362"/>
                        </a:ext>
                      </a:extLst>
                    </a:gridCol>
                    <a:gridCol w="3023117">
                      <a:extLst>
                        <a:ext uri="{9D8B030D-6E8A-4147-A177-3AD203B41FA5}">
                          <a16:colId xmlns:a16="http://schemas.microsoft.com/office/drawing/2014/main" val="2373653656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2200" dirty="0"/>
                            <a:t>Método</a:t>
                          </a:r>
                          <a:endParaRPr lang="es-CR" sz="2200" dirty="0"/>
                        </a:p>
                      </a:txBody>
                      <a:tcPr anchor="ctr">
                        <a:solidFill>
                          <a:srgbClr val="000F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2200" dirty="0"/>
                            <a:t>Fórmula</a:t>
                          </a:r>
                          <a:endParaRPr lang="es-CR" sz="2200" dirty="0"/>
                        </a:p>
                      </a:txBody>
                      <a:tcPr anchor="ctr">
                        <a:solidFill>
                          <a:srgbClr val="000F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200" dirty="0"/>
                            <a:t>¿</a:t>
                          </a:r>
                          <a:r>
                            <a:rPr lang="en-US" sz="2200" dirty="0" err="1"/>
                            <a:t>Importa</a:t>
                          </a:r>
                          <a:r>
                            <a:rPr lang="en-US" sz="2200" dirty="0"/>
                            <a:t> </a:t>
                          </a:r>
                          <a:r>
                            <a:rPr lang="en-US" sz="2200" dirty="0" err="1"/>
                            <a:t>el</a:t>
                          </a:r>
                          <a:r>
                            <a:rPr lang="en-US" sz="2200" dirty="0"/>
                            <a:t> </a:t>
                          </a:r>
                          <a:r>
                            <a:rPr lang="en-US" sz="2200" dirty="0" err="1"/>
                            <a:t>orden</a:t>
                          </a:r>
                          <a:r>
                            <a:rPr lang="en-US" sz="2200" dirty="0"/>
                            <a:t>?</a:t>
                          </a:r>
                          <a:endParaRPr lang="es-CR" sz="2200" dirty="0"/>
                        </a:p>
                      </a:txBody>
                      <a:tcPr anchor="ctr">
                        <a:solidFill>
                          <a:srgbClr val="000F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200" dirty="0"/>
                            <a:t>¿Hay reemplazo</a:t>
                          </a:r>
                          <a:r>
                            <a:rPr lang="en-US" sz="2200" dirty="0"/>
                            <a:t>?</a:t>
                          </a:r>
                          <a:endParaRPr lang="es-CR" sz="2200" dirty="0"/>
                        </a:p>
                      </a:txBody>
                      <a:tcPr anchor="ctr">
                        <a:solidFill>
                          <a:srgbClr val="000F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200" dirty="0"/>
                            <a:t>Ejemplo de uso</a:t>
                          </a:r>
                        </a:p>
                      </a:txBody>
                      <a:tcPr anchor="ctr">
                        <a:solidFill>
                          <a:srgbClr val="000F9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31162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2000" dirty="0"/>
                            <a:t>Muestreo con reemplazo</a:t>
                          </a:r>
                          <a:endParaRPr lang="es-CR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6126" t="-79394" r="-221501" b="-21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000" dirty="0"/>
                            <a:t>Sí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000" dirty="0"/>
                            <a:t>Sí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84476" t="-79394" r="-806" b="-2115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9614764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2000" dirty="0"/>
                            <a:t>Muestreo sin reemplazo</a:t>
                          </a:r>
                          <a:endParaRPr lang="es-CR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6126" t="-178313" r="-221501" b="-110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000" dirty="0"/>
                            <a:t>Sí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000" dirty="0"/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Una carrera de 10 personas donde hay medallas de oro, plata y </a:t>
                          </a:r>
                          <a:r>
                            <a:rPr lang="es-MX" sz="2000"/>
                            <a:t>bronce.</a:t>
                          </a:r>
                          <a:endParaRPr lang="es-CR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10477985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2000" dirty="0"/>
                            <a:t>Combinaciones</a:t>
                          </a:r>
                          <a:endParaRPr lang="es-CR" sz="2000" dirty="0"/>
                        </a:p>
                        <a:p>
                          <a:pPr algn="ctr"/>
                          <a:endParaRPr lang="es-CR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6126" t="-280000" r="-221501" b="-1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000" dirty="0"/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000" dirty="0"/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r>
                            <a:rPr lang="es-MX" sz="20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Juegos de cartas (póker), selección de comités sin jerarquía</a:t>
                          </a:r>
                          <a:endParaRPr lang="es-CR" sz="20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745978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58715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C0D53-DC51-0DE8-ED4A-AE4619BA9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Repaso</a:t>
            </a:r>
            <a:endParaRPr lang="es-CR" dirty="0"/>
          </a:p>
        </p:txBody>
      </p:sp>
      <p:pic>
        <p:nvPicPr>
          <p:cNvPr id="3" name="Online Media 2" title="DIFERENCIA ENTRE COMBINACIONES Y PERMUTACIONES  Super facil - Para principiantes">
            <a:hlinkClick r:id="" action="ppaction://media"/>
            <a:extLst>
              <a:ext uri="{FF2B5EF4-FFF2-40B4-BE49-F238E27FC236}">
                <a16:creationId xmlns:a16="http://schemas.microsoft.com/office/drawing/2014/main" id="{1FAF3F26-E153-6998-BE37-BD9AA691BB7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3975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25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47963-9847-D956-EC01-6D075D5EF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Bibliografía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764F-3023-9E9E-4783-CDF2241DD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336877" cy="3735410"/>
          </a:xfrm>
        </p:spPr>
        <p:txBody>
          <a:bodyPr/>
          <a:lstStyle/>
          <a:p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Hogg, Robert V.., Elliot A.. Tanis, and Dale L.. Zimmerman. 2015.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Probability and Statistical Inference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 Pearson</a:t>
            </a:r>
          </a:p>
          <a:p>
            <a:endParaRPr lang="en-US" dirty="0">
              <a:solidFill>
                <a:srgbClr val="373A3C"/>
              </a:solidFill>
              <a:latin typeface="Source Sans Pro" panose="020B0503030403020204" pitchFamily="34" charset="0"/>
            </a:endParaRPr>
          </a:p>
          <a:p>
            <a:r>
              <a:rPr lang="es-MX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Gen, A; Morales, I. (2018). </a:t>
            </a:r>
            <a:r>
              <a:rPr lang="es-MX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Lógica y Teoría de Conjuntos.</a:t>
            </a:r>
            <a:r>
              <a:rPr lang="es-MX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 San José: EUNED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728612513"/>
      </p:ext>
    </p:extLst>
  </p:cSld>
  <p:clrMapOvr>
    <a:masterClrMapping/>
  </p:clrMapOvr>
</p:sld>
</file>

<file path=ppt/theme/theme1.xml><?xml version="1.0" encoding="utf-8"?>
<a:theme xmlns:a="http://schemas.openxmlformats.org/drawingml/2006/main" name="Fidélitas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8138</TotalTime>
  <Words>1675</Words>
  <Application>Microsoft Office PowerPoint</Application>
  <PresentationFormat>Widescreen</PresentationFormat>
  <Paragraphs>215</Paragraphs>
  <Slides>29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Cambria Math</vt:lpstr>
      <vt:lpstr>Source Sans Pro</vt:lpstr>
      <vt:lpstr>Trust Sans</vt:lpstr>
      <vt:lpstr>Trust Sans Black</vt:lpstr>
      <vt:lpstr>Trust Sans Bold</vt:lpstr>
      <vt:lpstr>Fidélitas </vt:lpstr>
      <vt:lpstr>Teoría Estadística y Métodos Cuantitativos</vt:lpstr>
      <vt:lpstr>Contenido</vt:lpstr>
      <vt:lpstr>Teoría de Conjuntos</vt:lpstr>
      <vt:lpstr>Conceptos básicos</vt:lpstr>
      <vt:lpstr>Operaciones de Conjuntos</vt:lpstr>
      <vt:lpstr>Leyes de Conjuntos</vt:lpstr>
      <vt:lpstr>Probabilidad</vt:lpstr>
      <vt:lpstr>Definición</vt:lpstr>
      <vt:lpstr>Propiedades de la función P</vt:lpstr>
      <vt:lpstr>Teoremas</vt:lpstr>
      <vt:lpstr>Teoremas</vt:lpstr>
      <vt:lpstr>Teoremas</vt:lpstr>
      <vt:lpstr>Ejercicios</vt:lpstr>
      <vt:lpstr>Ejercicio 1</vt:lpstr>
      <vt:lpstr>Solución</vt:lpstr>
      <vt:lpstr>Ejercicio 2</vt:lpstr>
      <vt:lpstr>Solución</vt:lpstr>
      <vt:lpstr>Métodos de conteo</vt:lpstr>
      <vt:lpstr>Principio de multiplicación</vt:lpstr>
      <vt:lpstr>Principio de multiplicación. Ejemplo 1</vt:lpstr>
      <vt:lpstr>Principio de multiplicación. Ejemplo 2</vt:lpstr>
      <vt:lpstr>n factorial (n!)</vt:lpstr>
      <vt:lpstr>Muestreo con reemplazo y sin reemplazo</vt:lpstr>
      <vt:lpstr>Muestreo sin reemplazo (Permutaciones)</vt:lpstr>
      <vt:lpstr>Muestreo con reemplazo</vt:lpstr>
      <vt:lpstr>Combinaciones</vt:lpstr>
      <vt:lpstr>Resumen</vt:lpstr>
      <vt:lpstr>Repaso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Fiorella Chacón Morales</dc:creator>
  <cp:lastModifiedBy>Fabian Brenes</cp:lastModifiedBy>
  <cp:revision>23</cp:revision>
  <dcterms:created xsi:type="dcterms:W3CDTF">2023-02-23T21:29:48Z</dcterms:created>
  <dcterms:modified xsi:type="dcterms:W3CDTF">2026-06-06T00:24:26Z</dcterms:modified>
</cp:coreProperties>
</file>