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354" r:id="rId2"/>
    <p:sldId id="355" r:id="rId3"/>
    <p:sldId id="356" r:id="rId4"/>
    <p:sldId id="359" r:id="rId5"/>
    <p:sldId id="357" r:id="rId6"/>
    <p:sldId id="360" r:id="rId7"/>
    <p:sldId id="358" r:id="rId8"/>
    <p:sldId id="361" r:id="rId9"/>
    <p:sldId id="362" r:id="rId10"/>
    <p:sldId id="417" r:id="rId11"/>
    <p:sldId id="440" r:id="rId12"/>
    <p:sldId id="415" r:id="rId13"/>
    <p:sldId id="395" r:id="rId14"/>
  </p:sldIdLst>
  <p:sldSz cx="12192000" cy="6858000"/>
  <p:notesSz cx="6858000" cy="9144000"/>
  <p:defaultTextStyle>
    <a:defPPr>
      <a:defRPr lang="es-C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F9F"/>
    <a:srgbClr val="FFFFFF"/>
    <a:srgbClr val="E31D93"/>
    <a:srgbClr val="00B2E3"/>
    <a:srgbClr val="FFD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549"/>
    <p:restoredTop sz="90706" autoAdjust="0"/>
  </p:normalViewPr>
  <p:slideViewPr>
    <p:cSldViewPr snapToGrid="0">
      <p:cViewPr varScale="1">
        <p:scale>
          <a:sx n="57" d="100"/>
          <a:sy n="57" d="100"/>
        </p:scale>
        <p:origin x="288" y="28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bian Brenes" userId="0a98a788-2542-4baf-b081-64ee1e965425" providerId="ADAL" clId="{3D44E08D-C675-4D64-922C-0261EF110F0B}"/>
    <pc:docChg chg="delSld modSld">
      <pc:chgData name="Fabian Brenes" userId="0a98a788-2542-4baf-b081-64ee1e965425" providerId="ADAL" clId="{3D44E08D-C675-4D64-922C-0261EF110F0B}" dt="2026-03-13T17:32:16.918" v="8" actId="47"/>
      <pc:docMkLst>
        <pc:docMk/>
      </pc:docMkLst>
      <pc:sldChg chg="modSp mod">
        <pc:chgData name="Fabian Brenes" userId="0a98a788-2542-4baf-b081-64ee1e965425" providerId="ADAL" clId="{3D44E08D-C675-4D64-922C-0261EF110F0B}" dt="2026-03-13T17:32:07.948" v="7" actId="6549"/>
        <pc:sldMkLst>
          <pc:docMk/>
          <pc:sldMk cId="2320804032" sldId="355"/>
        </pc:sldMkLst>
        <pc:spChg chg="mod">
          <ac:chgData name="Fabian Brenes" userId="0a98a788-2542-4baf-b081-64ee1e965425" providerId="ADAL" clId="{3D44E08D-C675-4D64-922C-0261EF110F0B}" dt="2026-03-13T17:32:07.948" v="7" actId="6549"/>
          <ac:spMkLst>
            <pc:docMk/>
            <pc:sldMk cId="2320804032" sldId="355"/>
            <ac:spMk id="4" creationId="{52A3A2B1-139B-0013-2BE0-8B18137E30E5}"/>
          </ac:spMkLst>
        </pc:spChg>
      </pc:sldChg>
      <pc:sldChg chg="del">
        <pc:chgData name="Fabian Brenes" userId="0a98a788-2542-4baf-b081-64ee1e965425" providerId="ADAL" clId="{3D44E08D-C675-4D64-922C-0261EF110F0B}" dt="2026-03-13T17:32:16.918" v="8" actId="47"/>
        <pc:sldMkLst>
          <pc:docMk/>
          <pc:sldMk cId="2928963179" sldId="407"/>
        </pc:sldMkLst>
      </pc:sldChg>
      <pc:sldChg chg="del">
        <pc:chgData name="Fabian Brenes" userId="0a98a788-2542-4baf-b081-64ee1e965425" providerId="ADAL" clId="{3D44E08D-C675-4D64-922C-0261EF110F0B}" dt="2026-03-13T17:32:16.918" v="8" actId="47"/>
        <pc:sldMkLst>
          <pc:docMk/>
          <pc:sldMk cId="101542299" sldId="43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690E02-228F-4EE4-B8DB-40CD5C605F12}" type="datetimeFigureOut">
              <a:rPr lang="es-CR" smtClean="0"/>
              <a:t>13/3/2026</a:t>
            </a:fld>
            <a:endParaRPr lang="es-C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678745-B1E6-4434-BB1A-E7B3F7352ADB}" type="slidenum">
              <a:rPr lang="es-CR" smtClean="0"/>
              <a:t>‹#›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853189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sv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sv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75F2A3D7-D255-7DCD-6AEE-4A3CB82FF3F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6435" t="3287" b="3287"/>
          <a:stretch/>
        </p:blipFill>
        <p:spPr>
          <a:xfrm>
            <a:off x="0" y="2494722"/>
            <a:ext cx="2600946" cy="956818"/>
          </a:xfrm>
          <a:prstGeom prst="rect">
            <a:avLst/>
          </a:prstGeom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05F754BB-255D-0FE5-FB11-2E7D44DB33D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926443" y="1176898"/>
            <a:ext cx="7794913" cy="2252102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6000" b="1" i="0">
                <a:solidFill>
                  <a:schemeClr val="bg1"/>
                </a:solidFill>
                <a:latin typeface="Trust Sans Black" pitchFamily="2" charset="77"/>
              </a:defRPr>
            </a:lvl1pPr>
          </a:lstStyle>
          <a:p>
            <a:r>
              <a:rPr lang="es-MX" dirty="0"/>
              <a:t>CLICK TO ADD TITLE</a:t>
            </a:r>
            <a:endParaRPr lang="es-CR" dirty="0"/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8FFE5A59-DA03-60BF-23E2-491F1C0AB5C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926444" y="4165636"/>
            <a:ext cx="7794912" cy="957689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Trust Sans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 dirty="0"/>
              <a:t>Click to add subtitle</a:t>
            </a:r>
            <a:endParaRPr lang="es-CR" dirty="0"/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4942F5F3-D9C5-32A4-1D88-43EF7BE18CE7}"/>
              </a:ext>
            </a:extLst>
          </p:cNvPr>
          <p:cNvCxnSpPr>
            <a:cxnSpLocks/>
          </p:cNvCxnSpPr>
          <p:nvPr userDrawn="1"/>
        </p:nvCxnSpPr>
        <p:spPr>
          <a:xfrm>
            <a:off x="2926444" y="3741684"/>
            <a:ext cx="7794913" cy="0"/>
          </a:xfrm>
          <a:prstGeom prst="line">
            <a:avLst/>
          </a:prstGeom>
          <a:ln w="76200" cap="rnd">
            <a:solidFill>
              <a:srgbClr val="FFD600"/>
            </a:solidFill>
            <a:beve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4197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portada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043BE044-ED31-3F60-3A2F-7E880992B3D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838200" y="2735376"/>
            <a:ext cx="1139757" cy="712348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AA441604-9A2B-F58B-7730-B0BA9FF9D2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54452" y="2454966"/>
            <a:ext cx="7077635" cy="20574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6600" b="1" i="0">
                <a:solidFill>
                  <a:schemeClr val="bg1"/>
                </a:solidFill>
                <a:latin typeface="Trust Sans Bold" pitchFamily="2" charset="77"/>
              </a:defRPr>
            </a:lvl1pPr>
          </a:lstStyle>
          <a:p>
            <a:r>
              <a:rPr lang="es-MX" dirty="0"/>
              <a:t>CLICK TO ADD TITLE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1800499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portada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F5D7F6B5-6E7F-9DFE-350A-5B76D265B4F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833814" y="2735376"/>
            <a:ext cx="1139757" cy="712348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93C3988A-175F-3624-D13A-0B7D7469B58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54452" y="2454966"/>
            <a:ext cx="7077635" cy="20574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6600" b="1" i="0">
                <a:solidFill>
                  <a:srgbClr val="000F9F"/>
                </a:solidFill>
                <a:latin typeface="Trust Sans Bold" pitchFamily="2" charset="77"/>
              </a:defRPr>
            </a:lvl1pPr>
          </a:lstStyle>
          <a:p>
            <a:r>
              <a:rPr lang="es-MX" dirty="0"/>
              <a:t>CLICK TO ADD TITLE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1325400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590F0828-C61C-4406-DC2A-08D1B900E8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7444" y="585169"/>
            <a:ext cx="9807633" cy="87179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000" b="1" i="0">
                <a:solidFill>
                  <a:srgbClr val="000F9F"/>
                </a:solidFill>
                <a:latin typeface="Trust Sans Bold" pitchFamily="2" charset="77"/>
              </a:defRPr>
            </a:lvl1pPr>
          </a:lstStyle>
          <a:p>
            <a:r>
              <a:rPr lang="es-MX" dirty="0"/>
              <a:t>CLICK TO ADD TITLE</a:t>
            </a:r>
            <a:endParaRPr lang="es-CR" dirty="0"/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3C64957B-02E4-9B5C-8E18-E36EA9BA263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2067983"/>
            <a:ext cx="5181600" cy="3735410"/>
          </a:xfrm>
        </p:spPr>
        <p:txBody>
          <a:bodyPr/>
          <a:lstStyle>
            <a:lvl1pPr>
              <a:defRPr>
                <a:latin typeface="Trust Sans" pitchFamily="2" charset="77"/>
              </a:defRPr>
            </a:lvl1pPr>
            <a:lvl2pPr>
              <a:defRPr>
                <a:latin typeface="Trust Sans" pitchFamily="2" charset="77"/>
              </a:defRPr>
            </a:lvl2pPr>
            <a:lvl3pPr>
              <a:defRPr>
                <a:latin typeface="Trust Sans" pitchFamily="2" charset="77"/>
              </a:defRPr>
            </a:lvl3pPr>
            <a:lvl4pPr>
              <a:defRPr>
                <a:latin typeface="Trust Sans" pitchFamily="2" charset="77"/>
              </a:defRPr>
            </a:lvl4pPr>
            <a:lvl5pPr>
              <a:defRPr>
                <a:latin typeface="Trust Sans" pitchFamily="2" charset="77"/>
              </a:defRPr>
            </a:lvl5pPr>
          </a:lstStyle>
          <a:p>
            <a:pPr lvl="0"/>
            <a:r>
              <a:rPr lang="es-MX" dirty="0"/>
              <a:t>Click to add text</a:t>
            </a:r>
            <a:endParaRPr lang="es-CR" dirty="0"/>
          </a:p>
        </p:txBody>
      </p:sp>
      <p:sp>
        <p:nvSpPr>
          <p:cNvPr id="7" name="Marcador de contenido 3">
            <a:extLst>
              <a:ext uri="{FF2B5EF4-FFF2-40B4-BE49-F238E27FC236}">
                <a16:creationId xmlns:a16="http://schemas.microsoft.com/office/drawing/2014/main" id="{C6D7E9F4-35B6-1C90-CF52-751FB46A862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2067983"/>
            <a:ext cx="5181600" cy="3735410"/>
          </a:xfrm>
        </p:spPr>
        <p:txBody>
          <a:bodyPr/>
          <a:lstStyle>
            <a:lvl1pPr>
              <a:defRPr>
                <a:latin typeface="Trust Sans" pitchFamily="2" charset="77"/>
              </a:defRPr>
            </a:lvl1pPr>
            <a:lvl2pPr>
              <a:defRPr>
                <a:latin typeface="Trust Sans" pitchFamily="2" charset="77"/>
              </a:defRPr>
            </a:lvl2pPr>
            <a:lvl3pPr>
              <a:defRPr>
                <a:latin typeface="Trust Sans" pitchFamily="2" charset="77"/>
              </a:defRPr>
            </a:lvl3pPr>
            <a:lvl4pPr>
              <a:defRPr>
                <a:latin typeface="Trust Sans" pitchFamily="2" charset="77"/>
              </a:defRPr>
            </a:lvl4pPr>
            <a:lvl5pPr>
              <a:defRPr>
                <a:latin typeface="Trust Sans" pitchFamily="2" charset="77"/>
              </a:defRPr>
            </a:lvl5pPr>
          </a:lstStyle>
          <a:p>
            <a:pPr lvl="0"/>
            <a:r>
              <a:rPr lang="es-MX" dirty="0"/>
              <a:t>Click to add text</a:t>
            </a:r>
            <a:endParaRPr lang="es-CR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1E37BC75-F084-050C-B722-406BB5C8011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86394" y="655266"/>
            <a:ext cx="781050" cy="488156"/>
          </a:xfrm>
          <a:prstGeom prst="rect">
            <a:avLst/>
          </a:prstGeom>
        </p:spPr>
      </p:pic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278A961E-E13E-27B7-195D-9EA2B5A9AFBA}"/>
              </a:ext>
            </a:extLst>
          </p:cNvPr>
          <p:cNvCxnSpPr>
            <a:cxnSpLocks/>
          </p:cNvCxnSpPr>
          <p:nvPr userDrawn="1"/>
        </p:nvCxnSpPr>
        <p:spPr>
          <a:xfrm>
            <a:off x="586394" y="1677007"/>
            <a:ext cx="10192442" cy="0"/>
          </a:xfrm>
          <a:prstGeom prst="line">
            <a:avLst/>
          </a:prstGeom>
          <a:ln w="38100" cap="rnd">
            <a:solidFill>
              <a:srgbClr val="00B2E3"/>
            </a:solidFill>
            <a:beve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39495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7822B41A-10D2-12DC-7415-C3DFB5FFA59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94509" y="2526894"/>
            <a:ext cx="4420710" cy="2688945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  <a:latin typeface="Trust Sans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 dirty="0"/>
              <a:t>Click to add text </a:t>
            </a:r>
            <a:endParaRPr lang="es-CR" dirty="0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DEE44A15-0D2B-2A97-C607-CF9797EB13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4509" y="771305"/>
            <a:ext cx="4420710" cy="1520719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3600" b="1" i="0">
                <a:solidFill>
                  <a:srgbClr val="000F9F"/>
                </a:solidFill>
                <a:latin typeface="Trust Sans Bold" pitchFamily="2" charset="77"/>
              </a:defRPr>
            </a:lvl1pPr>
          </a:lstStyle>
          <a:p>
            <a:r>
              <a:rPr lang="es-MX" dirty="0"/>
              <a:t>Click to add title</a:t>
            </a:r>
            <a:endParaRPr lang="es-CR" dirty="0"/>
          </a:p>
        </p:txBody>
      </p:sp>
      <p:sp>
        <p:nvSpPr>
          <p:cNvPr id="5" name="Marcador de posición de imagen 2">
            <a:extLst>
              <a:ext uri="{FF2B5EF4-FFF2-40B4-BE49-F238E27FC236}">
                <a16:creationId xmlns:a16="http://schemas.microsoft.com/office/drawing/2014/main" id="{740D23F4-F7F1-B2AC-63CE-98E96B87EDA7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5902036" y="771306"/>
            <a:ext cx="5453352" cy="4444534"/>
          </a:xfrm>
        </p:spPr>
        <p:txBody>
          <a:bodyPr>
            <a:normAutofit/>
          </a:bodyPr>
          <a:lstStyle>
            <a:lvl1pPr marL="0" indent="0">
              <a:buNone/>
              <a:defRPr sz="2000" b="0" i="0">
                <a:latin typeface="Trust Sans" pitchFamily="2" charset="77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CR" dirty="0" err="1"/>
              <a:t>Click</a:t>
            </a:r>
            <a:r>
              <a:rPr lang="es-CR" dirty="0"/>
              <a:t> </a:t>
            </a:r>
            <a:r>
              <a:rPr lang="es-CR" dirty="0" err="1"/>
              <a:t>to</a:t>
            </a:r>
            <a:r>
              <a:rPr lang="es-CR" dirty="0"/>
              <a:t> </a:t>
            </a:r>
            <a:r>
              <a:rPr lang="es-CR" dirty="0" err="1"/>
              <a:t>add</a:t>
            </a:r>
            <a:r>
              <a:rPr lang="es-CR" dirty="0"/>
              <a:t> a </a:t>
            </a:r>
            <a:r>
              <a:rPr lang="es-CR" dirty="0" err="1"/>
              <a:t>image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20823528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ítulo 2">
            <a:extLst>
              <a:ext uri="{FF2B5EF4-FFF2-40B4-BE49-F238E27FC236}">
                <a16:creationId xmlns:a16="http://schemas.microsoft.com/office/drawing/2014/main" id="{C70069F9-4D6A-A47A-AF4F-EED984AE3C8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328928" y="2511123"/>
            <a:ext cx="4420710" cy="2688945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  <a:latin typeface="Trust Sans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 dirty="0"/>
              <a:t>Click to add text </a:t>
            </a:r>
            <a:endParaRPr lang="es-CR" dirty="0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52FB0BBF-334E-02E6-E3B0-595FF2DA84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8928" y="755534"/>
            <a:ext cx="4420710" cy="1520719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3600" b="1" i="0">
                <a:solidFill>
                  <a:srgbClr val="000F9F"/>
                </a:solidFill>
                <a:latin typeface="Trust Sans Bold" pitchFamily="2" charset="77"/>
              </a:defRPr>
            </a:lvl1pPr>
          </a:lstStyle>
          <a:p>
            <a:r>
              <a:rPr lang="es-MX" dirty="0"/>
              <a:t>Click to add title</a:t>
            </a:r>
            <a:endParaRPr lang="es-CR" dirty="0"/>
          </a:p>
        </p:txBody>
      </p:sp>
      <p:sp>
        <p:nvSpPr>
          <p:cNvPr id="7" name="Marcador de contenido 3">
            <a:extLst>
              <a:ext uri="{FF2B5EF4-FFF2-40B4-BE49-F238E27FC236}">
                <a16:creationId xmlns:a16="http://schemas.microsoft.com/office/drawing/2014/main" id="{9719F092-9774-93FA-2C6C-7F477253B249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442363" y="698733"/>
            <a:ext cx="4918364" cy="4444534"/>
          </a:xfrm>
        </p:spPr>
        <p:txBody>
          <a:bodyPr/>
          <a:lstStyle>
            <a:lvl1pPr>
              <a:defRPr>
                <a:latin typeface="Trust Sans" pitchFamily="2" charset="77"/>
              </a:defRPr>
            </a:lvl1pPr>
            <a:lvl2pPr>
              <a:defRPr>
                <a:latin typeface="Trust Sans" pitchFamily="2" charset="77"/>
              </a:defRPr>
            </a:lvl2pPr>
            <a:lvl3pPr>
              <a:defRPr>
                <a:latin typeface="Trust Sans" pitchFamily="2" charset="77"/>
              </a:defRPr>
            </a:lvl3pPr>
            <a:lvl4pPr>
              <a:defRPr>
                <a:latin typeface="Trust Sans" pitchFamily="2" charset="77"/>
              </a:defRPr>
            </a:lvl4pPr>
            <a:lvl5pPr>
              <a:defRPr>
                <a:latin typeface="Trust Sans" pitchFamily="2" charset="77"/>
              </a:defRPr>
            </a:lvl5pPr>
          </a:lstStyle>
          <a:p>
            <a:pPr lvl="0"/>
            <a:r>
              <a:rPr lang="es-MX" dirty="0"/>
              <a:t>Click to add text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1588962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ndo liso + Log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3588C353-EDDC-B884-9CAB-022D5154F4EF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2067983"/>
            <a:ext cx="5181600" cy="3735410"/>
          </a:xfrm>
        </p:spPr>
        <p:txBody>
          <a:bodyPr/>
          <a:lstStyle>
            <a:lvl1pPr>
              <a:defRPr>
                <a:latin typeface="Trust Sans" pitchFamily="2" charset="77"/>
              </a:defRPr>
            </a:lvl1pPr>
            <a:lvl2pPr>
              <a:defRPr>
                <a:latin typeface="Trust Sans" pitchFamily="2" charset="77"/>
              </a:defRPr>
            </a:lvl2pPr>
            <a:lvl3pPr>
              <a:defRPr>
                <a:latin typeface="Trust Sans" pitchFamily="2" charset="77"/>
              </a:defRPr>
            </a:lvl3pPr>
            <a:lvl4pPr>
              <a:defRPr>
                <a:latin typeface="Trust Sans" pitchFamily="2" charset="77"/>
              </a:defRPr>
            </a:lvl4pPr>
            <a:lvl5pPr>
              <a:defRPr>
                <a:latin typeface="Trust Sans" pitchFamily="2" charset="77"/>
              </a:defRPr>
            </a:lvl5pPr>
          </a:lstStyle>
          <a:p>
            <a:pPr lvl="0"/>
            <a:r>
              <a:rPr lang="es-MX" dirty="0"/>
              <a:t>Click to add text</a:t>
            </a:r>
            <a:endParaRPr lang="es-CR" dirty="0"/>
          </a:p>
        </p:txBody>
      </p:sp>
      <p:sp>
        <p:nvSpPr>
          <p:cNvPr id="6" name="Marcador de contenido 3">
            <a:extLst>
              <a:ext uri="{FF2B5EF4-FFF2-40B4-BE49-F238E27FC236}">
                <a16:creationId xmlns:a16="http://schemas.microsoft.com/office/drawing/2014/main" id="{5E2DD159-D272-5B1F-5E0C-14A3DC6252E6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2067983"/>
            <a:ext cx="5181600" cy="3735410"/>
          </a:xfrm>
        </p:spPr>
        <p:txBody>
          <a:bodyPr/>
          <a:lstStyle>
            <a:lvl1pPr>
              <a:defRPr>
                <a:latin typeface="Trust Sans" pitchFamily="2" charset="77"/>
              </a:defRPr>
            </a:lvl1pPr>
            <a:lvl2pPr>
              <a:defRPr>
                <a:latin typeface="Trust Sans" pitchFamily="2" charset="77"/>
              </a:defRPr>
            </a:lvl2pPr>
            <a:lvl3pPr>
              <a:defRPr>
                <a:latin typeface="Trust Sans" pitchFamily="2" charset="77"/>
              </a:defRPr>
            </a:lvl3pPr>
            <a:lvl4pPr>
              <a:defRPr>
                <a:latin typeface="Trust Sans" pitchFamily="2" charset="77"/>
              </a:defRPr>
            </a:lvl4pPr>
            <a:lvl5pPr>
              <a:defRPr>
                <a:latin typeface="Trust Sans" pitchFamily="2" charset="77"/>
              </a:defRPr>
            </a:lvl5pPr>
          </a:lstStyle>
          <a:p>
            <a:pPr lvl="0"/>
            <a:r>
              <a:rPr lang="es-MX" dirty="0"/>
              <a:t>Click to add text</a:t>
            </a:r>
            <a:endParaRPr lang="es-CR" dirty="0"/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7757F612-090F-A7EF-4E70-7AAD35CF72DC}"/>
              </a:ext>
            </a:extLst>
          </p:cNvPr>
          <p:cNvCxnSpPr>
            <a:cxnSpLocks/>
          </p:cNvCxnSpPr>
          <p:nvPr userDrawn="1"/>
        </p:nvCxnSpPr>
        <p:spPr>
          <a:xfrm>
            <a:off x="586394" y="1677007"/>
            <a:ext cx="10192442" cy="0"/>
          </a:xfrm>
          <a:prstGeom prst="line">
            <a:avLst/>
          </a:prstGeom>
          <a:ln w="38100" cap="rnd">
            <a:solidFill>
              <a:srgbClr val="00B2E3"/>
            </a:solidFill>
            <a:beve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ítulo 1">
            <a:extLst>
              <a:ext uri="{FF2B5EF4-FFF2-40B4-BE49-F238E27FC236}">
                <a16:creationId xmlns:a16="http://schemas.microsoft.com/office/drawing/2014/main" id="{FC846CE2-3AED-AB04-9835-976A0147B7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7444" y="585169"/>
            <a:ext cx="9807633" cy="87179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000" b="1" i="0">
                <a:solidFill>
                  <a:srgbClr val="000F9F"/>
                </a:solidFill>
                <a:latin typeface="Trust Sans Bold" pitchFamily="2" charset="77"/>
              </a:defRPr>
            </a:lvl1pPr>
          </a:lstStyle>
          <a:p>
            <a:r>
              <a:rPr lang="es-MX" dirty="0"/>
              <a:t>CLICK TO ADD TITLE</a:t>
            </a:r>
            <a:endParaRPr lang="es-CR" dirty="0"/>
          </a:p>
        </p:txBody>
      </p:sp>
      <p:pic>
        <p:nvPicPr>
          <p:cNvPr id="11" name="Imagen 7">
            <a:extLst>
              <a:ext uri="{FF2B5EF4-FFF2-40B4-BE49-F238E27FC236}">
                <a16:creationId xmlns:a16="http://schemas.microsoft.com/office/drawing/2014/main" id="{A5B6BF07-8364-9FED-F612-95E99DC32A8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86394" y="655266"/>
            <a:ext cx="781050" cy="488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565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ssets (NO USA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0F7BE623-D05C-AB7B-74E9-BF7866F7D4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2183" y="365125"/>
            <a:ext cx="9807633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4000" b="1" i="0">
                <a:solidFill>
                  <a:srgbClr val="000F9F"/>
                </a:solidFill>
                <a:latin typeface="Trust Sans Bold" pitchFamily="2" charset="77"/>
              </a:defRPr>
            </a:lvl1pPr>
          </a:lstStyle>
          <a:p>
            <a:r>
              <a:rPr lang="es-MX" dirty="0"/>
              <a:t>CLICK TO ADD TITLE</a:t>
            </a:r>
            <a:endParaRPr lang="es-CR" dirty="0"/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F3F1B8A1-C662-D115-0579-1F78DFAED100}"/>
              </a:ext>
            </a:extLst>
          </p:cNvPr>
          <p:cNvCxnSpPr>
            <a:cxnSpLocks/>
          </p:cNvCxnSpPr>
          <p:nvPr userDrawn="1"/>
        </p:nvCxnSpPr>
        <p:spPr>
          <a:xfrm>
            <a:off x="999779" y="1677007"/>
            <a:ext cx="10192442" cy="0"/>
          </a:xfrm>
          <a:prstGeom prst="line">
            <a:avLst/>
          </a:prstGeom>
          <a:ln w="38100" cap="rnd">
            <a:solidFill>
              <a:srgbClr val="00B2E3"/>
            </a:solidFill>
            <a:beve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80114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F4E6B-8ED0-1A0E-9981-00C1D28AC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46B6CF-A793-667E-DFBB-6606EFB100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48E7DB-55BF-03D2-747C-3E850277C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C3DDB-3254-4B44-AF1A-1332E3F263AA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6E244A-B1DD-9755-2D40-610B86172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9798C-0384-56F2-CEBE-2C5FA81B9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6D993-70CC-49F7-B403-AE26218914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368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E659041-7ADC-62BC-6910-5620613E9E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40333AB-DD6B-8268-4367-48E8155074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A3ADE5-809A-F847-849A-CF38205A1D8E}" type="datetimeFigureOut">
              <a:rPr lang="es-CR" smtClean="0"/>
              <a:t>13/3/2026</a:t>
            </a:fld>
            <a:endParaRPr lang="es-C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B71165C-2410-72E9-B41A-2B2E95CD3D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356CB7-7D20-A748-9388-BFDA1817F9B8}" type="slidenum">
              <a:rPr lang="es-CR" smtClean="0"/>
              <a:t>‹#›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563156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  <p:sldLayoutId id="2147483651" r:id="rId3"/>
    <p:sldLayoutId id="2147483652" r:id="rId4"/>
    <p:sldLayoutId id="2147483653" r:id="rId5"/>
    <p:sldLayoutId id="2147483659" r:id="rId6"/>
    <p:sldLayoutId id="2147483656" r:id="rId7"/>
    <p:sldLayoutId id="2147483657" r:id="rId8"/>
    <p:sldLayoutId id="2147483660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1007/978-3-031-37865-2" TargetMode="Externa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D761F7-B769-3D43-00ED-0BFDC3AC795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s-CR" sz="5400" dirty="0"/>
              <a:t>Repaso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6633BDD-7A3E-2C4B-BEF9-52FFB37238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46057" y="4055104"/>
            <a:ext cx="7794912" cy="957689"/>
          </a:xfrm>
        </p:spPr>
        <p:txBody>
          <a:bodyPr>
            <a:normAutofit/>
          </a:bodyPr>
          <a:lstStyle/>
          <a:p>
            <a:r>
              <a:rPr lang="es-CR" dirty="0" err="1"/>
              <a:t>Prof</a:t>
            </a:r>
            <a:r>
              <a:rPr lang="es-CR" dirty="0"/>
              <a:t>: Fabián Brenes Trejos</a:t>
            </a:r>
          </a:p>
        </p:txBody>
      </p:sp>
    </p:spTree>
    <p:extLst>
      <p:ext uri="{BB962C8B-B14F-4D97-AF65-F5344CB8AC3E}">
        <p14:creationId xmlns:p14="http://schemas.microsoft.com/office/powerpoint/2010/main" val="3375381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B24B3EE-26A2-A1D5-E455-D72ED1A80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Lo que hemos estudiado hasta ahora….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A3A2B1-139B-0013-2BE0-8B18137E30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67983"/>
            <a:ext cx="10463784" cy="3735410"/>
          </a:xfrm>
        </p:spPr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s-CR" dirty="0"/>
              <a:t>Tipos de datos y variable aleatoria</a:t>
            </a:r>
          </a:p>
          <a:p>
            <a:pPr marL="514350" indent="-514350">
              <a:buFont typeface="+mj-lt"/>
              <a:buAutoNum type="arabicPeriod"/>
            </a:pPr>
            <a:endParaRPr lang="es-CR" dirty="0"/>
          </a:p>
          <a:p>
            <a:pPr marL="514350" indent="-514350">
              <a:buFont typeface="+mj-lt"/>
              <a:buAutoNum type="arabicPeriod"/>
            </a:pPr>
            <a:r>
              <a:rPr lang="es-CR" dirty="0"/>
              <a:t>Distribuciones de probabilidad</a:t>
            </a:r>
          </a:p>
          <a:p>
            <a:pPr marL="971550" lvl="1" indent="-514350">
              <a:buFont typeface="+mj-lt"/>
              <a:buAutoNum type="arabicPeriod"/>
            </a:pPr>
            <a:r>
              <a:rPr lang="es-CR" dirty="0"/>
              <a:t>Valor esperado, varianza y desviación estándar</a:t>
            </a:r>
          </a:p>
          <a:p>
            <a:pPr marL="971550" lvl="1" indent="-514350">
              <a:buFont typeface="+mj-lt"/>
              <a:buAutoNum type="arabicPeriod"/>
            </a:pPr>
            <a:r>
              <a:rPr lang="es-CR" dirty="0"/>
              <a:t>Función de probabilidad</a:t>
            </a:r>
          </a:p>
          <a:p>
            <a:pPr marL="514350" indent="-514350">
              <a:buFont typeface="+mj-lt"/>
              <a:buAutoNum type="arabicPeriod"/>
            </a:pPr>
            <a:endParaRPr lang="es-CR" dirty="0"/>
          </a:p>
          <a:p>
            <a:pPr marL="514350" indent="-514350">
              <a:buFont typeface="+mj-lt"/>
              <a:buAutoNum type="arabicPeriod"/>
            </a:pPr>
            <a:r>
              <a:rPr lang="es-CR" dirty="0"/>
              <a:t>Medidas de tendencia central, dispersión y asociación</a:t>
            </a:r>
          </a:p>
          <a:p>
            <a:pPr marL="514350" indent="-514350">
              <a:buFont typeface="+mj-lt"/>
              <a:buAutoNum type="arabicPeriod"/>
            </a:pPr>
            <a:r>
              <a:rPr lang="es-CR" dirty="0"/>
              <a:t>Pruebas de hipótesis de una media</a:t>
            </a:r>
          </a:p>
          <a:p>
            <a:pPr marL="514350" indent="-514350">
              <a:buFont typeface="+mj-lt"/>
              <a:buAutoNum type="arabicPeriod"/>
            </a:pPr>
            <a:endParaRPr lang="es-CR" dirty="0"/>
          </a:p>
          <a:p>
            <a:pPr marL="514350" indent="-514350">
              <a:buFont typeface="+mj-lt"/>
              <a:buAutoNum type="arabicPeriod"/>
            </a:pPr>
            <a:endParaRPr lang="es-CR" dirty="0"/>
          </a:p>
          <a:p>
            <a:pPr marL="971550" lvl="1" indent="-514350">
              <a:buFont typeface="+mj-lt"/>
              <a:buAutoNum type="arabicPeriod"/>
            </a:pP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23208040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4E7CEE2-28E5-9CD2-4A2A-FFE5C3A14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8928" y="755534"/>
            <a:ext cx="8948928" cy="4170034"/>
          </a:xfrm>
        </p:spPr>
        <p:txBody>
          <a:bodyPr anchor="ctr">
            <a:normAutofit fontScale="90000"/>
          </a:bodyPr>
          <a:lstStyle/>
          <a:p>
            <a:r>
              <a:rPr lang="es-CR" sz="8000" dirty="0"/>
              <a:t>¿Qué utilidad le ven a estos temas para el análisis económico?</a:t>
            </a:r>
          </a:p>
        </p:txBody>
      </p:sp>
    </p:spTree>
    <p:extLst>
      <p:ext uri="{BB962C8B-B14F-4D97-AF65-F5344CB8AC3E}">
        <p14:creationId xmlns:p14="http://schemas.microsoft.com/office/powerpoint/2010/main" val="21069384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6D68318-9F02-0B11-2934-C856E5761E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Distribuciones</a:t>
            </a:r>
            <a:r>
              <a:rPr lang="en-US" dirty="0"/>
              <a:t> de </a:t>
            </a:r>
            <a:r>
              <a:rPr lang="en-US" dirty="0" err="1"/>
              <a:t>Probabilidad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13493674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AAF3C7F-DEF5-86C7-991B-5C6DD9C28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Distribuciones de probabilidad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Content Placeholder 7">
                <a:extLst>
                  <a:ext uri="{FF2B5EF4-FFF2-40B4-BE49-F238E27FC236}">
                    <a16:creationId xmlns:a16="http://schemas.microsoft.com/office/drawing/2014/main" id="{781D6D27-5F58-89F3-F9DF-62AF2DFF59A4}"/>
                  </a:ext>
                </a:extLst>
              </p:cNvPr>
              <p:cNvGraphicFramePr>
                <a:graphicFrameLocks noGrp="1"/>
              </p:cNvGraphicFramePr>
              <p:nvPr>
                <p:ph sz="half" idx="4294967295"/>
                <p:extLst>
                  <p:ext uri="{D42A27DB-BD31-4B8C-83A1-F6EECF244321}">
                    <p14:modId xmlns:p14="http://schemas.microsoft.com/office/powerpoint/2010/main" val="248364404"/>
                  </p:ext>
                </p:extLst>
              </p:nvPr>
            </p:nvGraphicFramePr>
            <p:xfrm>
              <a:off x="207264" y="1886268"/>
              <a:ext cx="11740896" cy="483748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99616">
                      <a:extLst>
                        <a:ext uri="{9D8B030D-6E8A-4147-A177-3AD203B41FA5}">
                          <a16:colId xmlns:a16="http://schemas.microsoft.com/office/drawing/2014/main" val="3397959675"/>
                        </a:ext>
                      </a:extLst>
                    </a:gridCol>
                    <a:gridCol w="3523488">
                      <a:extLst>
                        <a:ext uri="{9D8B030D-6E8A-4147-A177-3AD203B41FA5}">
                          <a16:colId xmlns:a16="http://schemas.microsoft.com/office/drawing/2014/main" val="2592723325"/>
                        </a:ext>
                      </a:extLst>
                    </a:gridCol>
                    <a:gridCol w="3133344">
                      <a:extLst>
                        <a:ext uri="{9D8B030D-6E8A-4147-A177-3AD203B41FA5}">
                          <a16:colId xmlns:a16="http://schemas.microsoft.com/office/drawing/2014/main" val="2029523509"/>
                        </a:ext>
                      </a:extLst>
                    </a:gridCol>
                    <a:gridCol w="3584448">
                      <a:extLst>
                        <a:ext uri="{9D8B030D-6E8A-4147-A177-3AD203B41FA5}">
                          <a16:colId xmlns:a16="http://schemas.microsoft.com/office/drawing/2014/main" val="2674808750"/>
                        </a:ext>
                      </a:extLst>
                    </a:gridCol>
                  </a:tblGrid>
                  <a:tr h="733505">
                    <a:tc>
                      <a:txBody>
                        <a:bodyPr/>
                        <a:lstStyle/>
                        <a:p>
                          <a:endParaRPr lang="es-C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R" dirty="0"/>
                            <a:t>Distribución Binomial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R" dirty="0"/>
                            <a:t>Distribución de Poisson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R" dirty="0"/>
                            <a:t>Distribución Normal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2776831"/>
                      </a:ext>
                    </a:extLst>
                  </a:tr>
                  <a:tr h="1712571">
                    <a:tc>
                      <a:txBody>
                        <a:bodyPr/>
                        <a:lstStyle/>
                        <a:p>
                          <a:r>
                            <a:rPr lang="es-CR" b="1" i="1" dirty="0" err="1"/>
                            <a:t>Pmf</a:t>
                          </a:r>
                          <a:endParaRPr lang="es-C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CR" b="1" i="1" smtClean="0"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  <m:d>
                                  <m:dPr>
                                    <m:ctrlPr>
                                      <a:rPr lang="es-CR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CR" b="1" i="1" smtClean="0">
                                        <a:latin typeface="Cambria Math" panose="02040503050406030204" pitchFamily="18" charset="0"/>
                                      </a:rPr>
                                      <m:t>𝑿</m:t>
                                    </m:r>
                                    <m:r>
                                      <a:rPr lang="es-CR" b="1" i="1" smtClean="0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es-CR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</m:d>
                                <m:r>
                                  <a:rPr lang="es-CR" b="1" i="1" smtClean="0">
                                    <a:latin typeface="Cambria Math" panose="02040503050406030204" pitchFamily="18" charset="0"/>
                                  </a:rPr>
                                  <m:t>= </m:t>
                                </m:r>
                                <m:d>
                                  <m:dPr>
                                    <m:ctrlPr>
                                      <a:rPr lang="es-CR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s-CR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s-CR" b="1" i="1" smtClean="0">
                                            <a:latin typeface="Cambria Math" panose="02040503050406030204" pitchFamily="18" charset="0"/>
                                          </a:rPr>
                                          <m:t>𝒏</m:t>
                                        </m:r>
                                      </m:num>
                                      <m:den>
                                        <m:r>
                                          <a:rPr lang="es-CR" b="1" i="1" smtClean="0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den>
                                    </m:f>
                                  </m:e>
                                </m:d>
                                <m:sSup>
                                  <m:sSupPr>
                                    <m:ctrlPr>
                                      <a:rPr lang="es-CR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R" b="1" i="1" smtClean="0">
                                        <a:latin typeface="Cambria Math" panose="02040503050406030204" pitchFamily="18" charset="0"/>
                                      </a:rPr>
                                      <m:t>𝒑</m:t>
                                    </m:r>
                                  </m:e>
                                  <m:sup>
                                    <m:r>
                                      <a:rPr lang="es-CR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sup>
                                </m:sSup>
                                <m:sSup>
                                  <m:sSupPr>
                                    <m:ctrlPr>
                                      <a:rPr lang="es-CR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R" b="1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R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R" b="1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s-CR" b="1" i="1" smtClean="0">
                                        <a:latin typeface="Cambria Math" panose="02040503050406030204" pitchFamily="18" charset="0"/>
                                      </a:rPr>
                                      <m:t>𝒑</m:t>
                                    </m:r>
                                    <m:r>
                                      <a:rPr lang="es-CR" b="1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s-CR" b="1" i="1" smtClean="0"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  <m:r>
                                      <a:rPr lang="es-CR" b="1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s-CR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sup>
                                </m:sSup>
                                <m:r>
                                  <a:rPr lang="es-CR" b="1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s-CR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s-CR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s-CR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s-CR" b="1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s-CR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s-CR" b="1" i="1" smtClean="0">
                                    <a:latin typeface="Cambria Math" panose="02040503050406030204" pitchFamily="18" charset="0"/>
                                  </a:rPr>
                                  <m:t>, …,</m:t>
                                </m:r>
                                <m:r>
                                  <a:rPr lang="es-CR" b="1" i="1" smtClean="0"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  <m:r>
                                  <a:rPr lang="es-CR" b="1" i="1" smtClean="0">
                                    <a:latin typeface="Cambria Math" panose="02040503050406030204" pitchFamily="18" charset="0"/>
                                  </a:rPr>
                                  <m:t> , </m:t>
                                </m:r>
                              </m:oMath>
                            </m:oMathPara>
                          </a14:m>
                          <a:endParaRPr lang="en-US" b="1" i="1" dirty="0"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CR" b="1" i="1" smtClean="0">
                                    <a:latin typeface="Cambria Math" panose="02040503050406030204" pitchFamily="18" charset="0"/>
                                  </a:rPr>
                                  <m:t>𝒆𝒏</m:t>
                                </m:r>
                                <m:r>
                                  <a:rPr lang="es-CR" b="1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s-CR" b="1" i="1" smtClean="0">
                                    <a:latin typeface="Cambria Math" panose="02040503050406030204" pitchFamily="18" charset="0"/>
                                  </a:rPr>
                                  <m:t>𝒅𝒐𝒏𝒅𝒆</m:t>
                                </m:r>
                                <m:r>
                                  <a:rPr lang="es-CR" b="1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d>
                                  <m:dPr>
                                    <m:ctrlPr>
                                      <a:rPr lang="es-CR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s-CR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s-CR" b="1" i="1">
                                            <a:latin typeface="Cambria Math" panose="02040503050406030204" pitchFamily="18" charset="0"/>
                                          </a:rPr>
                                          <m:t>𝒏</m:t>
                                        </m:r>
                                      </m:num>
                                      <m:den>
                                        <m:r>
                                          <a:rPr lang="es-CR" b="1" i="1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s-CR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s-CR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CR" b="1" i="1" smtClean="0"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  <m:r>
                                      <a:rPr lang="es-CR" b="1" i="1" smtClean="0">
                                        <a:latin typeface="Cambria Math" panose="02040503050406030204" pitchFamily="18" charset="0"/>
                                      </a:rPr>
                                      <m:t>!</m:t>
                                    </m:r>
                                  </m:num>
                                  <m:den>
                                    <m:r>
                                      <a:rPr lang="es-CR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  <m:r>
                                      <a:rPr lang="es-CR" b="1" i="1" smtClean="0">
                                        <a:latin typeface="Cambria Math" panose="02040503050406030204" pitchFamily="18" charset="0"/>
                                      </a:rPr>
                                      <m:t>!</m:t>
                                    </m:r>
                                    <m:d>
                                      <m:dPr>
                                        <m:ctrlPr>
                                          <a:rPr lang="es-CR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s-CR" b="1" i="1" smtClean="0">
                                            <a:latin typeface="Cambria Math" panose="02040503050406030204" pitchFamily="18" charset="0"/>
                                          </a:rPr>
                                          <m:t>𝒏</m:t>
                                        </m:r>
                                        <m:r>
                                          <a:rPr lang="es-CR" b="1" i="1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s-CR" b="1" i="1" smtClean="0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</m:d>
                                    <m:r>
                                      <a:rPr lang="es-CR" b="1" i="1" smtClean="0">
                                        <a:latin typeface="Cambria Math" panose="02040503050406030204" pitchFamily="18" charset="0"/>
                                      </a:rPr>
                                      <m:t>!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C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CR" sz="1600" b="1" i="1" smtClean="0"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  <m:d>
                                  <m:dPr>
                                    <m:ctrlPr>
                                      <a:rPr lang="es-CR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CR" sz="1600" b="1" i="1" smtClean="0">
                                        <a:latin typeface="Cambria Math" panose="02040503050406030204" pitchFamily="18" charset="0"/>
                                      </a:rPr>
                                      <m:t>𝑿</m:t>
                                    </m:r>
                                    <m:r>
                                      <a:rPr lang="es-CR" sz="1600" b="1" i="1" smtClean="0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es-CR" sz="16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</m:d>
                                <m:r>
                                  <a:rPr lang="es-CR" sz="16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s-CR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R" sz="1600" b="1" i="1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p>
                                    <m:r>
                                      <a:rPr lang="es-CR" sz="1600" b="1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s-CR" sz="1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𝝀</m:t>
                                    </m:r>
                                  </m:sup>
                                </m:sSup>
                                <m:f>
                                  <m:fPr>
                                    <m:ctrlPr>
                                      <a:rPr lang="es-CR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s-CR" sz="16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s-CR" sz="1600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𝝀</m:t>
                                        </m:r>
                                      </m:e>
                                      <m:sup>
                                        <m:r>
                                          <a:rPr lang="es-CR" sz="1600" b="1" i="1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s-CR" sz="16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  <m:r>
                                      <a:rPr lang="es-CR" sz="1600" b="1" i="1" smtClean="0">
                                        <a:latin typeface="Cambria Math" panose="02040503050406030204" pitchFamily="18" charset="0"/>
                                      </a:rPr>
                                      <m:t>!</m:t>
                                    </m:r>
                                  </m:den>
                                </m:f>
                                <m:r>
                                  <a:rPr lang="es-CR" sz="1600" b="1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s-CR" sz="1600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s-CR" sz="16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s-CR" sz="1600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s-CR" sz="1600" b="1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s-CR" sz="16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s-CR" sz="1600" b="1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s-CR" sz="1600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lang="es-CR" sz="1600" b="1" i="1" dirty="0">
                            <a:latin typeface="Cambria Math" panose="020405030504060302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s-CR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CR" sz="14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es-CR" sz="1400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s-CR" sz="1400" b="1" i="1" smtClean="0"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  <m:r>
                                          <a:rPr lang="es-CR" sz="1400" b="1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𝝅</m:t>
                                        </m:r>
                                        <m:sSup>
                                          <m:sSupPr>
                                            <m:ctrlPr>
                                              <a:rPr lang="es-CR" sz="1400" b="1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s-CR" sz="1400" b="1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𝝈</m:t>
                                            </m:r>
                                          </m:e>
                                          <m:sup>
                                            <m:r>
                                              <a:rPr lang="es-CR" sz="1400" b="1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𝟐</m:t>
                                            </m:r>
                                          </m:sup>
                                        </m:sSup>
                                      </m:e>
                                    </m:rad>
                                  </m:den>
                                </m:f>
                                <m:r>
                                  <a:rPr lang="es-CR" sz="1400" b="1" i="1" smtClean="0">
                                    <a:latin typeface="Cambria Math" panose="02040503050406030204" pitchFamily="18" charset="0"/>
                                  </a:rPr>
                                  <m:t>𝒆𝒙𝒑</m:t>
                                </m:r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s-CR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CR" sz="1400" b="1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f>
                                      <m:fPr>
                                        <m:ctrlPr>
                                          <a:rPr lang="es-CR" sz="1400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p>
                                          <m:sSupPr>
                                            <m:ctrlPr>
                                              <a:rPr lang="es-CR" sz="1400" b="1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s-CR" sz="1400" b="1" i="1" smtClean="0">
                                                <a:latin typeface="Cambria Math" panose="02040503050406030204" pitchFamily="18" charset="0"/>
                                              </a:rPr>
                                              <m:t>(</m:t>
                                            </m:r>
                                            <m:r>
                                              <a:rPr lang="es-CR" sz="1400" b="1" i="1" smtClean="0">
                                                <a:latin typeface="Cambria Math" panose="02040503050406030204" pitchFamily="18" charset="0"/>
                                              </a:rPr>
                                              <m:t>𝒙</m:t>
                                            </m:r>
                                            <m:r>
                                              <a:rPr lang="es-CR" sz="1400" b="1" i="1" smtClean="0">
                                                <a:latin typeface="Cambria Math" panose="02040503050406030204" pitchFamily="18" charset="0"/>
                                              </a:rPr>
                                              <m:t>− </m:t>
                                            </m:r>
                                            <m:r>
                                              <a:rPr lang="es-CR" sz="1400" b="1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𝝁</m:t>
                                            </m:r>
                                            <m:r>
                                              <a:rPr lang="es-CR" sz="1400" b="1" i="1" smtClean="0">
                                                <a:latin typeface="Cambria Math" panose="02040503050406030204" pitchFamily="18" charset="0"/>
                                              </a:rPr>
                                              <m:t>)</m:t>
                                            </m:r>
                                          </m:e>
                                          <m:sup>
                                            <m:r>
                                              <a:rPr lang="es-CR" sz="1400" b="1" i="1" smtClean="0">
                                                <a:latin typeface="Cambria Math" panose="02040503050406030204" pitchFamily="18" charset="0"/>
                                              </a:rPr>
                                              <m:t>𝟐</m:t>
                                            </m:r>
                                          </m:sup>
                                        </m:sSup>
                                      </m:num>
                                      <m:den>
                                        <m:r>
                                          <a:rPr lang="es-CR" sz="1400" b="1" i="1" smtClean="0"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  <m:sSup>
                                          <m:sSupPr>
                                            <m:ctrlPr>
                                              <a:rPr lang="es-CR" sz="1400" b="1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s-CR" sz="1400" b="1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𝝈</m:t>
                                            </m:r>
                                          </m:e>
                                          <m:sup>
                                            <m:r>
                                              <a:rPr lang="es-CR" sz="1400" b="1" i="1" smtClean="0">
                                                <a:latin typeface="Cambria Math" panose="02040503050406030204" pitchFamily="18" charset="0"/>
                                              </a:rPr>
                                              <m:t>𝟐</m:t>
                                            </m:r>
                                          </m:sup>
                                        </m:sSup>
                                      </m:den>
                                    </m:f>
                                  </m:e>
                                </m:d>
                                <m:r>
                                  <a:rPr lang="es-CR" sz="1400" b="1" i="1" smtClean="0">
                                    <a:latin typeface="Cambria Math" panose="02040503050406030204" pitchFamily="18" charset="0"/>
                                  </a:rPr>
                                  <m:t>, −</m:t>
                                </m:r>
                                <m:r>
                                  <a:rPr lang="es-CR" sz="1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∞&lt;</m:t>
                                </m:r>
                                <m:r>
                                  <a:rPr lang="es-CR" sz="1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s-CR" sz="1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&lt;∞</m:t>
                                </m:r>
                              </m:oMath>
                            </m:oMathPara>
                          </a14:m>
                          <a:endParaRPr lang="es-CR" sz="1400" b="1" i="1" dirty="0">
                            <a:latin typeface="Cambria Math" panose="02040503050406030204" pitchFamily="18" charset="0"/>
                          </a:endParaRPr>
                        </a:p>
                        <a:p>
                          <a:endParaRPr lang="es-CR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37918875"/>
                      </a:ext>
                    </a:extLst>
                  </a:tr>
                  <a:tr h="122124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CR" b="1" i="1" dirty="0"/>
                            <a:t>Media, varianza y desviación estándar</a:t>
                          </a:r>
                          <a:endParaRPr lang="es-CR" dirty="0"/>
                        </a:p>
                        <a:p>
                          <a:endParaRPr lang="es-C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es-CR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CR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𝝁</m:t>
                                </m:r>
                                <m:r>
                                  <a:rPr lang="es-C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s-C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𝐸</m:t>
                                </m:r>
                                <m:d>
                                  <m:dPr>
                                    <m:ctrlPr>
                                      <a:rPr lang="es-C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C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d>
                                <m:r>
                                  <a:rPr lang="es-C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s-CR" b="0" i="1" smtClean="0">
                                    <a:latin typeface="Cambria Math" panose="02040503050406030204" pitchFamily="18" charset="0"/>
                                  </a:rPr>
                                  <m:t>𝑛𝑝</m:t>
                                </m:r>
                              </m:oMath>
                            </m:oMathPara>
                          </a14:m>
                          <a:endParaRPr lang="es-CR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 algn="l"/>
                          <a:r>
                            <a:rPr lang="es-CR" b="1" dirty="0">
                              <a:ea typeface="Cambria Math" panose="02040503050406030204" pitchFamily="18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s-CR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CR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𝝈</m:t>
                                  </m:r>
                                </m:e>
                                <m:sup>
                                  <m:r>
                                    <a:rPr lang="es-CR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es-C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s-C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𝑛𝑝𝑞</m:t>
                              </m:r>
                            </m:oMath>
                          </a14:m>
                          <a:r>
                            <a:rPr lang="es-CR" b="0" dirty="0"/>
                            <a:t>     </a:t>
                          </a:r>
                        </a:p>
                        <a:p>
                          <a:pPr algn="l"/>
                          <a:r>
                            <a:rPr lang="es-CR" dirty="0">
                              <a:ea typeface="Cambria Math" panose="02040503050406030204" pitchFamily="18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s-CR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𝝈</m:t>
                              </m:r>
                              <m:r>
                                <a:rPr lang="es-CR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ad>
                                <m:radPr>
                                  <m:degHide m:val="on"/>
                                  <m:ctrlPr>
                                    <a:rPr lang="es-CR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s-C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𝑝𝑞</m:t>
                                  </m:r>
                                </m:e>
                              </m:rad>
                            </m:oMath>
                          </a14:m>
                          <a:endParaRPr lang="es-CR" dirty="0"/>
                        </a:p>
                        <a:p>
                          <a:endParaRPr lang="es-C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CR" b="1" dirty="0">
                              <a:ea typeface="Cambria Math" panose="02040503050406030204" pitchFamily="18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s-CR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𝝁</m:t>
                              </m:r>
                              <m:r>
                                <a:rPr lang="es-C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s-C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𝐸</m:t>
                              </m:r>
                              <m:d>
                                <m:dPr>
                                  <m:ctrlPr>
                                    <a:rPr lang="es-C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C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d>
                              <m:r>
                                <a:rPr lang="es-C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s-C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oMath>
                          </a14:m>
                          <a:endParaRPr lang="es-CR" b="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algn="l"/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s-CR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CR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𝝈</m:t>
                                  </m:r>
                                </m:e>
                                <m:sup>
                                  <m:r>
                                    <a:rPr lang="es-CR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es-C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s-C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oMath>
                          </a14:m>
                          <a:r>
                            <a:rPr lang="es-CR" b="0" dirty="0"/>
                            <a:t> </a:t>
                          </a:r>
                        </a:p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CR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𝝈</m:t>
                                </m:r>
                                <m:r>
                                  <a:rPr lang="es-CR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 </m:t>
                                </m:r>
                                <m:r>
                                  <a:rPr lang="es-C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𝜆</m:t>
                                </m:r>
                              </m:oMath>
                            </m:oMathPara>
                          </a14:m>
                          <a:endParaRPr lang="es-C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just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CR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𝑬</m:t>
                                </m:r>
                                <m:d>
                                  <m:dPr>
                                    <m:ctrlPr>
                                      <a:rPr lang="es-CR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CR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𝑿</m:t>
                                    </m:r>
                                  </m:e>
                                </m:d>
                                <m:r>
                                  <a:rPr lang="es-C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s-C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𝜇</m:t>
                                </m:r>
                              </m:oMath>
                            </m:oMathPara>
                          </a14:m>
                          <a:endParaRPr lang="es-CR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 algn="just"/>
                          <a:r>
                            <a:rPr lang="es-CR" b="1" dirty="0">
                              <a:ea typeface="Cambria Math" panose="02040503050406030204" pitchFamily="18" charset="0"/>
                            </a:rPr>
                            <a:t>                  </a:t>
                          </a:r>
                          <a14:m>
                            <m:oMath xmlns:m="http://schemas.openxmlformats.org/officeDocument/2006/math">
                              <m:r>
                                <a:rPr lang="es-CR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𝑽𝒂𝒓</m:t>
                              </m:r>
                              <m:r>
                                <a:rPr lang="es-CR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s-CR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s-CR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s-C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es-C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C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s-C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endParaRPr lang="es-CR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43576490"/>
                      </a:ext>
                    </a:extLst>
                  </a:tr>
                  <a:tr h="733505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CR" sz="1800" b="1" i="1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Ejemplos en variables económicas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CR" dirty="0"/>
                            <a:t>- Créditos en mora de un banco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CR" dirty="0"/>
                            <a:t>- Clientes que ingresan en una tienda en un determinado tiempo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CR" dirty="0"/>
                            <a:t>- Inflación, tipo de cambio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2844013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Content Placeholder 7">
                <a:extLst>
                  <a:ext uri="{FF2B5EF4-FFF2-40B4-BE49-F238E27FC236}">
                    <a16:creationId xmlns:a16="http://schemas.microsoft.com/office/drawing/2014/main" id="{781D6D27-5F58-89F3-F9DF-62AF2DFF59A4}"/>
                  </a:ext>
                </a:extLst>
              </p:cNvPr>
              <p:cNvGraphicFramePr>
                <a:graphicFrameLocks noGrp="1"/>
              </p:cNvGraphicFramePr>
              <p:nvPr>
                <p:ph sz="half" idx="4294967295"/>
                <p:extLst>
                  <p:ext uri="{D42A27DB-BD31-4B8C-83A1-F6EECF244321}">
                    <p14:modId xmlns:p14="http://schemas.microsoft.com/office/powerpoint/2010/main" val="248364404"/>
                  </p:ext>
                </p:extLst>
              </p:nvPr>
            </p:nvGraphicFramePr>
            <p:xfrm>
              <a:off x="207264" y="1886268"/>
              <a:ext cx="11740896" cy="483748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99616">
                      <a:extLst>
                        <a:ext uri="{9D8B030D-6E8A-4147-A177-3AD203B41FA5}">
                          <a16:colId xmlns:a16="http://schemas.microsoft.com/office/drawing/2014/main" val="3397959675"/>
                        </a:ext>
                      </a:extLst>
                    </a:gridCol>
                    <a:gridCol w="3523488">
                      <a:extLst>
                        <a:ext uri="{9D8B030D-6E8A-4147-A177-3AD203B41FA5}">
                          <a16:colId xmlns:a16="http://schemas.microsoft.com/office/drawing/2014/main" val="2592723325"/>
                        </a:ext>
                      </a:extLst>
                    </a:gridCol>
                    <a:gridCol w="3133344">
                      <a:extLst>
                        <a:ext uri="{9D8B030D-6E8A-4147-A177-3AD203B41FA5}">
                          <a16:colId xmlns:a16="http://schemas.microsoft.com/office/drawing/2014/main" val="2029523509"/>
                        </a:ext>
                      </a:extLst>
                    </a:gridCol>
                    <a:gridCol w="3584448">
                      <a:extLst>
                        <a:ext uri="{9D8B030D-6E8A-4147-A177-3AD203B41FA5}">
                          <a16:colId xmlns:a16="http://schemas.microsoft.com/office/drawing/2014/main" val="2674808750"/>
                        </a:ext>
                      </a:extLst>
                    </a:gridCol>
                  </a:tblGrid>
                  <a:tr h="733505">
                    <a:tc>
                      <a:txBody>
                        <a:bodyPr/>
                        <a:lstStyle/>
                        <a:p>
                          <a:endParaRPr lang="es-C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R" dirty="0"/>
                            <a:t>Distribución Binomial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R" dirty="0"/>
                            <a:t>Distribución de Poisson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R" dirty="0"/>
                            <a:t>Distribución Normal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2776831"/>
                      </a:ext>
                    </a:extLst>
                  </a:tr>
                  <a:tr h="1712571">
                    <a:tc>
                      <a:txBody>
                        <a:bodyPr/>
                        <a:lstStyle/>
                        <a:p>
                          <a:r>
                            <a:rPr lang="es-CR" b="1" i="1" dirty="0" err="1"/>
                            <a:t>Pmf</a:t>
                          </a:r>
                          <a:endParaRPr lang="es-C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2907" t="-43060" r="-191522" b="-1455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60700" t="-43060" r="-115370" b="-1455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27891" t="-43060" r="-850" b="-1455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37918875"/>
                      </a:ext>
                    </a:extLst>
                  </a:tr>
                  <a:tr h="147701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CR" b="1" i="1" dirty="0"/>
                            <a:t>Media, varianza y desviación estándar</a:t>
                          </a:r>
                          <a:endParaRPr lang="es-CR" dirty="0"/>
                        </a:p>
                        <a:p>
                          <a:endParaRPr lang="es-C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2907" t="-165432" r="-191522" b="-683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60700" t="-165432" r="-115370" b="-683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27891" t="-165432" r="-850" b="-683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43576490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CR" sz="1800" b="1" i="1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Ejemplos en variables económicas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CR" dirty="0"/>
                            <a:t>- Créditos en mora de un banco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CR" dirty="0"/>
                            <a:t>- Clientes que ingresan en una tienda en un determinado tiempo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CR" dirty="0"/>
                            <a:t>- Inflación, tipo de cambio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2844013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583926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8409D76-B623-145E-9CC0-46BF243A41C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 err="1"/>
              <a:t>Medidas</a:t>
            </a:r>
            <a:r>
              <a:rPr lang="en-US" dirty="0"/>
              <a:t> de </a:t>
            </a:r>
            <a:r>
              <a:rPr lang="en-US" dirty="0" err="1"/>
              <a:t>tendencia</a:t>
            </a:r>
            <a:r>
              <a:rPr lang="en-US" dirty="0"/>
              <a:t> Central, dispersion </a:t>
            </a:r>
            <a:r>
              <a:rPr lang="en-US" dirty="0" err="1"/>
              <a:t>asociación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27833801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9BC914B-1D8C-FB87-CB7E-8A5518BEA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CR" sz="3200" dirty="0"/>
              <a:t>¿Para qué se puede emplear las estadísticas descriptivas en el estudio de variables económicas?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65FB99-5F3E-4EA6-149B-862F8A4A06B7}"/>
              </a:ext>
            </a:extLst>
          </p:cNvPr>
          <p:cNvSpPr txBox="1"/>
          <p:nvPr/>
        </p:nvSpPr>
        <p:spPr>
          <a:xfrm>
            <a:off x="1011936" y="2340864"/>
            <a:ext cx="2804160" cy="2308324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CR" b="1" dirty="0"/>
              <a:t>Medidas de Tendencia Central:</a:t>
            </a:r>
          </a:p>
          <a:p>
            <a:endParaRPr lang="es-C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R" dirty="0"/>
              <a:t>Primer acercamiento a una serie económica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R" dirty="0"/>
              <a:t>Resumir en un valor una variable de interés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R" dirty="0"/>
              <a:t>Análisis exploratorio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071BB5-E50D-D64C-950D-D91A78D8444C}"/>
              </a:ext>
            </a:extLst>
          </p:cNvPr>
          <p:cNvSpPr txBox="1"/>
          <p:nvPr/>
        </p:nvSpPr>
        <p:spPr>
          <a:xfrm>
            <a:off x="4785360" y="2340864"/>
            <a:ext cx="2804160" cy="2308324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CR" b="1" dirty="0"/>
              <a:t>Medidas de dispersión:</a:t>
            </a:r>
          </a:p>
          <a:p>
            <a:endParaRPr lang="es-C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R" dirty="0"/>
              <a:t>Conocer variabilidad de la serie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R" dirty="0"/>
              <a:t>Identificar potenciales valores extremos (</a:t>
            </a:r>
            <a:r>
              <a:rPr lang="es-CR" dirty="0" err="1"/>
              <a:t>outliers</a:t>
            </a:r>
            <a:r>
              <a:rPr lang="es-CR" dirty="0"/>
              <a:t>)</a:t>
            </a:r>
          </a:p>
          <a:p>
            <a:endParaRPr lang="es-CR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589295-0901-F17E-C13A-DF7957033660}"/>
              </a:ext>
            </a:extLst>
          </p:cNvPr>
          <p:cNvSpPr txBox="1"/>
          <p:nvPr/>
        </p:nvSpPr>
        <p:spPr>
          <a:xfrm>
            <a:off x="8827008" y="2340864"/>
            <a:ext cx="2804160" cy="2031325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CR" b="1" dirty="0"/>
              <a:t>Asociación:</a:t>
            </a:r>
          </a:p>
          <a:p>
            <a:endParaRPr lang="es-C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R" dirty="0"/>
              <a:t>Identificar si existe asociación lineal entre variables</a:t>
            </a:r>
            <a:r>
              <a:rPr lang="es-CR" dirty="0">
                <a:solidFill>
                  <a:srgbClr val="FF0000"/>
                </a:solidFill>
              </a:rPr>
              <a:t> </a:t>
            </a:r>
            <a:r>
              <a:rPr lang="es-CR" b="1" dirty="0">
                <a:solidFill>
                  <a:srgbClr val="FF0000"/>
                </a:solidFill>
                <a:highlight>
                  <a:srgbClr val="FFFF00"/>
                </a:highlight>
              </a:rPr>
              <a:t>(NUNCA PARA INFERIR CAUSALIDAD!!)</a:t>
            </a:r>
          </a:p>
          <a:p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4012404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D7B7364-81FD-571C-FB11-19C1F2E7A5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s-CR" sz="5400" dirty="0"/>
              <a:t>Pruebas de Hipótesis e intervalos de confianza</a:t>
            </a:r>
          </a:p>
        </p:txBody>
      </p:sp>
    </p:spTree>
    <p:extLst>
      <p:ext uri="{BB962C8B-B14F-4D97-AF65-F5344CB8AC3E}">
        <p14:creationId xmlns:p14="http://schemas.microsoft.com/office/powerpoint/2010/main" val="9164616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FE3029-1B92-96D2-E45E-53B4AE621D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67983"/>
            <a:ext cx="10463784" cy="3735410"/>
          </a:xfrm>
        </p:spPr>
        <p:txBody>
          <a:bodyPr>
            <a:normAutofit/>
          </a:bodyPr>
          <a:lstStyle/>
          <a:p>
            <a:r>
              <a:rPr lang="es-CR" sz="4800" dirty="0"/>
              <a:t>Probar una hipótesis basada en evidencia empírica, con respaldo estadístico.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DC5E4A1-1694-57D2-3B16-DF3E6BBE1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¿Para qué sirve? 	</a:t>
            </a:r>
          </a:p>
        </p:txBody>
      </p:sp>
    </p:spTree>
    <p:extLst>
      <p:ext uri="{BB962C8B-B14F-4D97-AF65-F5344CB8AC3E}">
        <p14:creationId xmlns:p14="http://schemas.microsoft.com/office/powerpoint/2010/main" val="10068104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B9403-50B0-4E6E-94FA-3860B9733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Error tipo I y error tipo II</a:t>
            </a:r>
          </a:p>
        </p:txBody>
      </p:sp>
      <p:sp>
        <p:nvSpPr>
          <p:cNvPr id="5" name="Callout: Line with Border and Accent Bar 4">
            <a:extLst>
              <a:ext uri="{FF2B5EF4-FFF2-40B4-BE49-F238E27FC236}">
                <a16:creationId xmlns:a16="http://schemas.microsoft.com/office/drawing/2014/main" id="{76837686-C68E-48B6-6E76-D77CD000C482}"/>
              </a:ext>
            </a:extLst>
          </p:cNvPr>
          <p:cNvSpPr/>
          <p:nvPr/>
        </p:nvSpPr>
        <p:spPr>
          <a:xfrm>
            <a:off x="10326624" y="2328672"/>
            <a:ext cx="1560576" cy="1325562"/>
          </a:xfrm>
          <a:prstGeom prst="accentBorderCallout1">
            <a:avLst>
              <a:gd name="adj1" fmla="val 18750"/>
              <a:gd name="adj2" fmla="val -8333"/>
              <a:gd name="adj3" fmla="val 53635"/>
              <a:gd name="adj4" fmla="val -5395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Sensibilidad: Tasa de verdaderos negativos</a:t>
            </a:r>
          </a:p>
        </p:txBody>
      </p:sp>
      <p:sp>
        <p:nvSpPr>
          <p:cNvPr id="6" name="Callout: Line with Border and Accent Bar 5">
            <a:extLst>
              <a:ext uri="{FF2B5EF4-FFF2-40B4-BE49-F238E27FC236}">
                <a16:creationId xmlns:a16="http://schemas.microsoft.com/office/drawing/2014/main" id="{200D0ACF-A21B-44E7-8F1A-F2FF5613096A}"/>
              </a:ext>
            </a:extLst>
          </p:cNvPr>
          <p:cNvSpPr/>
          <p:nvPr/>
        </p:nvSpPr>
        <p:spPr>
          <a:xfrm>
            <a:off x="1914144" y="4502848"/>
            <a:ext cx="2546222" cy="873824"/>
          </a:xfrm>
          <a:prstGeom prst="accentBorderCallout1">
            <a:avLst>
              <a:gd name="adj1" fmla="val 18751"/>
              <a:gd name="adj2" fmla="val 116666"/>
              <a:gd name="adj3" fmla="val -49585"/>
              <a:gd name="adj4" fmla="val 12981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dirty="0"/>
              <a:t>Especificidad: -&gt; tasa de verdaderos positivos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7C86BF52-4B16-BD1A-2C23-677114966B5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1865229"/>
                  </p:ext>
                </p:extLst>
              </p:nvPr>
            </p:nvGraphicFramePr>
            <p:xfrm>
              <a:off x="1670304" y="2036064"/>
              <a:ext cx="8148319" cy="2121408"/>
            </p:xfrm>
            <a:graphic>
              <a:graphicData uri="http://schemas.openxmlformats.org/drawingml/2006/table">
                <a:tbl>
                  <a:tblPr firstRow="1">
                    <a:tableStyleId>{8799B23B-EC83-4686-B30A-512413B5E67A}</a:tableStyleId>
                  </a:tblPr>
                  <a:tblGrid>
                    <a:gridCol w="2729653">
                      <a:extLst>
                        <a:ext uri="{9D8B030D-6E8A-4147-A177-3AD203B41FA5}">
                          <a16:colId xmlns:a16="http://schemas.microsoft.com/office/drawing/2014/main" val="2541576496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2945829690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1491324886"/>
                        </a:ext>
                      </a:extLst>
                    </a:gridCol>
                  </a:tblGrid>
                  <a:tr h="707136">
                    <a:tc>
                      <a:txBody>
                        <a:bodyPr/>
                        <a:lstStyle/>
                        <a:p>
                          <a:endParaRPr lang="es-C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s-CR" sz="2800" b="1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CR" sz="2800" b="1" i="1" dirty="0" smtClean="0">
                                      <a:latin typeface="Cambria Math" panose="02040503050406030204" pitchFamily="18" charset="0"/>
                                    </a:rPr>
                                    <m:t>𝑯</m:t>
                                  </m:r>
                                </m:e>
                                <m:sub>
                                  <m:r>
                                    <a:rPr lang="es-CR" sz="2800" b="1" i="1" dirty="0" smtClean="0"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</m:oMath>
                          </a14:m>
                          <a:r>
                            <a:rPr lang="es-CR" sz="2800" dirty="0"/>
                            <a:t> Es verdadera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s-CR" sz="2800" b="1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CR" sz="2800" b="1" i="1" dirty="0" smtClean="0">
                                      <a:latin typeface="Cambria Math" panose="02040503050406030204" pitchFamily="18" charset="0"/>
                                    </a:rPr>
                                    <m:t>𝑯</m:t>
                                  </m:r>
                                </m:e>
                                <m:sub>
                                  <m:r>
                                    <a:rPr lang="es-CR" sz="2800" b="1" i="1" dirty="0" smtClean="0"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</m:oMath>
                          </a14:m>
                          <a:r>
                            <a:rPr lang="es-CR" sz="2800" dirty="0"/>
                            <a:t> es Falsa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06168204"/>
                      </a:ext>
                    </a:extLst>
                  </a:tr>
                  <a:tr h="7071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R" sz="2800" b="1" dirty="0"/>
                            <a:t>Rechazar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s-CR" sz="2800" b="1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CR" sz="2800" b="1" i="1" dirty="0" smtClean="0">
                                      <a:latin typeface="Cambria Math" panose="02040503050406030204" pitchFamily="18" charset="0"/>
                                    </a:rPr>
                                    <m:t>𝑯</m:t>
                                  </m:r>
                                </m:e>
                                <m:sub>
                                  <m:r>
                                    <a:rPr lang="es-CR" sz="2800" b="1" i="1" dirty="0" smtClean="0"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</m:oMath>
                          </a14:m>
                          <a:endParaRPr lang="es-CR" sz="28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R" sz="2800" b="0" dirty="0"/>
                            <a:t>Error tipo I</a:t>
                          </a:r>
                        </a:p>
                      </a:txBody>
                      <a:tcPr anchor="ctr"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R" sz="2800" b="0" dirty="0"/>
                            <a:t>Correcto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00864431"/>
                      </a:ext>
                    </a:extLst>
                  </a:tr>
                  <a:tr h="7071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R" sz="2800" b="1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No Rechazar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s-CR" sz="2800" b="1" i="1" kern="1200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es-CR" sz="2800" b="1" kern="1200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𝑯</m:t>
                                  </m:r>
                                </m:e>
                                <m:sub>
                                  <m:r>
                                    <a:rPr lang="es-CR" sz="2800" b="1" kern="1200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𝟎</m:t>
                                  </m:r>
                                </m:sub>
                              </m:sSub>
                            </m:oMath>
                          </a14:m>
                          <a:endParaRPr lang="es-CR" sz="2800" b="1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R" sz="2800" b="0" dirty="0"/>
                            <a:t>Correcto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CR" sz="2800" b="0" dirty="0"/>
                            <a:t>Error tipo II</a:t>
                          </a:r>
                        </a:p>
                      </a:txBody>
                      <a:tcPr anchor="ctr"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5665434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7C86BF52-4B16-BD1A-2C23-677114966B5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1865229"/>
                  </p:ext>
                </p:extLst>
              </p:nvPr>
            </p:nvGraphicFramePr>
            <p:xfrm>
              <a:off x="1670304" y="2036064"/>
              <a:ext cx="8148319" cy="2121408"/>
            </p:xfrm>
            <a:graphic>
              <a:graphicData uri="http://schemas.openxmlformats.org/drawingml/2006/table">
                <a:tbl>
                  <a:tblPr firstRow="1">
                    <a:tableStyleId>{8799B23B-EC83-4686-B30A-512413B5E67A}</a:tableStyleId>
                  </a:tblPr>
                  <a:tblGrid>
                    <a:gridCol w="2729653">
                      <a:extLst>
                        <a:ext uri="{9D8B030D-6E8A-4147-A177-3AD203B41FA5}">
                          <a16:colId xmlns:a16="http://schemas.microsoft.com/office/drawing/2014/main" val="2541576496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2945829690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1491324886"/>
                        </a:ext>
                      </a:extLst>
                    </a:gridCol>
                  </a:tblGrid>
                  <a:tr h="707136">
                    <a:tc>
                      <a:txBody>
                        <a:bodyPr/>
                        <a:lstStyle/>
                        <a:p>
                          <a:endParaRPr lang="es-C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1351" t="-1724" r="-100901" b="-2112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899" t="-1724" r="-674" b="-21120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06168204"/>
                      </a:ext>
                    </a:extLst>
                  </a:tr>
                  <a:tr h="70713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46" t="-101724" r="-199107" b="-1112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R" sz="2800" b="0" dirty="0"/>
                            <a:t>Error tipo I</a:t>
                          </a:r>
                        </a:p>
                      </a:txBody>
                      <a:tcPr anchor="ctr"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R" sz="2800" b="0" dirty="0"/>
                            <a:t>Correcto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00864431"/>
                      </a:ext>
                    </a:extLst>
                  </a:tr>
                  <a:tr h="70713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46" t="-201724" r="-199107" b="-112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CR" sz="2800" b="0" dirty="0"/>
                            <a:t>Correcto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CR" sz="2800" b="0" dirty="0"/>
                            <a:t>Error tipo II</a:t>
                          </a:r>
                        </a:p>
                      </a:txBody>
                      <a:tcPr anchor="ctr"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5665434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3509A82-6E27-AE45-D9B2-C1D1A9AE2675}"/>
                  </a:ext>
                </a:extLst>
              </p:cNvPr>
              <p:cNvSpPr txBox="1"/>
              <p:nvPr/>
            </p:nvSpPr>
            <p:spPr>
              <a:xfrm>
                <a:off x="371855" y="5846544"/>
                <a:ext cx="1144828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s-C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s-C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C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s-C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𝐸𝑟𝑟𝑜𝑟</m:t>
                          </m:r>
                          <m:r>
                            <a:rPr lang="es-C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</m:t>
                          </m:r>
                          <m:r>
                            <a:rPr lang="es-C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𝑡𝑖𝑝𝑜</m:t>
                          </m:r>
                          <m:r>
                            <a:rPr lang="es-C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s-C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</m:e>
                      </m:d>
                      <m:r>
                        <a:rPr lang="es-C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C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s-C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  <m:r>
                            <a:rPr lang="es-C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s-C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es-C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s-C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𝑠𝑖</m:t>
                      </m:r>
                      <m:r>
                        <a:rPr lang="es-C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s-C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C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C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s-C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𝑒𝑠</m:t>
                      </m:r>
                      <m:r>
                        <a:rPr lang="es-C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s-C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𝑣𝑒𝑟𝑑𝑎𝑑𝑒𝑟𝑎</m:t>
                      </m:r>
                      <m:r>
                        <a:rPr lang="es-C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s-CR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s-CR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𝑵𝒊𝒗𝒆𝒍</m:t>
                      </m:r>
                      <m:r>
                        <a:rPr lang="es-CR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s-CR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𝒅𝒆</m:t>
                      </m:r>
                      <m:r>
                        <a:rPr lang="es-CR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s-CR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𝒔𝒊𝒈𝒏𝒊𝒇𝒊𝒄𝒂𝒏𝒄𝒊𝒂</m:t>
                      </m:r>
                      <m:r>
                        <a:rPr lang="es-CR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CR" b="1" dirty="0">
                  <a:ea typeface="Cambria Math" panose="02040503050406030204" pitchFamily="18" charset="0"/>
                </a:endParaRPr>
              </a:p>
              <a:p>
                <a:r>
                  <a:rPr lang="es-CR" dirty="0">
                    <a:ea typeface="Cambria Math" panose="02040503050406030204" pitchFamily="18" charset="0"/>
                  </a:rPr>
                  <a:t>                               </a:t>
                </a:r>
                <a14:m>
                  <m:oMath xmlns:m="http://schemas.openxmlformats.org/officeDocument/2006/math">
                    <m:r>
                      <a:rPr lang="es-C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s-C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C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s-C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𝐸𝑟𝑟𝑜𝑟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 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𝑡𝑖𝑝𝑜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𝐼𝐼</m:t>
                        </m:r>
                      </m:e>
                    </m:d>
                    <m:r>
                      <a:rPr lang="es-C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C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s-C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∉</m:t>
                        </m:r>
                        <m:r>
                          <a:rPr lang="es-C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s-C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s-C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𝑠𝑖</m:t>
                    </m:r>
                    <m:r>
                      <a:rPr lang="es-C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s-C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s-C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C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C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𝑒𝑠</m:t>
                    </m:r>
                    <m:r>
                      <a:rPr lang="es-C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C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𝑣𝑒𝑟𝑑𝑎𝑑𝑒𝑟𝑎</m:t>
                    </m:r>
                    <m:r>
                      <a:rPr lang="es-C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C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s-C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  <m:r>
                      <a:rPr lang="es-C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s-C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𝜷</m:t>
                    </m:r>
                    <m:r>
                      <a:rPr lang="es-C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 </m:t>
                    </m:r>
                    <m:r>
                      <a:rPr lang="es-C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𝒑𝒐𝒕𝒆𝒏𝒄𝒊𝒂</m:t>
                    </m:r>
                    <m:r>
                      <a:rPr lang="es-C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C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𝒅𝒆</m:t>
                    </m:r>
                    <m:r>
                      <a:rPr lang="es-C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C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𝒍𝒂</m:t>
                    </m:r>
                    <m:r>
                      <a:rPr lang="es-C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C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𝒑𝒓𝒖𝒆𝒃𝒂</m:t>
                    </m:r>
                    <m:r>
                      <a:rPr lang="es-C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s-CR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3509A82-6E27-AE45-D9B2-C1D1A9AE26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855" y="5846544"/>
                <a:ext cx="11448288" cy="646331"/>
              </a:xfrm>
              <a:prstGeom prst="rect">
                <a:avLst/>
              </a:prstGeom>
              <a:blipFill>
                <a:blip r:embed="rId3"/>
                <a:stretch>
                  <a:fillRect b="-7547"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25049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3EED8-AAAD-06ED-DE7B-F4A342AD9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Resumen</a:t>
            </a:r>
            <a:endParaRPr lang="es-CR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A31585-08B0-2973-0242-E71037E2D5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918" y="1739938"/>
            <a:ext cx="9912164" cy="3916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22815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EC8D5-5DA1-6272-AD6B-F372D3C639A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Laboratorio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11912049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47963-9847-D956-EC01-6D075D5EF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Bibliografía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1C764F-3023-9E9E-4783-CDF2241DDB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2067983"/>
            <a:ext cx="10336877" cy="3735410"/>
          </a:xfrm>
        </p:spPr>
        <p:txBody>
          <a:bodyPr/>
          <a:lstStyle/>
          <a:p>
            <a:r>
              <a:rPr lang="en-US" b="0" i="0" dirty="0">
                <a:solidFill>
                  <a:srgbClr val="373A3C"/>
                </a:solidFill>
                <a:effectLst/>
                <a:latin typeface="Source Sans Pro" panose="020B0503030403020204" pitchFamily="34" charset="0"/>
              </a:rPr>
              <a:t>Hogg, Robert V.., Elliot A.. Tanis, and Dale L.. Zimmerman. 2015. </a:t>
            </a:r>
            <a:r>
              <a:rPr lang="en-US" b="0" i="1" dirty="0">
                <a:solidFill>
                  <a:srgbClr val="373A3C"/>
                </a:solidFill>
                <a:effectLst/>
                <a:latin typeface="Source Sans Pro" panose="020B0503030403020204" pitchFamily="34" charset="0"/>
              </a:rPr>
              <a:t>Probability and Statistical Inference</a:t>
            </a:r>
            <a:r>
              <a:rPr lang="en-US" b="0" i="0" dirty="0">
                <a:solidFill>
                  <a:srgbClr val="373A3C"/>
                </a:solidFill>
                <a:effectLst/>
                <a:latin typeface="Source Sans Pro" panose="020B0503030403020204" pitchFamily="34" charset="0"/>
              </a:rPr>
              <a:t>. Pearson</a:t>
            </a:r>
          </a:p>
          <a:p>
            <a:endParaRPr lang="en-US" dirty="0">
              <a:solidFill>
                <a:srgbClr val="373A3C"/>
              </a:solidFill>
              <a:latin typeface="Source Sans Pro" panose="020B0503030403020204" pitchFamily="34" charset="0"/>
            </a:endParaRPr>
          </a:p>
          <a:p>
            <a:r>
              <a:rPr lang="en-US" b="0" i="0" dirty="0">
                <a:solidFill>
                  <a:srgbClr val="373A3C"/>
                </a:solidFill>
                <a:effectLst/>
                <a:latin typeface="Source Sans Pro" panose="020B0503030403020204" pitchFamily="34" charset="0"/>
              </a:rPr>
              <a:t>Sahu, Sujit K. 2024. </a:t>
            </a:r>
            <a:r>
              <a:rPr lang="en-US" b="0" i="1" dirty="0">
                <a:solidFill>
                  <a:srgbClr val="373A3C"/>
                </a:solidFill>
                <a:effectLst/>
                <a:latin typeface="Source Sans Pro" panose="020B0503030403020204" pitchFamily="34" charset="0"/>
              </a:rPr>
              <a:t>Introduction to Probability, Statistics &amp; r</a:t>
            </a:r>
            <a:r>
              <a:rPr lang="en-US" b="0" i="0" dirty="0">
                <a:solidFill>
                  <a:srgbClr val="373A3C"/>
                </a:solidFill>
                <a:effectLst/>
                <a:latin typeface="Source Sans Pro" panose="020B0503030403020204" pitchFamily="34" charset="0"/>
              </a:rPr>
              <a:t>. </a:t>
            </a:r>
            <a:r>
              <a:rPr lang="en-US" b="0" i="1" dirty="0">
                <a:solidFill>
                  <a:srgbClr val="373A3C"/>
                </a:solidFill>
                <a:effectLst/>
                <a:latin typeface="Source Sans Pro" panose="020B0503030403020204" pitchFamily="34" charset="0"/>
              </a:rPr>
              <a:t>Introduction to Probability, Statistics &amp; R</a:t>
            </a:r>
            <a:r>
              <a:rPr lang="en-US" b="0" i="0" dirty="0">
                <a:solidFill>
                  <a:srgbClr val="373A3C"/>
                </a:solidFill>
                <a:effectLst/>
                <a:latin typeface="Source Sans Pro" panose="020B0503030403020204" pitchFamily="34" charset="0"/>
              </a:rPr>
              <a:t>. Springer International Publishing. </a:t>
            </a:r>
            <a:r>
              <a:rPr lang="en-US" b="0" i="0" u="sng" dirty="0">
                <a:effectLst/>
                <a:latin typeface="Source Sans Pro" panose="020B0503030403020204" pitchFamily="34" charset="0"/>
                <a:hlinkClick r:id="rId2"/>
              </a:rPr>
              <a:t>https://doi.org/10.1007/978-3-031-37865-2</a:t>
            </a:r>
            <a:r>
              <a:rPr lang="en-US" b="0" i="0" dirty="0">
                <a:solidFill>
                  <a:srgbClr val="373A3C"/>
                </a:solidFill>
                <a:effectLst/>
                <a:latin typeface="Source Sans Pro" panose="020B0503030403020204" pitchFamily="34" charset="0"/>
              </a:rPr>
              <a:t>.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3875904549"/>
      </p:ext>
    </p:extLst>
  </p:cSld>
  <p:clrMapOvr>
    <a:masterClrMapping/>
  </p:clrMapOvr>
</p:sld>
</file>

<file path=ppt/theme/theme1.xml><?xml version="1.0" encoding="utf-8"?>
<a:theme xmlns:a="http://schemas.openxmlformats.org/drawingml/2006/main" name="Fidélitas 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12535</TotalTime>
  <Words>429</Words>
  <Application>Microsoft Office PowerPoint</Application>
  <PresentationFormat>Widescreen</PresentationFormat>
  <Paragraphs>73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Calibri</vt:lpstr>
      <vt:lpstr>Cambria Math</vt:lpstr>
      <vt:lpstr>Source Sans Pro</vt:lpstr>
      <vt:lpstr>Trust Sans</vt:lpstr>
      <vt:lpstr>Trust Sans Black</vt:lpstr>
      <vt:lpstr>Trust Sans Bold</vt:lpstr>
      <vt:lpstr>Fidélitas </vt:lpstr>
      <vt:lpstr>Repaso</vt:lpstr>
      <vt:lpstr>Lo que hemos estudiado hasta ahora….</vt:lpstr>
      <vt:lpstr>¿Qué utilidad le ven a estos temas para el análisis económico?</vt:lpstr>
      <vt:lpstr>Distribuciones de Probabilidad</vt:lpstr>
      <vt:lpstr>Distribuciones de probabilidad</vt:lpstr>
      <vt:lpstr>Medidas de tendencia Central, dispersion asociación</vt:lpstr>
      <vt:lpstr>¿Para qué se puede emplear las estadísticas descriptivas en el estudio de variables económicas?</vt:lpstr>
      <vt:lpstr>Pruebas de Hipótesis e intervalos de confianza</vt:lpstr>
      <vt:lpstr>¿Para qué sirve?  </vt:lpstr>
      <vt:lpstr>Error tipo I y error tipo II</vt:lpstr>
      <vt:lpstr>Resumen</vt:lpstr>
      <vt:lpstr>Laboratorio</vt:lpstr>
      <vt:lpstr>Bibliografía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TÍTULO</dc:title>
  <dc:creator>Fiorella Chacón Morales</dc:creator>
  <cp:lastModifiedBy>Fabian Brenes</cp:lastModifiedBy>
  <cp:revision>117</cp:revision>
  <dcterms:created xsi:type="dcterms:W3CDTF">2023-02-23T21:29:48Z</dcterms:created>
  <dcterms:modified xsi:type="dcterms:W3CDTF">2026-03-13T17:32:17Z</dcterms:modified>
</cp:coreProperties>
</file>