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82" r:id="rId3"/>
    <p:sldId id="394" r:id="rId4"/>
    <p:sldId id="397" r:id="rId5"/>
    <p:sldId id="398" r:id="rId6"/>
    <p:sldId id="396" r:id="rId7"/>
    <p:sldId id="399" r:id="rId8"/>
    <p:sldId id="400" r:id="rId9"/>
    <p:sldId id="401" r:id="rId10"/>
    <p:sldId id="389" r:id="rId11"/>
    <p:sldId id="403" r:id="rId12"/>
    <p:sldId id="404" r:id="rId13"/>
    <p:sldId id="395" r:id="rId1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E31D93"/>
    <a:srgbClr val="FFD600"/>
    <a:srgbClr val="00B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/>
    <p:restoredTop sz="92764" autoAdjust="0"/>
  </p:normalViewPr>
  <p:slideViewPr>
    <p:cSldViewPr snapToGrid="0">
      <p:cViewPr varScale="1">
        <p:scale>
          <a:sx n="62" d="100"/>
          <a:sy n="62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delSld modSld">
      <pc:chgData name="Fabian Brenes" userId="0a98a788-2542-4baf-b081-64ee1e965425" providerId="ADAL" clId="{3D44E08D-C675-4D64-922C-0261EF110F0B}" dt="2026-06-12T02:31:12.752" v="187" actId="20577"/>
      <pc:docMkLst>
        <pc:docMk/>
      </pc:docMkLst>
      <pc:sldChg chg="modSp mod">
        <pc:chgData name="Fabian Brenes" userId="0a98a788-2542-4baf-b081-64ee1e965425" providerId="ADAL" clId="{3D44E08D-C675-4D64-922C-0261EF110F0B}" dt="2026-06-12T02:31:12.752" v="187" actId="20577"/>
        <pc:sldMkLst>
          <pc:docMk/>
          <pc:sldMk cId="900078694" sldId="382"/>
        </pc:sldMkLst>
        <pc:spChg chg="mod">
          <ac:chgData name="Fabian Brenes" userId="0a98a788-2542-4baf-b081-64ee1e965425" providerId="ADAL" clId="{3D44E08D-C675-4D64-922C-0261EF110F0B}" dt="2026-06-12T02:31:12.752" v="187" actId="20577"/>
          <ac:spMkLst>
            <pc:docMk/>
            <pc:sldMk cId="900078694" sldId="382"/>
            <ac:spMk id="5" creationId="{6D542AB4-C6E9-CFD1-1545-A52B284137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portada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0">
            <a:extLst>
              <a:ext uri="{FF2B5EF4-FFF2-40B4-BE49-F238E27FC236}">
                <a16:creationId xmlns:a16="http://schemas.microsoft.com/office/drawing/2014/main" id="{5250FC87-7BE0-64CD-5A1C-F02DACE6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86050"/>
            <a:ext cx="1139825" cy="711200"/>
          </a:xfrm>
          <a:prstGeom prst="rect">
            <a:avLst/>
          </a:prstGeom>
        </p:spPr>
      </p:pic>
      <p:pic>
        <p:nvPicPr>
          <p:cNvPr id="3" name="Imagen 13">
            <a:extLst>
              <a:ext uri="{FF2B5EF4-FFF2-40B4-BE49-F238E27FC236}">
                <a16:creationId xmlns:a16="http://schemas.microsoft.com/office/drawing/2014/main" id="{57B46863-8923-8669-6050-FFC1273C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1563" y="5749925"/>
            <a:ext cx="1814512" cy="871538"/>
          </a:xfrm>
          <a:prstGeom prst="rect">
            <a:avLst/>
          </a:prstGeom>
        </p:spPr>
      </p:pic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2353235" y="2393265"/>
            <a:ext cx="7077635" cy="2393889"/>
          </a:xfrm>
        </p:spPr>
        <p:txBody>
          <a:bodyPr anchor="b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62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031-37865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BA2ED-03A6-64B1-A460-86640E3E0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>
                <a:solidFill>
                  <a:schemeClr val="bg1"/>
                </a:solidFill>
              </a:rPr>
              <a:t>Teoría Estadística y métodos cuantitativos</a:t>
            </a:r>
            <a:endParaRPr lang="es-CR" sz="4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2B11D00-0642-76C8-3292-F75149E5A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Distribuciones de Probabilidad</a:t>
            </a:r>
          </a:p>
          <a:p>
            <a:r>
              <a:rPr lang="es-CR" dirty="0"/>
              <a:t>Profesor: Fabián Brenes Trejos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C7B05-9423-80AD-ABDC-E6E927A0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Contenido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2AB4-C6E9-CFD1-1545-A52B284137FA}"/>
              </a:ext>
            </a:extLst>
          </p:cNvPr>
          <p:cNvSpPr txBox="1"/>
          <p:nvPr/>
        </p:nvSpPr>
        <p:spPr>
          <a:xfrm>
            <a:off x="932688" y="1792224"/>
            <a:ext cx="103266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Conceptos básicos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Esperanza matemática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Distribución de Bernoulli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Distribución Binomial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Distribución 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Laboratorio en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Práctica #2</a:t>
            </a:r>
          </a:p>
        </p:txBody>
      </p:sp>
    </p:spTree>
    <p:extLst>
      <p:ext uri="{BB962C8B-B14F-4D97-AF65-F5344CB8AC3E}">
        <p14:creationId xmlns:p14="http://schemas.microsoft.com/office/powerpoint/2010/main" val="90007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A232-248F-6A96-DBC9-6D1FEC4F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Distribución de Probabilidad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2688A-EE24-C39A-C6FA-7ADE5289022C}"/>
              </a:ext>
            </a:extLst>
          </p:cNvPr>
          <p:cNvSpPr txBox="1"/>
          <p:nvPr/>
        </p:nvSpPr>
        <p:spPr>
          <a:xfrm>
            <a:off x="957072" y="1792224"/>
            <a:ext cx="1027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/>
              <a:t>- Distribuye el total de probabilidad (que es igual a 1) entre todos los posibles valores que la variable aleatoria puede asumir.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65FC17-AE9E-2FC6-C837-7ED4E164E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423530"/>
                  </p:ext>
                </p:extLst>
              </p:nvPr>
            </p:nvGraphicFramePr>
            <p:xfrm>
              <a:off x="1420368" y="2630908"/>
              <a:ext cx="9265920" cy="40503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2960">
                      <a:extLst>
                        <a:ext uri="{9D8B030D-6E8A-4147-A177-3AD203B41FA5}">
                          <a16:colId xmlns:a16="http://schemas.microsoft.com/office/drawing/2014/main" val="666307263"/>
                        </a:ext>
                      </a:extLst>
                    </a:gridCol>
                    <a:gridCol w="4632960">
                      <a:extLst>
                        <a:ext uri="{9D8B030D-6E8A-4147-A177-3AD203B41FA5}">
                          <a16:colId xmlns:a16="http://schemas.microsoft.com/office/drawing/2014/main" val="905023739"/>
                        </a:ext>
                      </a:extLst>
                    </a:gridCol>
                  </a:tblGrid>
                  <a:tr h="48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400" dirty="0"/>
                            <a:t>Variables Discretas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400" dirty="0"/>
                            <a:t>Variables Continuas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6636984"/>
                      </a:ext>
                    </a:extLst>
                  </a:tr>
                  <a:tr h="1628648">
                    <a:tc>
                      <a:txBody>
                        <a:bodyPr/>
                        <a:lstStyle/>
                        <a:p>
                          <a:r>
                            <a:rPr lang="es-CR" b="1" dirty="0"/>
                            <a:t>Función de Masa de Probabilidad (</a:t>
                          </a:r>
                          <a:r>
                            <a:rPr lang="es-CR" b="1" dirty="0" err="1"/>
                            <a:t>pmf</a:t>
                          </a:r>
                          <a:r>
                            <a:rPr lang="es-CR" b="1" dirty="0"/>
                            <a:t>):</a:t>
                          </a:r>
                        </a:p>
                        <a:p>
                          <a:r>
                            <a:rPr lang="es-CR" b="0" dirty="0"/>
                            <a:t>Es la función </a:t>
                          </a:r>
                          <a:r>
                            <a:rPr lang="es-CR" b="1" i="1" dirty="0"/>
                            <a:t>f(x)</a:t>
                          </a:r>
                          <a:r>
                            <a:rPr lang="es-CR" b="0" dirty="0"/>
                            <a:t> que calcula la probabilidad de que una variable aleatoria discreta </a:t>
                          </a:r>
                          <a:r>
                            <a:rPr lang="es-CR" b="1" i="1" dirty="0"/>
                            <a:t>x</a:t>
                          </a:r>
                          <a:r>
                            <a:rPr lang="es-CR" b="1" dirty="0"/>
                            <a:t> </a:t>
                          </a:r>
                          <a:r>
                            <a:rPr lang="es-CR" b="0" dirty="0"/>
                            <a:t>obtenga un valor específico. </a:t>
                          </a:r>
                          <a:endParaRPr lang="es-CR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R" b="1" dirty="0"/>
                            <a:t>Función de Densidad de Probabilidad (</a:t>
                          </a:r>
                          <a:r>
                            <a:rPr lang="es-CR" b="1" dirty="0" err="1"/>
                            <a:t>pdf</a:t>
                          </a:r>
                          <a:r>
                            <a:rPr lang="es-CR" b="1" dirty="0"/>
                            <a:t>): </a:t>
                          </a:r>
                        </a:p>
                        <a:p>
                          <a:r>
                            <a:rPr lang="es-CR" b="0" dirty="0"/>
                            <a:t>Es la función de probabilidad de que una variable aleatoria continua asuma un valor específico.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64490"/>
                      </a:ext>
                    </a:extLst>
                  </a:tr>
                  <a:tr h="193340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R" b="1" i="0" dirty="0"/>
                            <a:t>Función de Probabilidad Acumulada (</a:t>
                          </a:r>
                          <a:r>
                            <a:rPr lang="es-CR" b="1" i="0" dirty="0" err="1"/>
                            <a:t>cdf</a:t>
                          </a:r>
                          <a:r>
                            <a:rPr lang="es-CR" b="1" i="0" dirty="0"/>
                            <a:t>): </a:t>
                          </a:r>
                          <a:endParaRPr lang="es-CR" b="0" i="0" dirty="0"/>
                        </a:p>
                        <a:p>
                          <a:pPr algn="ctr"/>
                          <a:r>
                            <a:rPr lang="es-CR" b="0" i="0" dirty="0"/>
                            <a:t>Es la suma acumulada de la </a:t>
                          </a:r>
                          <a:r>
                            <a:rPr lang="es-CR" b="0" i="0" dirty="0" err="1"/>
                            <a:t>pmf</a:t>
                          </a:r>
                          <a:r>
                            <a:rPr lang="es-CR" b="0" i="0" dirty="0"/>
                            <a:t> o </a:t>
                          </a:r>
                          <a:r>
                            <a:rPr lang="es-CR" b="0" i="0" dirty="0" err="1"/>
                            <a:t>pdf</a:t>
                          </a:r>
                          <a:r>
                            <a:rPr lang="es-CR" b="0" i="0" dirty="0"/>
                            <a:t> </a:t>
                          </a:r>
                          <a:r>
                            <a:rPr lang="es-CR" b="1" i="1" dirty="0"/>
                            <a:t>f(u) </a:t>
                          </a:r>
                          <a:r>
                            <a:rPr lang="es-CR" b="0" i="0" dirty="0"/>
                            <a:t>hasta que el valor sea menor o igual a </a:t>
                          </a:r>
                          <a:r>
                            <a:rPr lang="es-CR" b="1" i="1" dirty="0"/>
                            <a:t>u = x. </a:t>
                          </a:r>
                        </a:p>
                        <a:p>
                          <a:pPr algn="ctr"/>
                          <a:endParaRPr lang="es-CR" b="1" i="1" dirty="0"/>
                        </a:p>
                        <a:p>
                          <a:pPr algn="ctr"/>
                          <a:r>
                            <a:rPr lang="es-CR" b="1" dirty="0"/>
                            <a:t>Variable Discreta: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</a:rPr>
                                    <m:t> ≤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  <m:d>
                                <m:d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≤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  <m:sup/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es-CR" b="1" i="0" dirty="0"/>
                        </a:p>
                        <a:p>
                          <a:pPr algn="ctr"/>
                          <a:endParaRPr lang="es-CR" b="1" i="0" dirty="0"/>
                        </a:p>
                        <a:p>
                          <a:pPr algn="ctr"/>
                          <a:r>
                            <a:rPr lang="es-CR" b="1" i="0" dirty="0"/>
                            <a:t>Variable Continua: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</a:rPr>
                                    <m:t> ≤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  <m:d>
                                <m:d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sup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  <m:d>
                                    <m:dPr>
                                      <m:ctrlPr>
                                        <a:rPr lang="es-C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R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</m:d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𝒅𝒖</m:t>
                                  </m:r>
                                </m:e>
                              </m:nary>
                            </m:oMath>
                          </a14:m>
                          <a:endParaRPr lang="es-CR" b="1" i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69481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65FC17-AE9E-2FC6-C837-7ED4E164E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423530"/>
                  </p:ext>
                </p:extLst>
              </p:nvPr>
            </p:nvGraphicFramePr>
            <p:xfrm>
              <a:off x="1420368" y="2630908"/>
              <a:ext cx="9265920" cy="40503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2960">
                      <a:extLst>
                        <a:ext uri="{9D8B030D-6E8A-4147-A177-3AD203B41FA5}">
                          <a16:colId xmlns:a16="http://schemas.microsoft.com/office/drawing/2014/main" val="666307263"/>
                        </a:ext>
                      </a:extLst>
                    </a:gridCol>
                    <a:gridCol w="4632960">
                      <a:extLst>
                        <a:ext uri="{9D8B030D-6E8A-4147-A177-3AD203B41FA5}">
                          <a16:colId xmlns:a16="http://schemas.microsoft.com/office/drawing/2014/main" val="905023739"/>
                        </a:ext>
                      </a:extLst>
                    </a:gridCol>
                  </a:tblGrid>
                  <a:tr h="48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400" dirty="0"/>
                            <a:t>Variables Discretas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400" dirty="0"/>
                            <a:t>Variables Continuas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6636984"/>
                      </a:ext>
                    </a:extLst>
                  </a:tr>
                  <a:tr h="1628648">
                    <a:tc>
                      <a:txBody>
                        <a:bodyPr/>
                        <a:lstStyle/>
                        <a:p>
                          <a:r>
                            <a:rPr lang="es-CR" b="1" dirty="0"/>
                            <a:t>Función de Masa de Probabilidad (</a:t>
                          </a:r>
                          <a:r>
                            <a:rPr lang="es-CR" b="1" dirty="0" err="1"/>
                            <a:t>pmf</a:t>
                          </a:r>
                          <a:r>
                            <a:rPr lang="es-CR" b="1" dirty="0"/>
                            <a:t>):</a:t>
                          </a:r>
                        </a:p>
                        <a:p>
                          <a:r>
                            <a:rPr lang="es-CR" b="0" dirty="0"/>
                            <a:t>Es la función </a:t>
                          </a:r>
                          <a:r>
                            <a:rPr lang="es-CR" b="1" i="1" dirty="0"/>
                            <a:t>f(x)</a:t>
                          </a:r>
                          <a:r>
                            <a:rPr lang="es-CR" b="0" dirty="0"/>
                            <a:t> que calcula la probabilidad de que una variable aleatoria discreta </a:t>
                          </a:r>
                          <a:r>
                            <a:rPr lang="es-CR" b="1" i="1" dirty="0"/>
                            <a:t>x</a:t>
                          </a:r>
                          <a:r>
                            <a:rPr lang="es-CR" b="1" dirty="0"/>
                            <a:t> </a:t>
                          </a:r>
                          <a:r>
                            <a:rPr lang="es-CR" b="0" dirty="0"/>
                            <a:t>obtenga un valor específico. </a:t>
                          </a:r>
                          <a:endParaRPr lang="es-CR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R" b="1" dirty="0"/>
                            <a:t>Función de Densidad de Probabilidad (</a:t>
                          </a:r>
                          <a:r>
                            <a:rPr lang="es-CR" b="1" dirty="0" err="1"/>
                            <a:t>pdf</a:t>
                          </a:r>
                          <a:r>
                            <a:rPr lang="es-CR" b="1" dirty="0"/>
                            <a:t>): </a:t>
                          </a:r>
                        </a:p>
                        <a:p>
                          <a:r>
                            <a:rPr lang="es-CR" b="0" dirty="0"/>
                            <a:t>Es la función de probabilidad de que una variable aleatoria continua asuma un valor específico.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64490"/>
                      </a:ext>
                    </a:extLst>
                  </a:tr>
                  <a:tr h="1933408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2" t="-111356" r="-329" b="-384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69481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52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856D-75C6-3B2A-5795-91C86664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Esperanza Matemática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75893-7810-1F22-FBD7-1E75D660E8CA}"/>
              </a:ext>
            </a:extLst>
          </p:cNvPr>
          <p:cNvSpPr txBox="1"/>
          <p:nvPr/>
        </p:nvSpPr>
        <p:spPr>
          <a:xfrm>
            <a:off x="1024128" y="2011680"/>
            <a:ext cx="524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R" dirty="0"/>
              <a:t>Es el valor esperado de una variable aleatoria.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C5A26-C266-EFDB-6639-5F0E3673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1"/>
          <a:stretch/>
        </p:blipFill>
        <p:spPr>
          <a:xfrm>
            <a:off x="1938528" y="2455426"/>
            <a:ext cx="6486144" cy="14994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209D22-2CB1-4786-7765-89680EBD3D00}"/>
                  </a:ext>
                </a:extLst>
              </p:cNvPr>
              <p:cNvSpPr txBox="1"/>
              <p:nvPr/>
            </p:nvSpPr>
            <p:spPr>
              <a:xfrm>
                <a:off x="993647" y="5846544"/>
                <a:ext cx="10204704" cy="646331"/>
              </a:xfrm>
              <a:prstGeom prst="rect">
                <a:avLst/>
              </a:prstGeom>
              <a:ln w="19050"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CR" b="1" dirty="0"/>
                  <a:t>Propiedad:</a:t>
                </a:r>
              </a:p>
              <a:p>
                <a:pPr marL="285750" indent="-285750">
                  <a:buFontTx/>
                  <a:buChar char="-"/>
                </a:pPr>
                <a:r>
                  <a:rPr lang="es-CR" dirty="0"/>
                  <a:t>La esperanza es un operador lineal: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𝒂𝑬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s-CR" b="1" dirty="0"/>
                  <a:t>,</a:t>
                </a:r>
                <a:r>
                  <a:rPr lang="es-CR" dirty="0"/>
                  <a:t> en donde </a:t>
                </a:r>
                <a:r>
                  <a:rPr lang="es-CR" b="1" i="1" dirty="0"/>
                  <a:t>a</a:t>
                </a:r>
                <a:r>
                  <a:rPr lang="es-CR" dirty="0"/>
                  <a:t> y </a:t>
                </a:r>
                <a:r>
                  <a:rPr lang="es-CR" b="1" i="1" dirty="0"/>
                  <a:t>b</a:t>
                </a:r>
                <a:r>
                  <a:rPr lang="es-CR" dirty="0"/>
                  <a:t> son constantes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209D22-2CB1-4786-7765-89680EBD3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47" y="5846544"/>
                <a:ext cx="10204704" cy="646331"/>
              </a:xfrm>
              <a:prstGeom prst="rect">
                <a:avLst/>
              </a:prstGeom>
              <a:blipFill>
                <a:blip r:embed="rId3"/>
                <a:stretch>
                  <a:fillRect l="-417" t="-3670" b="-11927"/>
                </a:stretch>
              </a:blipFill>
              <a:ln w="19050">
                <a:prstDash val="dash"/>
              </a:ln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5C81BF0-F6B3-ACAE-DB41-67780D544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912" y="4280654"/>
            <a:ext cx="7455395" cy="106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65C8D-7C61-715B-4A01-2B327FB8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Varianza de una variable aleatoria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8ABC82-897F-07A6-8673-2DBAAB30C381}"/>
                  </a:ext>
                </a:extLst>
              </p:cNvPr>
              <p:cNvSpPr txBox="1"/>
              <p:nvPr/>
            </p:nvSpPr>
            <p:spPr>
              <a:xfrm>
                <a:off x="1048512" y="2011680"/>
                <a:ext cx="9951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R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8ABC82-897F-07A6-8673-2DBAAB30C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12" y="2011680"/>
                <a:ext cx="995130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DE346B-A886-2EA9-98E5-79328B1F62B0}"/>
                  </a:ext>
                </a:extLst>
              </p:cNvPr>
              <p:cNvSpPr txBox="1"/>
              <p:nvPr/>
            </p:nvSpPr>
            <p:spPr>
              <a:xfrm>
                <a:off x="1048512" y="2632590"/>
                <a:ext cx="9951304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R" sz="3200" b="0" i="1" dirty="0">
                    <a:latin typeface="Cambria Math" panose="02040503050406030204" pitchFamily="18" charset="0"/>
                  </a:rPr>
                  <a:t>Prueba: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C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R" sz="3200" b="0" dirty="0"/>
              </a:p>
              <a:p>
                <a:r>
                  <a:rPr lang="es-CR" sz="3200" b="0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C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C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R" sz="3200" b="0" dirty="0"/>
              </a:p>
              <a:p>
                <a:r>
                  <a:rPr lang="es-CR" sz="3200" b="0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C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C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R" sz="3200" b="0" dirty="0"/>
              </a:p>
              <a:p>
                <a:r>
                  <a:rPr lang="es-CR" sz="3200" b="0" dirty="0"/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s-CR" sz="3200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CR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R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R" sz="3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s-CR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C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C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C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C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R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s-C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CR" sz="3200" b="0" dirty="0"/>
              </a:p>
              <a:p>
                <a:r>
                  <a:rPr lang="es-CR" sz="3200" b="0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CR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)−2</m:t>
                    </m:r>
                    <m:r>
                      <a:rPr lang="es-C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𝜇𝜇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R" sz="3200" dirty="0"/>
              </a:p>
              <a:p>
                <a:r>
                  <a:rPr lang="es-CR" sz="3200" b="0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CR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)−2</m:t>
                    </m:r>
                    <m:sSup>
                      <m:sSupPr>
                        <m:ctrlP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R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C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R" sz="3200" dirty="0"/>
              </a:p>
              <a:p>
                <a:r>
                  <a:rPr lang="es-CR" sz="3200" b="0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CR" sz="32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sz="32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s-CR" sz="32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CR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s-CR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CR" sz="3200" b="1" i="1" smtClean="0">
                        <a:latin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es-C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es-CR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CR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DE346B-A886-2EA9-98E5-79328B1F6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12" y="2632590"/>
                <a:ext cx="9951304" cy="4031873"/>
              </a:xfrm>
              <a:prstGeom prst="rect">
                <a:avLst/>
              </a:prstGeom>
              <a:blipFill>
                <a:blip r:embed="rId3"/>
                <a:stretch>
                  <a:fillRect l="-1532" t="-196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5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2A300-CF7B-7589-E22B-B5D747B4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Distribución de Bernoulli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5003D-92D0-0275-2833-3D585D0BE3C3}"/>
              </a:ext>
            </a:extLst>
          </p:cNvPr>
          <p:cNvSpPr txBox="1"/>
          <p:nvPr/>
        </p:nvSpPr>
        <p:spPr>
          <a:xfrm>
            <a:off x="914400" y="1901952"/>
            <a:ext cx="103753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dirty="0"/>
              <a:t>Un experimento de Bernoulli es un experimento aleatorio que puede tener dos posibles resultados mutuamente excluyentes y exhaustivos, por ejemplo: escudo </a:t>
            </a:r>
            <a:r>
              <a:rPr lang="es-CR"/>
              <a:t>o corona</a:t>
            </a:r>
            <a:endParaRPr lang="es-C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dirty="0"/>
              <a:t>Una secuencia de ensayos de Bernoulli ocurre cuando se realiza de forma independiente un experimento de Bernoulli, y la probabilidad de éxito </a:t>
            </a:r>
            <a:r>
              <a:rPr lang="es-CR" b="1" dirty="0"/>
              <a:t>(</a:t>
            </a:r>
            <a:r>
              <a:rPr lang="es-CR" b="1" i="1" dirty="0"/>
              <a:t>p) </a:t>
            </a:r>
            <a:r>
              <a:rPr lang="es-CR" dirty="0"/>
              <a:t>se mantiene igual entre los distintos ensayos.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dirty="0"/>
              <a:t>Se define </a:t>
            </a:r>
            <a:r>
              <a:rPr lang="es-CR" b="1" i="1" dirty="0"/>
              <a:t>p </a:t>
            </a:r>
            <a:r>
              <a:rPr lang="es-CR" dirty="0"/>
              <a:t>como la probabilidad de éxito y </a:t>
            </a:r>
            <a:r>
              <a:rPr lang="es-CR" b="1" i="1" dirty="0"/>
              <a:t>q </a:t>
            </a:r>
            <a:r>
              <a:rPr lang="es-CR" dirty="0"/>
              <a:t>como la probabilidad de fracaso, en donde </a:t>
            </a:r>
            <a:r>
              <a:rPr lang="es-CR" b="1" i="1" dirty="0"/>
              <a:t>q =  1 - p</a:t>
            </a:r>
            <a:r>
              <a:rPr lang="es-C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21B389-AC0E-6B06-E748-DC23B6273E24}"/>
                  </a:ext>
                </a:extLst>
              </p:cNvPr>
              <p:cNvSpPr txBox="1"/>
              <p:nvPr/>
            </p:nvSpPr>
            <p:spPr>
              <a:xfrm>
                <a:off x="2228503" y="4303776"/>
                <a:ext cx="8268809" cy="2269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R" b="1" dirty="0"/>
                  <a:t>Pmf: </a:t>
                </a:r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=0, 1</m:t>
                    </m:r>
                  </m:oMath>
                </a14:m>
                <a:endParaRPr lang="es-CR" b="0" dirty="0"/>
              </a:p>
              <a:p>
                <a:endParaRPr lang="es-C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s-CR" b="0" i="1" smtClean="0">
                          <a:latin typeface="Cambria Math" panose="02040503050406030204" pitchFamily="18" charset="0"/>
                        </a:rPr>
                        <m:t>=(0∗</m:t>
                      </m:r>
                      <m:sSup>
                        <m:sSup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p>
                        <m:sSup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s-CR" b="0" i="1" smtClean="0"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(1∗</m:t>
                          </m:r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C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R" b="0" dirty="0"/>
              </a:p>
              <a:p>
                <a:r>
                  <a:rPr lang="es-CR" b="0" dirty="0"/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𝑝𝑞</m:t>
                    </m:r>
                  </m:oMath>
                </a14:m>
                <a:endParaRPr lang="es-CR" b="0" dirty="0"/>
              </a:p>
              <a:p>
                <a:endParaRPr lang="es-CR" b="0" dirty="0"/>
              </a:p>
              <a:p>
                <a:r>
                  <a:rPr lang="es-CR" b="0" dirty="0"/>
                  <a:t>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e>
                    </m:rad>
                  </m:oMath>
                </a14:m>
                <a:endParaRPr lang="es-C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21B389-AC0E-6B06-E748-DC23B6273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503" y="4303776"/>
                <a:ext cx="8268809" cy="2269852"/>
              </a:xfrm>
              <a:prstGeom prst="rect">
                <a:avLst/>
              </a:prstGeom>
              <a:blipFill>
                <a:blip r:embed="rId2"/>
                <a:stretch>
                  <a:fillRect l="-664" t="-1344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82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DA2A-525F-5DA4-787B-50662499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Distribución Binomial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16E196-5B18-2A6C-02F7-79DFE59CBC3E}"/>
                  </a:ext>
                </a:extLst>
              </p:cNvPr>
              <p:cNvSpPr txBox="1"/>
              <p:nvPr/>
            </p:nvSpPr>
            <p:spPr>
              <a:xfrm>
                <a:off x="914400" y="1901952"/>
                <a:ext cx="10375392" cy="4123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CR" dirty="0"/>
                  <a:t>La distribución binomial surge de una secuencia de ensayos de Bernoulli. Suponga que se tienen </a:t>
                </a:r>
                <a:r>
                  <a:rPr lang="es-CR" b="1" i="1" dirty="0"/>
                  <a:t>n </a:t>
                </a:r>
                <a:r>
                  <a:rPr lang="es-CR" dirty="0"/>
                  <a:t>ensayos, con una probabilidad de éxito de </a:t>
                </a:r>
                <a:r>
                  <a:rPr lang="es-CR" b="1" i="1" dirty="0"/>
                  <a:t>p</a:t>
                </a:r>
                <a:r>
                  <a:rPr lang="es-CR" dirty="0"/>
                  <a:t> y una probabilidad de fracaso de </a:t>
                </a:r>
                <a:r>
                  <a:rPr lang="es-CR" b="1" i="1" dirty="0"/>
                  <a:t>1-p</a:t>
                </a:r>
                <a:r>
                  <a:rPr lang="es-CR" i="1" dirty="0"/>
                  <a:t>, </a:t>
                </a:r>
                <a:r>
                  <a:rPr lang="es-CR" dirty="0"/>
                  <a:t>en donde </a:t>
                </a:r>
                <a:r>
                  <a:rPr lang="es-CR" b="1" i="1" dirty="0"/>
                  <a:t>X </a:t>
                </a:r>
                <a:r>
                  <a:rPr lang="es-CR" dirty="0"/>
                  <a:t>representa el total de éxitos en los </a:t>
                </a:r>
                <a:r>
                  <a:rPr lang="es-CR" b="1" i="1" dirty="0"/>
                  <a:t>n</a:t>
                </a:r>
                <a:r>
                  <a:rPr lang="es-CR" dirty="0"/>
                  <a:t> ensayos.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CR" dirty="0"/>
                  <a:t>En este caso, </a:t>
                </a:r>
                <a:r>
                  <a:rPr lang="es-CR" b="1" i="1" dirty="0"/>
                  <a:t>X </a:t>
                </a:r>
                <a:r>
                  <a:rPr lang="es-CR" dirty="0"/>
                  <a:t>es una variable binomial aleatoria con parámetros </a:t>
                </a:r>
                <a:r>
                  <a:rPr lang="es-CR" b="1" i="1" dirty="0"/>
                  <a:t>n</a:t>
                </a:r>
                <a:r>
                  <a:rPr lang="es-CR" dirty="0"/>
                  <a:t> y </a:t>
                </a:r>
                <a:r>
                  <a:rPr lang="es-CR" b="1" i="1" dirty="0"/>
                  <a:t>p.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b="1" i="1" dirty="0"/>
              </a:p>
              <a:p>
                <a:pPr algn="just"/>
                <a:endParaRPr lang="es-CR" b="1" i="1" dirty="0"/>
              </a:p>
              <a:p>
                <a:pPr algn="just"/>
                <a:r>
                  <a:rPr lang="es-CR" b="1" i="1" dirty="0"/>
                  <a:t>                        </a:t>
                </a:r>
                <a:r>
                  <a:rPr lang="es-CR" b="1" i="1" dirty="0" err="1"/>
                  <a:t>Pmf</a:t>
                </a:r>
                <a:r>
                  <a:rPr lang="es-CR" b="1" i="1" dirty="0"/>
                  <a:t>: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CR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sSup>
                      <m:sSup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r>
                      <a:rPr lang="es-CR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, …,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𝒆𝒏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𝒅𝒐𝒏𝒅𝒆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C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CR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s-C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C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s-CR" b="1" i="1" dirty="0">
                  <a:latin typeface="Cambria Math" panose="02040503050406030204" pitchFamily="18" charset="0"/>
                </a:endParaRPr>
              </a:p>
              <a:p>
                <a:pPr algn="just"/>
                <a:endParaRPr lang="es-CR" b="1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s-CR" b="1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endParaRPr lang="es-CR" b="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s-CR" b="1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𝑛𝑝𝑞</m:t>
                    </m:r>
                  </m:oMath>
                </a14:m>
                <a:r>
                  <a:rPr lang="es-CR" b="0" dirty="0"/>
                  <a:t>     </a:t>
                </a:r>
              </a:p>
              <a:p>
                <a:pPr algn="just"/>
                <a:r>
                  <a:rPr lang="es-CR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e>
                    </m:rad>
                  </m:oMath>
                </a14:m>
                <a:endParaRPr lang="es-C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b="1" i="1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16E196-5B18-2A6C-02F7-79DFE59CB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01952"/>
                <a:ext cx="10375392" cy="4123629"/>
              </a:xfrm>
              <a:prstGeom prst="rect">
                <a:avLst/>
              </a:prstGeom>
              <a:blipFill>
                <a:blip r:embed="rId2"/>
                <a:stretch>
                  <a:fillRect l="-353" t="-740" r="-47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11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B640-C798-DCC3-167B-91E6C5B2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Distribución</a:t>
            </a:r>
            <a:r>
              <a:rPr lang="en-US" dirty="0"/>
              <a:t> de Poisson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BE5FF1-FC57-2676-A238-9D9891221E90}"/>
                  </a:ext>
                </a:extLst>
              </p:cNvPr>
              <p:cNvSpPr txBox="1"/>
              <p:nvPr/>
            </p:nvSpPr>
            <p:spPr>
              <a:xfrm>
                <a:off x="914400" y="1901952"/>
                <a:ext cx="10375392" cy="4946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CR" dirty="0"/>
                  <a:t>Algunos experimentos resultan en contar el número de veces que un evento en particular ocurre. Por ejemplo la cantidad de clientes que compran en una tienda durante la mañana.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CR" dirty="0"/>
                  <a:t>Este tipo de eventos son ocasionados por un proceso de Poisson si se cumplen las siguientes condiciones: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dirty="0"/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s-CR" dirty="0"/>
                  <a:t>El número de ocurrencias en subintervalos que no se traslapan son independientes.</a:t>
                </a:r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s-CR" dirty="0"/>
                  <a:t>La probabilidad exacta de una ocurrencia en un subintervalo de tiempo suficientemente corto de tamaño </a:t>
                </a:r>
                <a:r>
                  <a:rPr lang="es-CR" b="1" i="1" dirty="0"/>
                  <a:t>h </a:t>
                </a:r>
                <a:r>
                  <a:rPr lang="es-CR" dirty="0"/>
                  <a:t>es aproximadamente </a:t>
                </a:r>
                <a:r>
                  <a:rPr lang="el-GR" b="1" i="1" dirty="0"/>
                  <a:t>λ</a:t>
                </a:r>
                <a:r>
                  <a:rPr lang="es-CR" b="1" i="1" dirty="0"/>
                  <a:t>h</a:t>
                </a:r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s-CR" dirty="0"/>
                  <a:t>La probabilidad de que dos o más eventos ocurran en un intervalo de tiempo suficientemente corto es cero.</a:t>
                </a:r>
              </a:p>
              <a:p>
                <a:pPr algn="just"/>
                <a:endParaRPr lang="es-CR" b="1" i="1" dirty="0"/>
              </a:p>
              <a:p>
                <a:pPr algn="just"/>
                <a:r>
                  <a:rPr lang="es-CR" b="1" i="1" dirty="0"/>
                  <a:t>                        </a:t>
                </a:r>
                <a:r>
                  <a:rPr lang="es-CR" b="1" i="1" dirty="0" err="1"/>
                  <a:t>Pmf</a:t>
                </a:r>
                <a:r>
                  <a:rPr lang="es-CR" b="1" i="1" dirty="0"/>
                  <a:t>: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sup>
                    </m:sSup>
                    <m:f>
                      <m:f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C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e>
                          <m:sup>
                            <m:r>
                              <a:rPr lang="es-C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p>
                      </m:num>
                      <m:den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s-CR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R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s-CR" b="1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s-CR" b="1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CR" b="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s-CR" b="1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CR" b="0" dirty="0"/>
                  <a:t>     </a:t>
                </a:r>
              </a:p>
              <a:p>
                <a:pPr algn="just"/>
                <a:r>
                  <a:rPr lang="es-CR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rad>
                  </m:oMath>
                </a14:m>
                <a:endParaRPr lang="es-C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b="1" i="1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BE5FF1-FC57-2676-A238-9D9891221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01952"/>
                <a:ext cx="10375392" cy="4946675"/>
              </a:xfrm>
              <a:prstGeom prst="rect">
                <a:avLst/>
              </a:prstGeom>
              <a:blipFill>
                <a:blip r:embed="rId2"/>
                <a:stretch>
                  <a:fillRect l="-353" t="-617" r="-47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8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4BB8-1ECA-58CB-52C6-93C3874B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Distribución 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C38F31-038F-9567-F655-2437B40F7E75}"/>
                  </a:ext>
                </a:extLst>
              </p:cNvPr>
              <p:cNvSpPr txBox="1"/>
              <p:nvPr/>
            </p:nvSpPr>
            <p:spPr>
              <a:xfrm>
                <a:off x="914400" y="1901952"/>
                <a:ext cx="10375392" cy="2604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CR" dirty="0"/>
                  <a:t>Corresponde a la distribución de probabilidad más común en estadística.</a:t>
                </a:r>
              </a:p>
              <a:p>
                <a:pPr algn="just"/>
                <a:endParaRPr lang="es-CR" b="1" i="1" dirty="0"/>
              </a:p>
              <a:p>
                <a:pPr algn="just"/>
                <a:r>
                  <a:rPr lang="es-CR" b="1" i="1" dirty="0"/>
                  <a:t>                        </a:t>
                </a:r>
                <a:r>
                  <a:rPr lang="es-CR" b="1" i="1" dirty="0" err="1"/>
                  <a:t>Pdf</a:t>
                </a:r>
                <a:r>
                  <a:rPr lang="es-CR" b="1" i="1" dirty="0"/>
                  <a:t>: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CR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s-C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  <m:sSup>
                              <m:sSupPr>
                                <m:ctrlP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p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s-CR" b="1" i="1" smtClean="0">
                        <a:latin typeface="Cambria Math" panose="02040503050406030204" pitchFamily="18" charset="0"/>
                      </a:rPr>
                      <m:t>𝒆𝒙𝒑</m:t>
                    </m:r>
                    <m:d>
                      <m:dPr>
                        <m:begChr m:val="{"/>
                        <m:endChr m:val="}"/>
                        <m:ctrlPr>
                          <a:rPr lang="es-C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CR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s-C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p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CR" b="1" i="1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s-CR" b="1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s-CR" b="1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CR" b="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s-CR" b="1" dirty="0">
                    <a:ea typeface="Cambria Math" panose="020405030504060302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𝑽𝒂𝒓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R" b="0" dirty="0"/>
              </a:p>
              <a:p>
                <a:pPr algn="just"/>
                <a:r>
                  <a:rPr lang="es-CR" dirty="0">
                    <a:ea typeface="Cambria Math" panose="02040503050406030204" pitchFamily="18" charset="0"/>
                  </a:rPr>
                  <a:t>                                  </a:t>
                </a:r>
                <a:endParaRPr lang="es-C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b="1" i="1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C38F31-038F-9567-F655-2437B40F7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01952"/>
                <a:ext cx="10375392" cy="2604559"/>
              </a:xfrm>
              <a:prstGeom prst="rect">
                <a:avLst/>
              </a:prstGeom>
              <a:blipFill>
                <a:blip r:embed="rId2"/>
                <a:stretch>
                  <a:fillRect l="-353" t="-117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0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71DA61-1749-C9E7-0EBC-7568010B3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Vamos a R….</a:t>
            </a:r>
          </a:p>
        </p:txBody>
      </p:sp>
    </p:spTree>
    <p:extLst>
      <p:ext uri="{BB962C8B-B14F-4D97-AF65-F5344CB8AC3E}">
        <p14:creationId xmlns:p14="http://schemas.microsoft.com/office/powerpoint/2010/main" val="1049753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8D5-5DA1-6272-AD6B-F372D3C6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191204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187B92-39EC-CB5B-B99F-D4BBC07C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14DE1C-3862-E2FD-6F16-74E2CECAB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>
            <a:normAutofit/>
          </a:bodyPr>
          <a:lstStyle/>
          <a:p>
            <a:r>
              <a:rPr lang="en-US" sz="2000" dirty="0" err="1"/>
              <a:t>Genere</a:t>
            </a:r>
            <a:r>
              <a:rPr lang="en-US" sz="2000" dirty="0"/>
              <a:t> 3 conjuntos de </a:t>
            </a:r>
            <a:r>
              <a:rPr lang="en-US" sz="2000" dirty="0" err="1"/>
              <a:t>datos</a:t>
            </a:r>
            <a:r>
              <a:rPr lang="en-US" sz="2000" dirty="0"/>
              <a:t> con los </a:t>
            </a:r>
            <a:r>
              <a:rPr lang="en-US" sz="2000" dirty="0" err="1"/>
              <a:t>siguentes</a:t>
            </a:r>
            <a:r>
              <a:rPr lang="en-US" sz="2000" dirty="0"/>
              <a:t> </a:t>
            </a:r>
            <a:r>
              <a:rPr lang="en-US" sz="2000" dirty="0" err="1"/>
              <a:t>parámetros</a:t>
            </a:r>
            <a:r>
              <a:rPr lang="en-US" sz="2000" dirty="0"/>
              <a:t> y </a:t>
            </a:r>
            <a:r>
              <a:rPr lang="en-US" sz="2000" dirty="0" err="1"/>
              <a:t>grafiquelos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s-CR" sz="2000" dirty="0" err="1"/>
              <a:t>rpois</a:t>
            </a:r>
            <a:r>
              <a:rPr lang="es-CR" sz="2000" dirty="0"/>
              <a:t>(n = 10, lambda = 40)</a:t>
            </a:r>
          </a:p>
          <a:p>
            <a:pPr marL="514350" indent="-514350">
              <a:buFont typeface="+mj-lt"/>
              <a:buAutoNum type="arabicPeriod"/>
            </a:pPr>
            <a:r>
              <a:rPr lang="es-CR" sz="2000" dirty="0" err="1"/>
              <a:t>rpois</a:t>
            </a:r>
            <a:r>
              <a:rPr lang="es-CR" sz="2000" dirty="0"/>
              <a:t>(n = 20, lambda = 40)</a:t>
            </a:r>
          </a:p>
          <a:p>
            <a:pPr marL="514350" indent="-514350">
              <a:buFont typeface="+mj-lt"/>
              <a:buAutoNum type="arabicPeriod"/>
            </a:pPr>
            <a:r>
              <a:rPr lang="es-CR" sz="2000" dirty="0" err="1"/>
              <a:t>rpois</a:t>
            </a:r>
            <a:r>
              <a:rPr lang="es-CR" sz="2000" dirty="0"/>
              <a:t>(n = 10000, lambda = 40)</a:t>
            </a:r>
          </a:p>
          <a:p>
            <a:pPr marL="0" indent="0">
              <a:buNone/>
            </a:pPr>
            <a:endParaRPr lang="es-CR" sz="2000" dirty="0"/>
          </a:p>
          <a:p>
            <a:pPr marL="0" indent="0">
              <a:buNone/>
            </a:pPr>
            <a:r>
              <a:rPr lang="es-CR" sz="2000" b="1" dirty="0"/>
              <a:t>¿Qué </a:t>
            </a:r>
            <a:r>
              <a:rPr lang="es-CR" sz="2000" b="1" dirty="0" err="1"/>
              <a:t>conluyen</a:t>
            </a:r>
            <a:r>
              <a:rPr lang="es-CR" sz="2000" b="1" dirty="0"/>
              <a:t> de los gráficos?</a:t>
            </a:r>
          </a:p>
          <a:p>
            <a:pPr marL="514350" indent="-514350">
              <a:buFont typeface="+mj-lt"/>
              <a:buAutoNum type="arabicPeriod"/>
            </a:pPr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407194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 K. 2024.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Springer International Publishing. </a:t>
            </a:r>
            <a:r>
              <a:rPr lang="en-US" b="0" i="0" u="sng" dirty="0">
                <a:effectLst/>
                <a:latin typeface="Source Sans Pro" panose="020B0503030403020204" pitchFamily="34" charset="0"/>
                <a:hlinkClick r:id="rId2"/>
              </a:rPr>
              <a:t>https://doi.org/10.1007/978-3-031-37865-2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75904549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6236</TotalTime>
  <Words>804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Teoría Estadística y métodos cuantitativos</vt:lpstr>
      <vt:lpstr>Contenido</vt:lpstr>
      <vt:lpstr>Distribución de Probabilidad</vt:lpstr>
      <vt:lpstr>Esperanza Matemática</vt:lpstr>
      <vt:lpstr>Varianza de una variable aleatoria</vt:lpstr>
      <vt:lpstr>Distribución de Bernoulli</vt:lpstr>
      <vt:lpstr>Distribución Binomial</vt:lpstr>
      <vt:lpstr>Distribución de Poisson</vt:lpstr>
      <vt:lpstr>Distribución Normal</vt:lpstr>
      <vt:lpstr>Vamos a R….</vt:lpstr>
      <vt:lpstr>Ejercicio</vt:lpstr>
      <vt:lpstr>Ejercicio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23</cp:revision>
  <dcterms:created xsi:type="dcterms:W3CDTF">2023-02-23T21:29:48Z</dcterms:created>
  <dcterms:modified xsi:type="dcterms:W3CDTF">2026-06-12T02:31:19Z</dcterms:modified>
</cp:coreProperties>
</file>