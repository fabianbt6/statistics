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54" r:id="rId2"/>
    <p:sldId id="382" r:id="rId3"/>
    <p:sldId id="432" r:id="rId4"/>
    <p:sldId id="443" r:id="rId5"/>
    <p:sldId id="433" r:id="rId6"/>
    <p:sldId id="435" r:id="rId7"/>
    <p:sldId id="436" r:id="rId8"/>
    <p:sldId id="447" r:id="rId9"/>
    <p:sldId id="448" r:id="rId10"/>
    <p:sldId id="449" r:id="rId11"/>
    <p:sldId id="450" r:id="rId12"/>
    <p:sldId id="444" r:id="rId13"/>
    <p:sldId id="452" r:id="rId14"/>
    <p:sldId id="453" r:id="rId15"/>
    <p:sldId id="454" r:id="rId16"/>
    <p:sldId id="455" r:id="rId17"/>
    <p:sldId id="456" r:id="rId18"/>
    <p:sldId id="457" r:id="rId19"/>
    <p:sldId id="458" r:id="rId20"/>
    <p:sldId id="459" r:id="rId21"/>
    <p:sldId id="460" r:id="rId22"/>
    <p:sldId id="415" r:id="rId23"/>
    <p:sldId id="446" r:id="rId24"/>
    <p:sldId id="395" r:id="rId25"/>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9F"/>
    <a:srgbClr val="FFFFFF"/>
    <a:srgbClr val="E31D93"/>
    <a:srgbClr val="00B2E3"/>
    <a:srgbClr val="FFD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89422" autoAdjust="0"/>
  </p:normalViewPr>
  <p:slideViewPr>
    <p:cSldViewPr snapToGrid="0">
      <p:cViewPr varScale="1">
        <p:scale>
          <a:sx n="110" d="100"/>
          <a:sy n="110" d="100"/>
        </p:scale>
        <p:origin x="5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Brenes" userId="0a98a788-2542-4baf-b081-64ee1e965425" providerId="ADAL" clId="{3D44E08D-C675-4D64-922C-0261EF110F0B}"/>
    <pc:docChg chg="undo custSel addSld delSld modSld sldOrd">
      <pc:chgData name="Fabian Brenes" userId="0a98a788-2542-4baf-b081-64ee1e965425" providerId="ADAL" clId="{3D44E08D-C675-4D64-922C-0261EF110F0B}" dt="2026-07-10T20:40:12.711" v="3562" actId="20577"/>
      <pc:docMkLst>
        <pc:docMk/>
      </pc:docMkLst>
      <pc:sldChg chg="modSp mod">
        <pc:chgData name="Fabian Brenes" userId="0a98a788-2542-4baf-b081-64ee1e965425" providerId="ADAL" clId="{3D44E08D-C675-4D64-922C-0261EF110F0B}" dt="2026-07-10T20:40:12.711" v="3562" actId="20577"/>
        <pc:sldMkLst>
          <pc:docMk/>
          <pc:sldMk cId="900078694" sldId="382"/>
        </pc:sldMkLst>
        <pc:spChg chg="mod">
          <ac:chgData name="Fabian Brenes" userId="0a98a788-2542-4baf-b081-64ee1e965425" providerId="ADAL" clId="{3D44E08D-C675-4D64-922C-0261EF110F0B}" dt="2026-07-10T20:40:12.711" v="3562" actId="20577"/>
          <ac:spMkLst>
            <pc:docMk/>
            <pc:sldMk cId="900078694" sldId="382"/>
            <ac:spMk id="5" creationId="{6D542AB4-C6E9-CFD1-1545-A52B284137FA}"/>
          </ac:spMkLst>
        </pc:spChg>
      </pc:sldChg>
      <pc:sldChg chg="addSp delSp modSp new mod modClrScheme chgLayout">
        <pc:chgData name="Fabian Brenes" userId="0a98a788-2542-4baf-b081-64ee1e965425" providerId="ADAL" clId="{3D44E08D-C675-4D64-922C-0261EF110F0B}" dt="2026-07-10T20:39:45.911" v="3549" actId="20577"/>
        <pc:sldMkLst>
          <pc:docMk/>
          <pc:sldMk cId="1241570976" sldId="460"/>
        </pc:sldMkLst>
        <pc:spChg chg="del mod ord">
          <ac:chgData name="Fabian Brenes" userId="0a98a788-2542-4baf-b081-64ee1e965425" providerId="ADAL" clId="{3D44E08D-C675-4D64-922C-0261EF110F0B}" dt="2026-07-10T20:39:41.088" v="3538" actId="700"/>
          <ac:spMkLst>
            <pc:docMk/>
            <pc:sldMk cId="1241570976" sldId="460"/>
            <ac:spMk id="2" creationId="{C2505124-296C-5C13-BAD6-64C9AAD7A567}"/>
          </ac:spMkLst>
        </pc:spChg>
        <pc:spChg chg="del">
          <ac:chgData name="Fabian Brenes" userId="0a98a788-2542-4baf-b081-64ee1e965425" providerId="ADAL" clId="{3D44E08D-C675-4D64-922C-0261EF110F0B}" dt="2026-07-10T20:39:41.088" v="3538" actId="700"/>
          <ac:spMkLst>
            <pc:docMk/>
            <pc:sldMk cId="1241570976" sldId="460"/>
            <ac:spMk id="3" creationId="{2D66173A-AA4B-F4DC-A4E9-969E43F0DCCF}"/>
          </ac:spMkLst>
        </pc:spChg>
        <pc:spChg chg="del">
          <ac:chgData name="Fabian Brenes" userId="0a98a788-2542-4baf-b081-64ee1e965425" providerId="ADAL" clId="{3D44E08D-C675-4D64-922C-0261EF110F0B}" dt="2026-07-10T20:39:41.088" v="3538" actId="700"/>
          <ac:spMkLst>
            <pc:docMk/>
            <pc:sldMk cId="1241570976" sldId="460"/>
            <ac:spMk id="4" creationId="{6B80820C-29FD-0055-4596-C6ED21B13A25}"/>
          </ac:spMkLst>
        </pc:spChg>
        <pc:spChg chg="add mod ord">
          <ac:chgData name="Fabian Brenes" userId="0a98a788-2542-4baf-b081-64ee1e965425" providerId="ADAL" clId="{3D44E08D-C675-4D64-922C-0261EF110F0B}" dt="2026-07-10T20:39:45.911" v="3549" actId="20577"/>
          <ac:spMkLst>
            <pc:docMk/>
            <pc:sldMk cId="1241570976" sldId="460"/>
            <ac:spMk id="5" creationId="{34D90DD4-0B11-CC56-42FE-7E0492064F4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90E02-228F-4EE4-B8DB-40CD5C605F12}" type="datetimeFigureOut">
              <a:rPr lang="es-CR" smtClean="0"/>
              <a:t>10/7/2026</a:t>
            </a:fld>
            <a:endParaRPr lang="es-C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678745-B1E6-4434-BB1A-E7B3F7352ADB}" type="slidenum">
              <a:rPr lang="es-CR" smtClean="0"/>
              <a:t>‹#›</a:t>
            </a:fld>
            <a:endParaRPr lang="es-CR"/>
          </a:p>
        </p:txBody>
      </p:sp>
    </p:spTree>
    <p:extLst>
      <p:ext uri="{BB962C8B-B14F-4D97-AF65-F5344CB8AC3E}">
        <p14:creationId xmlns:p14="http://schemas.microsoft.com/office/powerpoint/2010/main" val="3853189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75F2A3D7-D255-7DCD-6AEE-4A3CB82FF3F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435" t="3287" b="3287"/>
          <a:stretch/>
        </p:blipFill>
        <p:spPr>
          <a:xfrm>
            <a:off x="0" y="2494722"/>
            <a:ext cx="2600946" cy="956818"/>
          </a:xfrm>
          <a:prstGeom prst="rect">
            <a:avLst/>
          </a:prstGeom>
        </p:spPr>
      </p:pic>
      <p:sp>
        <p:nvSpPr>
          <p:cNvPr id="4" name="Título 1">
            <a:extLst>
              <a:ext uri="{FF2B5EF4-FFF2-40B4-BE49-F238E27FC236}">
                <a16:creationId xmlns:a16="http://schemas.microsoft.com/office/drawing/2014/main" id="{05F754BB-255D-0FE5-FB11-2E7D44DB33D7}"/>
              </a:ext>
            </a:extLst>
          </p:cNvPr>
          <p:cNvSpPr>
            <a:spLocks noGrp="1"/>
          </p:cNvSpPr>
          <p:nvPr>
            <p:ph type="ctrTitle" hasCustomPrompt="1"/>
          </p:nvPr>
        </p:nvSpPr>
        <p:spPr>
          <a:xfrm>
            <a:off x="2926443" y="1176898"/>
            <a:ext cx="7794913" cy="2252102"/>
          </a:xfrm>
          <a:prstGeom prst="rect">
            <a:avLst/>
          </a:prstGeom>
        </p:spPr>
        <p:txBody>
          <a:bodyPr anchor="b">
            <a:normAutofit/>
          </a:bodyPr>
          <a:lstStyle>
            <a:lvl1pPr algn="l">
              <a:defRPr sz="6000" b="1" i="0">
                <a:solidFill>
                  <a:schemeClr val="bg1"/>
                </a:solidFill>
                <a:latin typeface="Trust Sans Black" pitchFamily="2" charset="77"/>
              </a:defRPr>
            </a:lvl1pPr>
          </a:lstStyle>
          <a:p>
            <a:r>
              <a:rPr lang="es-MX" dirty="0"/>
              <a:t>CLICK TO ADD TITLE</a:t>
            </a:r>
            <a:endParaRPr lang="es-CR" dirty="0"/>
          </a:p>
        </p:txBody>
      </p:sp>
      <p:sp>
        <p:nvSpPr>
          <p:cNvPr id="5" name="Subtítulo 2">
            <a:extLst>
              <a:ext uri="{FF2B5EF4-FFF2-40B4-BE49-F238E27FC236}">
                <a16:creationId xmlns:a16="http://schemas.microsoft.com/office/drawing/2014/main" id="{8FFE5A59-DA03-60BF-23E2-491F1C0AB5C6}"/>
              </a:ext>
            </a:extLst>
          </p:cNvPr>
          <p:cNvSpPr>
            <a:spLocks noGrp="1"/>
          </p:cNvSpPr>
          <p:nvPr>
            <p:ph type="subTitle" idx="1" hasCustomPrompt="1"/>
          </p:nvPr>
        </p:nvSpPr>
        <p:spPr>
          <a:xfrm>
            <a:off x="2926444" y="4165636"/>
            <a:ext cx="7794912" cy="957689"/>
          </a:xfrm>
        </p:spPr>
        <p:txBody>
          <a:bodyPr/>
          <a:lstStyle>
            <a:lvl1pPr marL="0" indent="0" algn="l">
              <a:buNone/>
              <a:defRPr sz="2400" b="0" i="0">
                <a:solidFill>
                  <a:schemeClr val="bg1"/>
                </a:solidFill>
                <a:latin typeface="Trus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Click to add subtitle</a:t>
            </a:r>
            <a:endParaRPr lang="es-CR" dirty="0"/>
          </a:p>
        </p:txBody>
      </p:sp>
      <p:cxnSp>
        <p:nvCxnSpPr>
          <p:cNvPr id="6" name="Conector recto 5">
            <a:extLst>
              <a:ext uri="{FF2B5EF4-FFF2-40B4-BE49-F238E27FC236}">
                <a16:creationId xmlns:a16="http://schemas.microsoft.com/office/drawing/2014/main" id="{4942F5F3-D9C5-32A4-1D88-43EF7BE18CE7}"/>
              </a:ext>
            </a:extLst>
          </p:cNvPr>
          <p:cNvCxnSpPr>
            <a:cxnSpLocks/>
          </p:cNvCxnSpPr>
          <p:nvPr userDrawn="1"/>
        </p:nvCxnSpPr>
        <p:spPr>
          <a:xfrm>
            <a:off x="2926444" y="3741684"/>
            <a:ext cx="7794913" cy="0"/>
          </a:xfrm>
          <a:prstGeom prst="line">
            <a:avLst/>
          </a:prstGeom>
          <a:ln w="76200" cap="rnd">
            <a:solidFill>
              <a:srgbClr val="FFD600"/>
            </a:solidFill>
            <a:beve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197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portada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43BE044-ED31-3F60-3A2F-7E880992B3D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38200" y="2735376"/>
            <a:ext cx="1139757" cy="712348"/>
          </a:xfrm>
          <a:prstGeom prst="rect">
            <a:avLst/>
          </a:prstGeom>
        </p:spPr>
      </p:pic>
      <p:sp>
        <p:nvSpPr>
          <p:cNvPr id="2" name="Título 1">
            <a:extLst>
              <a:ext uri="{FF2B5EF4-FFF2-40B4-BE49-F238E27FC236}">
                <a16:creationId xmlns:a16="http://schemas.microsoft.com/office/drawing/2014/main" id="{AA441604-9A2B-F58B-7730-B0BA9FF9D2E1}"/>
              </a:ext>
            </a:extLst>
          </p:cNvPr>
          <p:cNvSpPr>
            <a:spLocks noGrp="1"/>
          </p:cNvSpPr>
          <p:nvPr>
            <p:ph type="ctrTitle" hasCustomPrompt="1"/>
          </p:nvPr>
        </p:nvSpPr>
        <p:spPr>
          <a:xfrm>
            <a:off x="2154452" y="2454966"/>
            <a:ext cx="7077635" cy="2057400"/>
          </a:xfrm>
          <a:prstGeom prst="rect">
            <a:avLst/>
          </a:prstGeom>
        </p:spPr>
        <p:txBody>
          <a:bodyPr anchor="b">
            <a:normAutofit/>
          </a:bodyPr>
          <a:lstStyle>
            <a:lvl1pPr algn="l">
              <a:defRPr sz="6600" b="1" i="0">
                <a:solidFill>
                  <a:schemeClr val="bg1"/>
                </a:solidFill>
                <a:latin typeface="Trust Sans Bold" pitchFamily="2" charset="77"/>
              </a:defRPr>
            </a:lvl1pPr>
          </a:lstStyle>
          <a:p>
            <a:r>
              <a:rPr lang="es-MX" dirty="0"/>
              <a:t>CLICK TO ADD TITLE</a:t>
            </a:r>
            <a:endParaRPr lang="es-CR" dirty="0"/>
          </a:p>
        </p:txBody>
      </p:sp>
    </p:spTree>
    <p:extLst>
      <p:ext uri="{BB962C8B-B14F-4D97-AF65-F5344CB8AC3E}">
        <p14:creationId xmlns:p14="http://schemas.microsoft.com/office/powerpoint/2010/main" val="1800499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portad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5D7F6B5-6E7F-9DFE-350A-5B76D265B4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33814" y="2735376"/>
            <a:ext cx="1139757" cy="712348"/>
          </a:xfrm>
          <a:prstGeom prst="rect">
            <a:avLst/>
          </a:prstGeom>
        </p:spPr>
      </p:pic>
      <p:sp>
        <p:nvSpPr>
          <p:cNvPr id="6" name="Título 1">
            <a:extLst>
              <a:ext uri="{FF2B5EF4-FFF2-40B4-BE49-F238E27FC236}">
                <a16:creationId xmlns:a16="http://schemas.microsoft.com/office/drawing/2014/main" id="{93C3988A-175F-3624-D13A-0B7D7469B586}"/>
              </a:ext>
            </a:extLst>
          </p:cNvPr>
          <p:cNvSpPr>
            <a:spLocks noGrp="1"/>
          </p:cNvSpPr>
          <p:nvPr>
            <p:ph type="ctrTitle" hasCustomPrompt="1"/>
          </p:nvPr>
        </p:nvSpPr>
        <p:spPr>
          <a:xfrm>
            <a:off x="2154452" y="2454966"/>
            <a:ext cx="7077635" cy="2057400"/>
          </a:xfrm>
          <a:prstGeom prst="rect">
            <a:avLst/>
          </a:prstGeom>
        </p:spPr>
        <p:txBody>
          <a:bodyPr anchor="b">
            <a:normAutofit/>
          </a:bodyPr>
          <a:lstStyle>
            <a:lvl1pPr algn="l">
              <a:defRPr sz="6600" b="1" i="0">
                <a:solidFill>
                  <a:srgbClr val="000F9F"/>
                </a:solidFill>
                <a:latin typeface="Trust Sans Bold" pitchFamily="2" charset="77"/>
              </a:defRPr>
            </a:lvl1pPr>
          </a:lstStyle>
          <a:p>
            <a:r>
              <a:rPr lang="es-MX" dirty="0"/>
              <a:t>CLICK TO ADD TITLE</a:t>
            </a:r>
            <a:endParaRPr lang="es-CR" dirty="0"/>
          </a:p>
        </p:txBody>
      </p:sp>
    </p:spTree>
    <p:extLst>
      <p:ext uri="{BB962C8B-B14F-4D97-AF65-F5344CB8AC3E}">
        <p14:creationId xmlns:p14="http://schemas.microsoft.com/office/powerpoint/2010/main" val="1325400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ido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90F0828-C61C-4406-DC2A-08D1B900E8F5}"/>
              </a:ext>
            </a:extLst>
          </p:cNvPr>
          <p:cNvSpPr>
            <a:spLocks noGrp="1"/>
          </p:cNvSpPr>
          <p:nvPr>
            <p:ph type="title" hasCustomPrompt="1"/>
          </p:nvPr>
        </p:nvSpPr>
        <p:spPr>
          <a:xfrm>
            <a:off x="1367444" y="585169"/>
            <a:ext cx="9807633" cy="871794"/>
          </a:xfrm>
          <a:prstGeom prst="rect">
            <a:avLst/>
          </a:prstGeom>
        </p:spPr>
        <p:txBody>
          <a:bodyPr>
            <a:normAutofit/>
          </a:bodyPr>
          <a:lstStyle>
            <a:lvl1pPr>
              <a:defRPr sz="4000" b="1" i="0">
                <a:solidFill>
                  <a:srgbClr val="000F9F"/>
                </a:solidFill>
                <a:latin typeface="Trust Sans Bold" pitchFamily="2" charset="77"/>
              </a:defRPr>
            </a:lvl1pPr>
          </a:lstStyle>
          <a:p>
            <a:r>
              <a:rPr lang="es-MX" dirty="0"/>
              <a:t>CLICK TO ADD TITLE</a:t>
            </a:r>
            <a:endParaRPr lang="es-CR" dirty="0"/>
          </a:p>
        </p:txBody>
      </p:sp>
      <p:sp>
        <p:nvSpPr>
          <p:cNvPr id="6" name="Marcador de contenido 2">
            <a:extLst>
              <a:ext uri="{FF2B5EF4-FFF2-40B4-BE49-F238E27FC236}">
                <a16:creationId xmlns:a16="http://schemas.microsoft.com/office/drawing/2014/main" id="{3C64957B-02E4-9B5C-8E18-E36EA9BA2633}"/>
              </a:ext>
            </a:extLst>
          </p:cNvPr>
          <p:cNvSpPr>
            <a:spLocks noGrp="1"/>
          </p:cNvSpPr>
          <p:nvPr>
            <p:ph sz="half" idx="1" hasCustomPrompt="1"/>
          </p:nvPr>
        </p:nvSpPr>
        <p:spPr>
          <a:xfrm>
            <a:off x="838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sp>
        <p:nvSpPr>
          <p:cNvPr id="7" name="Marcador de contenido 3">
            <a:extLst>
              <a:ext uri="{FF2B5EF4-FFF2-40B4-BE49-F238E27FC236}">
                <a16:creationId xmlns:a16="http://schemas.microsoft.com/office/drawing/2014/main" id="{C6D7E9F4-35B6-1C90-CF52-751FB46A8621}"/>
              </a:ext>
            </a:extLst>
          </p:cNvPr>
          <p:cNvSpPr>
            <a:spLocks noGrp="1"/>
          </p:cNvSpPr>
          <p:nvPr>
            <p:ph sz="half" idx="2" hasCustomPrompt="1"/>
          </p:nvPr>
        </p:nvSpPr>
        <p:spPr>
          <a:xfrm>
            <a:off x="6172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pic>
        <p:nvPicPr>
          <p:cNvPr id="8" name="Imagen 7">
            <a:extLst>
              <a:ext uri="{FF2B5EF4-FFF2-40B4-BE49-F238E27FC236}">
                <a16:creationId xmlns:a16="http://schemas.microsoft.com/office/drawing/2014/main" id="{1E37BC75-F084-050C-B722-406BB5C8011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86394" y="655266"/>
            <a:ext cx="781050" cy="488156"/>
          </a:xfrm>
          <a:prstGeom prst="rect">
            <a:avLst/>
          </a:prstGeom>
        </p:spPr>
      </p:pic>
      <p:cxnSp>
        <p:nvCxnSpPr>
          <p:cNvPr id="10" name="Conector recto 9">
            <a:extLst>
              <a:ext uri="{FF2B5EF4-FFF2-40B4-BE49-F238E27FC236}">
                <a16:creationId xmlns:a16="http://schemas.microsoft.com/office/drawing/2014/main" id="{278A961E-E13E-27B7-195D-9EA2B5A9AFBA}"/>
              </a:ext>
            </a:extLst>
          </p:cNvPr>
          <p:cNvCxnSpPr>
            <a:cxnSpLocks/>
          </p:cNvCxnSpPr>
          <p:nvPr userDrawn="1"/>
        </p:nvCxnSpPr>
        <p:spPr>
          <a:xfrm>
            <a:off x="586394" y="1677007"/>
            <a:ext cx="10192442" cy="0"/>
          </a:xfrm>
          <a:prstGeom prst="line">
            <a:avLst/>
          </a:prstGeom>
          <a:ln w="38100" cap="rnd">
            <a:solidFill>
              <a:srgbClr val="00B2E3"/>
            </a:solidFill>
            <a:beve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949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ido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7822B41A-10D2-12DC-7415-C3DFB5FFA594}"/>
              </a:ext>
            </a:extLst>
          </p:cNvPr>
          <p:cNvSpPr>
            <a:spLocks noGrp="1"/>
          </p:cNvSpPr>
          <p:nvPr>
            <p:ph type="subTitle" idx="1" hasCustomPrompt="1"/>
          </p:nvPr>
        </p:nvSpPr>
        <p:spPr>
          <a:xfrm>
            <a:off x="1094509" y="2526894"/>
            <a:ext cx="4420710" cy="2688945"/>
          </a:xfrm>
        </p:spPr>
        <p:txBody>
          <a:bodyPr>
            <a:normAutofit/>
          </a:bodyPr>
          <a:lstStyle>
            <a:lvl1pPr marL="0" indent="0" algn="l">
              <a:buNone/>
              <a:defRPr sz="1800">
                <a:solidFill>
                  <a:schemeClr val="tx1"/>
                </a:solidFill>
                <a:latin typeface="Trus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Click to add text </a:t>
            </a:r>
            <a:endParaRPr lang="es-CR" dirty="0"/>
          </a:p>
        </p:txBody>
      </p:sp>
      <p:sp>
        <p:nvSpPr>
          <p:cNvPr id="4" name="Título 1">
            <a:extLst>
              <a:ext uri="{FF2B5EF4-FFF2-40B4-BE49-F238E27FC236}">
                <a16:creationId xmlns:a16="http://schemas.microsoft.com/office/drawing/2014/main" id="{DEE44A15-0D2B-2A97-C607-CF9797EB139F}"/>
              </a:ext>
            </a:extLst>
          </p:cNvPr>
          <p:cNvSpPr>
            <a:spLocks noGrp="1"/>
          </p:cNvSpPr>
          <p:nvPr>
            <p:ph type="title" hasCustomPrompt="1"/>
          </p:nvPr>
        </p:nvSpPr>
        <p:spPr>
          <a:xfrm>
            <a:off x="1094509" y="771305"/>
            <a:ext cx="4420710" cy="1520719"/>
          </a:xfrm>
          <a:prstGeom prst="rect">
            <a:avLst/>
          </a:prstGeom>
        </p:spPr>
        <p:txBody>
          <a:bodyPr>
            <a:normAutofit/>
          </a:bodyPr>
          <a:lstStyle>
            <a:lvl1pPr algn="ctr">
              <a:defRPr sz="3600" b="1" i="0">
                <a:solidFill>
                  <a:srgbClr val="000F9F"/>
                </a:solidFill>
                <a:latin typeface="Trust Sans Bold" pitchFamily="2" charset="77"/>
              </a:defRPr>
            </a:lvl1pPr>
          </a:lstStyle>
          <a:p>
            <a:r>
              <a:rPr lang="es-MX" dirty="0"/>
              <a:t>Click to add title</a:t>
            </a:r>
            <a:endParaRPr lang="es-CR" dirty="0"/>
          </a:p>
        </p:txBody>
      </p:sp>
      <p:sp>
        <p:nvSpPr>
          <p:cNvPr id="5" name="Marcador de posición de imagen 2">
            <a:extLst>
              <a:ext uri="{FF2B5EF4-FFF2-40B4-BE49-F238E27FC236}">
                <a16:creationId xmlns:a16="http://schemas.microsoft.com/office/drawing/2014/main" id="{740D23F4-F7F1-B2AC-63CE-98E96B87EDA7}"/>
              </a:ext>
            </a:extLst>
          </p:cNvPr>
          <p:cNvSpPr>
            <a:spLocks noGrp="1"/>
          </p:cNvSpPr>
          <p:nvPr>
            <p:ph type="pic" idx="10" hasCustomPrompt="1"/>
          </p:nvPr>
        </p:nvSpPr>
        <p:spPr>
          <a:xfrm>
            <a:off x="5902036" y="771306"/>
            <a:ext cx="5453352" cy="4444534"/>
          </a:xfrm>
        </p:spPr>
        <p:txBody>
          <a:bodyPr>
            <a:normAutofit/>
          </a:bodyPr>
          <a:lstStyle>
            <a:lvl1pPr marL="0" indent="0">
              <a:buNone/>
              <a:defRPr sz="2000" b="0" i="0">
                <a:latin typeface="Trust Sans"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CR" dirty="0" err="1"/>
              <a:t>Click</a:t>
            </a:r>
            <a:r>
              <a:rPr lang="es-CR" dirty="0"/>
              <a:t> </a:t>
            </a:r>
            <a:r>
              <a:rPr lang="es-CR" dirty="0" err="1"/>
              <a:t>to</a:t>
            </a:r>
            <a:r>
              <a:rPr lang="es-CR" dirty="0"/>
              <a:t> </a:t>
            </a:r>
            <a:r>
              <a:rPr lang="es-CR" dirty="0" err="1"/>
              <a:t>add</a:t>
            </a:r>
            <a:r>
              <a:rPr lang="es-CR" dirty="0"/>
              <a:t> a </a:t>
            </a:r>
            <a:r>
              <a:rPr lang="es-CR" dirty="0" err="1"/>
              <a:t>image</a:t>
            </a:r>
            <a:endParaRPr lang="es-CR" dirty="0"/>
          </a:p>
        </p:txBody>
      </p:sp>
    </p:spTree>
    <p:extLst>
      <p:ext uri="{BB962C8B-B14F-4D97-AF65-F5344CB8AC3E}">
        <p14:creationId xmlns:p14="http://schemas.microsoft.com/office/powerpoint/2010/main" val="2082352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ítulo 2">
            <a:extLst>
              <a:ext uri="{FF2B5EF4-FFF2-40B4-BE49-F238E27FC236}">
                <a16:creationId xmlns:a16="http://schemas.microsoft.com/office/drawing/2014/main" id="{C70069F9-4D6A-A47A-AF4F-EED984AE3C84}"/>
              </a:ext>
            </a:extLst>
          </p:cNvPr>
          <p:cNvSpPr>
            <a:spLocks noGrp="1"/>
          </p:cNvSpPr>
          <p:nvPr>
            <p:ph type="subTitle" idx="1" hasCustomPrompt="1"/>
          </p:nvPr>
        </p:nvSpPr>
        <p:spPr>
          <a:xfrm>
            <a:off x="1328928" y="2511123"/>
            <a:ext cx="4420710" cy="2688945"/>
          </a:xfrm>
        </p:spPr>
        <p:txBody>
          <a:bodyPr>
            <a:normAutofit/>
          </a:bodyPr>
          <a:lstStyle>
            <a:lvl1pPr marL="0" indent="0" algn="l">
              <a:buNone/>
              <a:defRPr sz="1800">
                <a:solidFill>
                  <a:schemeClr val="tx1"/>
                </a:solidFill>
                <a:latin typeface="Trus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Click to add text </a:t>
            </a:r>
            <a:endParaRPr lang="es-CR" dirty="0"/>
          </a:p>
        </p:txBody>
      </p:sp>
      <p:sp>
        <p:nvSpPr>
          <p:cNvPr id="6" name="Título 1">
            <a:extLst>
              <a:ext uri="{FF2B5EF4-FFF2-40B4-BE49-F238E27FC236}">
                <a16:creationId xmlns:a16="http://schemas.microsoft.com/office/drawing/2014/main" id="{52FB0BBF-334E-02E6-E3B0-595FF2DA845C}"/>
              </a:ext>
            </a:extLst>
          </p:cNvPr>
          <p:cNvSpPr>
            <a:spLocks noGrp="1"/>
          </p:cNvSpPr>
          <p:nvPr>
            <p:ph type="title" hasCustomPrompt="1"/>
          </p:nvPr>
        </p:nvSpPr>
        <p:spPr>
          <a:xfrm>
            <a:off x="1328928" y="755534"/>
            <a:ext cx="4420710" cy="1520719"/>
          </a:xfrm>
          <a:prstGeom prst="rect">
            <a:avLst/>
          </a:prstGeom>
        </p:spPr>
        <p:txBody>
          <a:bodyPr>
            <a:normAutofit/>
          </a:bodyPr>
          <a:lstStyle>
            <a:lvl1pPr algn="ctr">
              <a:defRPr sz="3600" b="1" i="0">
                <a:solidFill>
                  <a:srgbClr val="000F9F"/>
                </a:solidFill>
                <a:latin typeface="Trust Sans Bold" pitchFamily="2" charset="77"/>
              </a:defRPr>
            </a:lvl1pPr>
          </a:lstStyle>
          <a:p>
            <a:r>
              <a:rPr lang="es-MX" dirty="0"/>
              <a:t>Click to add title</a:t>
            </a:r>
            <a:endParaRPr lang="es-CR" dirty="0"/>
          </a:p>
        </p:txBody>
      </p:sp>
      <p:sp>
        <p:nvSpPr>
          <p:cNvPr id="7" name="Marcador de contenido 3">
            <a:extLst>
              <a:ext uri="{FF2B5EF4-FFF2-40B4-BE49-F238E27FC236}">
                <a16:creationId xmlns:a16="http://schemas.microsoft.com/office/drawing/2014/main" id="{9719F092-9774-93FA-2C6C-7F477253B249}"/>
              </a:ext>
            </a:extLst>
          </p:cNvPr>
          <p:cNvSpPr>
            <a:spLocks noGrp="1"/>
          </p:cNvSpPr>
          <p:nvPr>
            <p:ph sz="half" idx="2" hasCustomPrompt="1"/>
          </p:nvPr>
        </p:nvSpPr>
        <p:spPr>
          <a:xfrm>
            <a:off x="6442363" y="698733"/>
            <a:ext cx="4918364" cy="4444534"/>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spTree>
    <p:extLst>
      <p:ext uri="{BB962C8B-B14F-4D97-AF65-F5344CB8AC3E}">
        <p14:creationId xmlns:p14="http://schemas.microsoft.com/office/powerpoint/2010/main" val="1588962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ndo liso + 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3588C353-EDDC-B884-9CAB-022D5154F4EF}"/>
              </a:ext>
            </a:extLst>
          </p:cNvPr>
          <p:cNvSpPr>
            <a:spLocks noGrp="1"/>
          </p:cNvSpPr>
          <p:nvPr>
            <p:ph sz="half" idx="1" hasCustomPrompt="1"/>
          </p:nvPr>
        </p:nvSpPr>
        <p:spPr>
          <a:xfrm>
            <a:off x="838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sp>
        <p:nvSpPr>
          <p:cNvPr id="6" name="Marcador de contenido 3">
            <a:extLst>
              <a:ext uri="{FF2B5EF4-FFF2-40B4-BE49-F238E27FC236}">
                <a16:creationId xmlns:a16="http://schemas.microsoft.com/office/drawing/2014/main" id="{5E2DD159-D272-5B1F-5E0C-14A3DC6252E6}"/>
              </a:ext>
            </a:extLst>
          </p:cNvPr>
          <p:cNvSpPr>
            <a:spLocks noGrp="1"/>
          </p:cNvSpPr>
          <p:nvPr>
            <p:ph sz="half" idx="2" hasCustomPrompt="1"/>
          </p:nvPr>
        </p:nvSpPr>
        <p:spPr>
          <a:xfrm>
            <a:off x="6172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cxnSp>
        <p:nvCxnSpPr>
          <p:cNvPr id="8" name="Conector recto 7">
            <a:extLst>
              <a:ext uri="{FF2B5EF4-FFF2-40B4-BE49-F238E27FC236}">
                <a16:creationId xmlns:a16="http://schemas.microsoft.com/office/drawing/2014/main" id="{7757F612-090F-A7EF-4E70-7AAD35CF72DC}"/>
              </a:ext>
            </a:extLst>
          </p:cNvPr>
          <p:cNvCxnSpPr>
            <a:cxnSpLocks/>
          </p:cNvCxnSpPr>
          <p:nvPr userDrawn="1"/>
        </p:nvCxnSpPr>
        <p:spPr>
          <a:xfrm>
            <a:off x="586394" y="1677007"/>
            <a:ext cx="10192442" cy="0"/>
          </a:xfrm>
          <a:prstGeom prst="line">
            <a:avLst/>
          </a:prstGeom>
          <a:ln w="38100" cap="rnd">
            <a:solidFill>
              <a:srgbClr val="00B2E3"/>
            </a:solidFill>
            <a:bevel/>
            <a:tailEnd type="none"/>
          </a:ln>
        </p:spPr>
        <p:style>
          <a:lnRef idx="1">
            <a:schemeClr val="accent1"/>
          </a:lnRef>
          <a:fillRef idx="0">
            <a:schemeClr val="accent1"/>
          </a:fillRef>
          <a:effectRef idx="0">
            <a:schemeClr val="accent1"/>
          </a:effectRef>
          <a:fontRef idx="minor">
            <a:schemeClr val="tx1"/>
          </a:fontRef>
        </p:style>
      </p:cxnSp>
      <p:sp>
        <p:nvSpPr>
          <p:cNvPr id="10" name="Título 1">
            <a:extLst>
              <a:ext uri="{FF2B5EF4-FFF2-40B4-BE49-F238E27FC236}">
                <a16:creationId xmlns:a16="http://schemas.microsoft.com/office/drawing/2014/main" id="{FC846CE2-3AED-AB04-9835-976A0147B75F}"/>
              </a:ext>
            </a:extLst>
          </p:cNvPr>
          <p:cNvSpPr>
            <a:spLocks noGrp="1"/>
          </p:cNvSpPr>
          <p:nvPr>
            <p:ph type="title" hasCustomPrompt="1"/>
          </p:nvPr>
        </p:nvSpPr>
        <p:spPr>
          <a:xfrm>
            <a:off x="1367444" y="585169"/>
            <a:ext cx="9807633" cy="871794"/>
          </a:xfrm>
          <a:prstGeom prst="rect">
            <a:avLst/>
          </a:prstGeom>
        </p:spPr>
        <p:txBody>
          <a:bodyPr>
            <a:normAutofit/>
          </a:bodyPr>
          <a:lstStyle>
            <a:lvl1pPr>
              <a:defRPr sz="4000" b="1" i="0">
                <a:solidFill>
                  <a:srgbClr val="000F9F"/>
                </a:solidFill>
                <a:latin typeface="Trust Sans Bold" pitchFamily="2" charset="77"/>
              </a:defRPr>
            </a:lvl1pPr>
          </a:lstStyle>
          <a:p>
            <a:r>
              <a:rPr lang="es-MX" dirty="0"/>
              <a:t>CLICK TO ADD TITLE</a:t>
            </a:r>
            <a:endParaRPr lang="es-CR" dirty="0"/>
          </a:p>
        </p:txBody>
      </p:sp>
      <p:pic>
        <p:nvPicPr>
          <p:cNvPr id="11" name="Imagen 7">
            <a:extLst>
              <a:ext uri="{FF2B5EF4-FFF2-40B4-BE49-F238E27FC236}">
                <a16:creationId xmlns:a16="http://schemas.microsoft.com/office/drawing/2014/main" id="{A5B6BF07-8364-9FED-F612-95E99DC32A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86394" y="655266"/>
            <a:ext cx="781050" cy="488156"/>
          </a:xfrm>
          <a:prstGeom prst="rect">
            <a:avLst/>
          </a:prstGeom>
        </p:spPr>
      </p:pic>
    </p:spTree>
    <p:extLst>
      <p:ext uri="{BB962C8B-B14F-4D97-AF65-F5344CB8AC3E}">
        <p14:creationId xmlns:p14="http://schemas.microsoft.com/office/powerpoint/2010/main" val="85356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ts (NO USAR)">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0F7BE623-D05C-AB7B-74E9-BF7866F7D484}"/>
              </a:ext>
            </a:extLst>
          </p:cNvPr>
          <p:cNvSpPr>
            <a:spLocks noGrp="1"/>
          </p:cNvSpPr>
          <p:nvPr>
            <p:ph type="title" hasCustomPrompt="1"/>
          </p:nvPr>
        </p:nvSpPr>
        <p:spPr>
          <a:xfrm>
            <a:off x="1192183" y="365125"/>
            <a:ext cx="9807633" cy="1325563"/>
          </a:xfrm>
          <a:prstGeom prst="rect">
            <a:avLst/>
          </a:prstGeom>
        </p:spPr>
        <p:txBody>
          <a:bodyPr>
            <a:normAutofit/>
          </a:bodyPr>
          <a:lstStyle>
            <a:lvl1pPr algn="ctr">
              <a:defRPr sz="4000" b="1" i="0">
                <a:solidFill>
                  <a:srgbClr val="000F9F"/>
                </a:solidFill>
                <a:latin typeface="Trust Sans Bold" pitchFamily="2" charset="77"/>
              </a:defRPr>
            </a:lvl1pPr>
          </a:lstStyle>
          <a:p>
            <a:r>
              <a:rPr lang="es-MX" dirty="0"/>
              <a:t>CLICK TO ADD TITLE</a:t>
            </a:r>
            <a:endParaRPr lang="es-CR" dirty="0"/>
          </a:p>
        </p:txBody>
      </p:sp>
      <p:cxnSp>
        <p:nvCxnSpPr>
          <p:cNvPr id="6" name="Conector recto 5">
            <a:extLst>
              <a:ext uri="{FF2B5EF4-FFF2-40B4-BE49-F238E27FC236}">
                <a16:creationId xmlns:a16="http://schemas.microsoft.com/office/drawing/2014/main" id="{F3F1B8A1-C662-D115-0579-1F78DFAED100}"/>
              </a:ext>
            </a:extLst>
          </p:cNvPr>
          <p:cNvCxnSpPr>
            <a:cxnSpLocks/>
          </p:cNvCxnSpPr>
          <p:nvPr userDrawn="1"/>
        </p:nvCxnSpPr>
        <p:spPr>
          <a:xfrm>
            <a:off x="999779" y="1677007"/>
            <a:ext cx="10192442" cy="0"/>
          </a:xfrm>
          <a:prstGeom prst="line">
            <a:avLst/>
          </a:prstGeom>
          <a:ln w="38100" cap="rnd">
            <a:solidFill>
              <a:srgbClr val="00B2E3"/>
            </a:solidFill>
            <a:beve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011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4E6B-8ED0-1A0E-9981-00C1D28AC9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46B6CF-A793-667E-DFBB-6606EFB100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48E7DB-55BF-03D2-747C-3E850277C95F}"/>
              </a:ext>
            </a:extLst>
          </p:cNvPr>
          <p:cNvSpPr>
            <a:spLocks noGrp="1"/>
          </p:cNvSpPr>
          <p:nvPr>
            <p:ph type="dt" sz="half" idx="10"/>
          </p:nvPr>
        </p:nvSpPr>
        <p:spPr/>
        <p:txBody>
          <a:bodyPr/>
          <a:lstStyle/>
          <a:p>
            <a:fld id="{1DFC3DDB-3254-4B44-AF1A-1332E3F263AA}" type="datetimeFigureOut">
              <a:rPr lang="en-US" smtClean="0"/>
              <a:t>7/10/2026</a:t>
            </a:fld>
            <a:endParaRPr lang="en-US"/>
          </a:p>
        </p:txBody>
      </p:sp>
      <p:sp>
        <p:nvSpPr>
          <p:cNvPr id="5" name="Footer Placeholder 4">
            <a:extLst>
              <a:ext uri="{FF2B5EF4-FFF2-40B4-BE49-F238E27FC236}">
                <a16:creationId xmlns:a16="http://schemas.microsoft.com/office/drawing/2014/main" id="{4A6E244A-B1DD-9755-2D40-610B86172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9798C-0384-56F2-CEBE-2C5FA81B9918}"/>
              </a:ext>
            </a:extLst>
          </p:cNvPr>
          <p:cNvSpPr>
            <a:spLocks noGrp="1"/>
          </p:cNvSpPr>
          <p:nvPr>
            <p:ph type="sldNum" sz="quarter" idx="12"/>
          </p:nvPr>
        </p:nvSpPr>
        <p:spPr/>
        <p:txBody>
          <a:bodyPr/>
          <a:lstStyle/>
          <a:p>
            <a:fld id="{63F6D993-70CC-49F7-B403-AE2621891486}" type="slidenum">
              <a:rPr lang="en-US" smtClean="0"/>
              <a:t>‹#›</a:t>
            </a:fld>
            <a:endParaRPr lang="en-US"/>
          </a:p>
        </p:txBody>
      </p:sp>
    </p:spTree>
    <p:extLst>
      <p:ext uri="{BB962C8B-B14F-4D97-AF65-F5344CB8AC3E}">
        <p14:creationId xmlns:p14="http://schemas.microsoft.com/office/powerpoint/2010/main" val="260036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4E659041-7ADC-62BC-6910-5620613E9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R"/>
          </a:p>
        </p:txBody>
      </p:sp>
      <p:sp>
        <p:nvSpPr>
          <p:cNvPr id="4" name="Marcador de fecha 3">
            <a:extLst>
              <a:ext uri="{FF2B5EF4-FFF2-40B4-BE49-F238E27FC236}">
                <a16:creationId xmlns:a16="http://schemas.microsoft.com/office/drawing/2014/main" id="{340333AB-DD6B-8268-4367-48E8155074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A3ADE5-809A-F847-849A-CF38205A1D8E}" type="datetimeFigureOut">
              <a:rPr lang="es-CR" smtClean="0"/>
              <a:t>10/7/2026</a:t>
            </a:fld>
            <a:endParaRPr lang="es-CR"/>
          </a:p>
        </p:txBody>
      </p:sp>
      <p:sp>
        <p:nvSpPr>
          <p:cNvPr id="6" name="Marcador de número de diapositiva 5">
            <a:extLst>
              <a:ext uri="{FF2B5EF4-FFF2-40B4-BE49-F238E27FC236}">
                <a16:creationId xmlns:a16="http://schemas.microsoft.com/office/drawing/2014/main" id="{EB71165C-2410-72E9-B41A-2B2E95CD3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356CB7-7D20-A748-9388-BFDA1817F9B8}" type="slidenum">
              <a:rPr lang="es-CR" smtClean="0"/>
              <a:t>‹#›</a:t>
            </a:fld>
            <a:endParaRPr lang="es-CR"/>
          </a:p>
        </p:txBody>
      </p:sp>
    </p:spTree>
    <p:extLst>
      <p:ext uri="{BB962C8B-B14F-4D97-AF65-F5344CB8AC3E}">
        <p14:creationId xmlns:p14="http://schemas.microsoft.com/office/powerpoint/2010/main" val="563156582"/>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2" r:id="rId4"/>
    <p:sldLayoutId id="2147483653" r:id="rId5"/>
    <p:sldLayoutId id="2147483659" r:id="rId6"/>
    <p:sldLayoutId id="2147483656" r:id="rId7"/>
    <p:sldLayoutId id="2147483657" r:id="rId8"/>
    <p:sldLayoutId id="2147483660"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doi.org/10.1007/978-3-031-37865-2"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D761F7-B769-3D43-00ED-0BFDC3AC7954}"/>
              </a:ext>
            </a:extLst>
          </p:cNvPr>
          <p:cNvSpPr>
            <a:spLocks noGrp="1"/>
          </p:cNvSpPr>
          <p:nvPr>
            <p:ph type="ctrTitle"/>
          </p:nvPr>
        </p:nvSpPr>
        <p:spPr/>
        <p:txBody>
          <a:bodyPr>
            <a:normAutofit/>
          </a:bodyPr>
          <a:lstStyle/>
          <a:p>
            <a:r>
              <a:rPr lang="es-CR" dirty="0"/>
              <a:t>Unidad 5: Estimación e intervalos de confianza</a:t>
            </a:r>
          </a:p>
        </p:txBody>
      </p:sp>
      <p:sp>
        <p:nvSpPr>
          <p:cNvPr id="3" name="Subtítulo 2">
            <a:extLst>
              <a:ext uri="{FF2B5EF4-FFF2-40B4-BE49-F238E27FC236}">
                <a16:creationId xmlns:a16="http://schemas.microsoft.com/office/drawing/2014/main" id="{E6633BDD-7A3E-2C4B-BEF9-52FFB3723897}"/>
              </a:ext>
            </a:extLst>
          </p:cNvPr>
          <p:cNvSpPr>
            <a:spLocks noGrp="1"/>
          </p:cNvSpPr>
          <p:nvPr>
            <p:ph type="subTitle" idx="1"/>
          </p:nvPr>
        </p:nvSpPr>
        <p:spPr>
          <a:xfrm>
            <a:off x="2846057" y="4055104"/>
            <a:ext cx="7794912" cy="957689"/>
          </a:xfrm>
        </p:spPr>
        <p:txBody>
          <a:bodyPr>
            <a:normAutofit/>
          </a:bodyPr>
          <a:lstStyle/>
          <a:p>
            <a:r>
              <a:rPr lang="es-CR" dirty="0" err="1"/>
              <a:t>Prof</a:t>
            </a:r>
            <a:r>
              <a:rPr lang="es-CR" dirty="0"/>
              <a:t>: Fabián Brenes Trejos</a:t>
            </a:r>
          </a:p>
        </p:txBody>
      </p:sp>
    </p:spTree>
    <p:extLst>
      <p:ext uri="{BB962C8B-B14F-4D97-AF65-F5344CB8AC3E}">
        <p14:creationId xmlns:p14="http://schemas.microsoft.com/office/powerpoint/2010/main" val="3375381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1C7B05-9423-80AD-ABDC-E6E927A0E0CB}"/>
              </a:ext>
            </a:extLst>
          </p:cNvPr>
          <p:cNvSpPr>
            <a:spLocks noGrp="1"/>
          </p:cNvSpPr>
          <p:nvPr>
            <p:ph type="title"/>
          </p:nvPr>
        </p:nvSpPr>
        <p:spPr/>
        <p:txBody>
          <a:bodyPr/>
          <a:lstStyle/>
          <a:p>
            <a:r>
              <a:rPr lang="es-CR" dirty="0"/>
              <a:t>Contenido</a:t>
            </a:r>
          </a:p>
        </p:txBody>
      </p:sp>
      <p:sp>
        <p:nvSpPr>
          <p:cNvPr id="5" name="TextBox 4">
            <a:extLst>
              <a:ext uri="{FF2B5EF4-FFF2-40B4-BE49-F238E27FC236}">
                <a16:creationId xmlns:a16="http://schemas.microsoft.com/office/drawing/2014/main" id="{6D542AB4-C6E9-CFD1-1545-A52B284137FA}"/>
              </a:ext>
            </a:extLst>
          </p:cNvPr>
          <p:cNvSpPr txBox="1"/>
          <p:nvPr/>
        </p:nvSpPr>
        <p:spPr>
          <a:xfrm>
            <a:off x="932688" y="1792224"/>
            <a:ext cx="10326624" cy="4401205"/>
          </a:xfrm>
          <a:prstGeom prst="rect">
            <a:avLst/>
          </a:prstGeom>
          <a:noFill/>
        </p:spPr>
        <p:txBody>
          <a:bodyPr wrap="square" rtlCol="0">
            <a:spAutoFit/>
          </a:bodyPr>
          <a:lstStyle/>
          <a:p>
            <a:pPr marL="342900" indent="-342900">
              <a:buFont typeface="Arial" panose="020B0604020202020204" pitchFamily="34" charset="0"/>
              <a:buChar char="•"/>
            </a:pPr>
            <a:r>
              <a:rPr lang="es-MX" sz="2800" dirty="0"/>
              <a:t>Introducción</a:t>
            </a:r>
          </a:p>
          <a:p>
            <a:endParaRPr lang="es-MX" sz="2800" dirty="0"/>
          </a:p>
          <a:p>
            <a:pPr marL="342900" indent="-342900">
              <a:buFont typeface="Arial" panose="020B0604020202020204" pitchFamily="34" charset="0"/>
              <a:buChar char="•"/>
            </a:pPr>
            <a:r>
              <a:rPr lang="es-MX" sz="2800" dirty="0"/>
              <a:t>Intervalo de confianza de la media</a:t>
            </a:r>
          </a:p>
          <a:p>
            <a:pPr marL="342900" indent="-342900">
              <a:buFont typeface="Arial" panose="020B0604020202020204" pitchFamily="34" charset="0"/>
              <a:buChar char="•"/>
            </a:pPr>
            <a:endParaRPr lang="es-MX" sz="2800" dirty="0"/>
          </a:p>
          <a:p>
            <a:pPr marL="342900" indent="-342900">
              <a:buFont typeface="Arial" panose="020B0604020202020204" pitchFamily="34" charset="0"/>
              <a:buChar char="•"/>
            </a:pPr>
            <a:r>
              <a:rPr lang="es-MX" sz="2800" dirty="0"/>
              <a:t>Intervalo de confianza de una proporción</a:t>
            </a:r>
          </a:p>
          <a:p>
            <a:pPr marL="342900" indent="-342900">
              <a:buFont typeface="Arial" panose="020B0604020202020204" pitchFamily="34" charset="0"/>
              <a:buChar char="•"/>
            </a:pPr>
            <a:endParaRPr lang="es-MX" sz="2800" dirty="0"/>
          </a:p>
          <a:p>
            <a:pPr marL="342900" indent="-342900">
              <a:buFont typeface="Arial" panose="020B0604020202020204" pitchFamily="34" charset="0"/>
              <a:buChar char="•"/>
            </a:pPr>
            <a:r>
              <a:rPr lang="es-MX" sz="2800" dirty="0"/>
              <a:t>Laboratorio</a:t>
            </a:r>
          </a:p>
          <a:p>
            <a:pPr marL="342900" indent="-342900">
              <a:buFont typeface="Arial" panose="020B0604020202020204" pitchFamily="34" charset="0"/>
              <a:buChar char="•"/>
            </a:pPr>
            <a:endParaRPr lang="es-MX" sz="2800" dirty="0"/>
          </a:p>
          <a:p>
            <a:pPr marL="342900" indent="-342900">
              <a:buFont typeface="Arial" panose="020B0604020202020204" pitchFamily="34" charset="0"/>
              <a:buChar char="•"/>
            </a:pPr>
            <a:r>
              <a:rPr lang="es-MX" sz="2800" dirty="0"/>
              <a:t>Ejercicio con la ECE 2025</a:t>
            </a:r>
          </a:p>
          <a:p>
            <a:pPr marL="342900" indent="-342900">
              <a:buFont typeface="Arial" panose="020B0604020202020204" pitchFamily="34" charset="0"/>
              <a:buChar char="•"/>
            </a:pPr>
            <a:endParaRPr lang="es-MX" sz="2800" dirty="0"/>
          </a:p>
        </p:txBody>
      </p:sp>
    </p:spTree>
    <p:extLst>
      <p:ext uri="{BB962C8B-B14F-4D97-AF65-F5344CB8AC3E}">
        <p14:creationId xmlns:p14="http://schemas.microsoft.com/office/powerpoint/2010/main" val="900078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48F1416-F05C-46EB-5BC2-0509EBC903C8}"/>
              </a:ext>
            </a:extLst>
          </p:cNvPr>
          <p:cNvSpPr>
            <a:spLocks noGrp="1"/>
          </p:cNvSpPr>
          <p:nvPr>
            <p:ph sz="half" idx="1"/>
          </p:nvPr>
        </p:nvSpPr>
        <p:spPr>
          <a:xfrm>
            <a:off x="628649" y="1809750"/>
            <a:ext cx="10153651" cy="3993643"/>
          </a:xfrm>
        </p:spPr>
        <p:txBody>
          <a:bodyPr>
            <a:normAutofit fontScale="77500" lnSpcReduction="20000"/>
          </a:bodyPr>
          <a:lstStyle/>
          <a:p>
            <a:pPr algn="just"/>
            <a:r>
              <a:rPr lang="es-CR" dirty="0"/>
              <a:t>Cuando se trabaja con estimaciones a partir de muestras, resulta difícil conocer el valor exacto del parámetro poblacional. Por este motivo, en lugar de un único valor puntual, se define un rango de valores que podría contener al valor real.</a:t>
            </a:r>
          </a:p>
          <a:p>
            <a:pPr algn="just"/>
            <a:endParaRPr lang="es-CR" dirty="0"/>
          </a:p>
          <a:p>
            <a:pPr algn="just"/>
            <a:r>
              <a:rPr lang="es-CR" dirty="0"/>
              <a:t>Los parámetros poblacionales son desconocidos, pero se dispone de estimadores insesgados obtenidos a partir de la muestra. A partir de estas estimaciones, es posible construir intervalos de confianza que cuantifican la incertidumbre y permiten inferir rangos plausibles para los valores poblacionales.</a:t>
            </a:r>
          </a:p>
          <a:p>
            <a:pPr algn="just"/>
            <a:endParaRPr lang="es-CR" dirty="0"/>
          </a:p>
          <a:p>
            <a:pPr algn="just"/>
            <a:r>
              <a:rPr lang="es-CR" dirty="0"/>
              <a:t>En el análisis económico, los parámetros de interés (como medias, elasticidades o tasas de crecimiento) no se observan directamente y deben estimarse a partir de muestras. Dado que estas estimaciones están sujetas a variabilidad, los intervalos de confianza permiten expresar la incertidumbre asociada y definir un rango de valores plausibles para el verdadero parámetro poblacional.</a:t>
            </a:r>
          </a:p>
          <a:p>
            <a:pPr algn="just"/>
            <a:endParaRPr lang="es-CR" sz="3600" dirty="0"/>
          </a:p>
        </p:txBody>
      </p:sp>
      <p:sp>
        <p:nvSpPr>
          <p:cNvPr id="3" name="Title 2">
            <a:extLst>
              <a:ext uri="{FF2B5EF4-FFF2-40B4-BE49-F238E27FC236}">
                <a16:creationId xmlns:a16="http://schemas.microsoft.com/office/drawing/2014/main" id="{271FB284-5663-4E3A-7CAE-4DE40DBB15E1}"/>
              </a:ext>
            </a:extLst>
          </p:cNvPr>
          <p:cNvSpPr>
            <a:spLocks noGrp="1"/>
          </p:cNvSpPr>
          <p:nvPr>
            <p:ph type="title"/>
          </p:nvPr>
        </p:nvSpPr>
        <p:spPr/>
        <p:txBody>
          <a:bodyPr/>
          <a:lstStyle/>
          <a:p>
            <a:r>
              <a:rPr lang="es-CR" dirty="0"/>
              <a:t>Intervalo de Confianza: aplicaciones</a:t>
            </a:r>
          </a:p>
        </p:txBody>
      </p:sp>
    </p:spTree>
    <p:extLst>
      <p:ext uri="{BB962C8B-B14F-4D97-AF65-F5344CB8AC3E}">
        <p14:creationId xmlns:p14="http://schemas.microsoft.com/office/powerpoint/2010/main" val="101542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757C49-524D-4B2C-968F-1C71C2CD1637}"/>
              </a:ext>
            </a:extLst>
          </p:cNvPr>
          <p:cNvSpPr>
            <a:spLocks noGrp="1"/>
          </p:cNvSpPr>
          <p:nvPr>
            <p:ph type="ctrTitle"/>
          </p:nvPr>
        </p:nvSpPr>
        <p:spPr/>
        <p:txBody>
          <a:bodyPr>
            <a:normAutofit fontScale="90000"/>
          </a:bodyPr>
          <a:lstStyle/>
          <a:p>
            <a:r>
              <a:rPr lang="es-CR" dirty="0"/>
              <a:t>Intervalo de Confianza de la media</a:t>
            </a:r>
          </a:p>
        </p:txBody>
      </p:sp>
    </p:spTree>
    <p:extLst>
      <p:ext uri="{BB962C8B-B14F-4D97-AF65-F5344CB8AC3E}">
        <p14:creationId xmlns:p14="http://schemas.microsoft.com/office/powerpoint/2010/main" val="2599572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1568CF3-1B0B-740E-A1FF-A4C21849D273}"/>
                  </a:ext>
                </a:extLst>
              </p:cNvPr>
              <p:cNvSpPr>
                <a:spLocks noGrp="1"/>
              </p:cNvSpPr>
              <p:nvPr>
                <p:ph sz="half" idx="1"/>
              </p:nvPr>
            </p:nvSpPr>
            <p:spPr>
              <a:xfrm>
                <a:off x="838200" y="2067983"/>
                <a:ext cx="10158984" cy="3735410"/>
              </a:xfrm>
            </p:spPr>
            <p:txBody>
              <a:bodyPr>
                <a:normAutofit fontScale="92500" lnSpcReduction="10000"/>
              </a:bodyPr>
              <a:lstStyle/>
              <a:p>
                <a:pPr algn="just"/>
                <a:r>
                  <a:rPr lang="es-CR" dirty="0"/>
                  <a:t>Dada una muestra aleatoria </a:t>
                </a:r>
                <a14:m>
                  <m:oMath xmlns:m="http://schemas.openxmlformats.org/officeDocument/2006/math">
                    <m:sSub>
                      <m:sSubPr>
                        <m:ctrlPr>
                          <a:rPr lang="es-CR" i="1">
                            <a:latin typeface="Cambria Math" panose="02040503050406030204" pitchFamily="18" charset="0"/>
                          </a:rPr>
                        </m:ctrlPr>
                      </m:sSubPr>
                      <m:e>
                        <m:r>
                          <a:rPr lang="es-CR" i="1">
                            <a:latin typeface="Cambria Math" panose="02040503050406030204" pitchFamily="18" charset="0"/>
                          </a:rPr>
                          <m:t>𝑋</m:t>
                        </m:r>
                      </m:e>
                      <m:sub>
                        <m:r>
                          <a:rPr lang="es-CR" i="1">
                            <a:latin typeface="Cambria Math" panose="02040503050406030204" pitchFamily="18" charset="0"/>
                          </a:rPr>
                          <m:t>1</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𝑋</m:t>
                        </m:r>
                      </m:e>
                      <m:sub>
                        <m:r>
                          <a:rPr lang="es-CR" i="1">
                            <a:latin typeface="Cambria Math" panose="02040503050406030204" pitchFamily="18" charset="0"/>
                          </a:rPr>
                          <m:t>𝑛</m:t>
                        </m:r>
                      </m:sub>
                    </m:sSub>
                    <m:r>
                      <a:rPr lang="es-CR" i="1">
                        <a:latin typeface="Cambria Math" panose="02040503050406030204" pitchFamily="18" charset="0"/>
                      </a:rPr>
                      <m:t> </m:t>
                    </m:r>
                  </m:oMath>
                </a14:m>
                <a:r>
                  <a:rPr lang="es-CR" dirty="0"/>
                  <a:t> de una distribución normal </a:t>
                </a:r>
                <a14:m>
                  <m:oMath xmlns:m="http://schemas.openxmlformats.org/officeDocument/2006/math">
                    <m:r>
                      <a:rPr lang="es-CR" b="0" i="1" smtClean="0">
                        <a:latin typeface="Cambria Math" panose="02040503050406030204" pitchFamily="18" charset="0"/>
                      </a:rPr>
                      <m:t>𝑁</m:t>
                    </m:r>
                    <m:r>
                      <a:rPr lang="es-CR" b="0" i="1" smtClean="0">
                        <a:latin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𝜇</m:t>
                    </m:r>
                    <m:r>
                      <a:rPr lang="es-CR" b="0" i="1" smtClean="0">
                        <a:latin typeface="Cambria Math" panose="02040503050406030204" pitchFamily="18" charset="0"/>
                        <a:ea typeface="Cambria Math" panose="02040503050406030204" pitchFamily="18" charset="0"/>
                      </a:rPr>
                      <m:t>,</m:t>
                    </m:r>
                    <m:sSup>
                      <m:sSupPr>
                        <m:ctrlPr>
                          <a:rPr lang="es-CR" b="0" i="1" smtClean="0">
                            <a:latin typeface="Cambria Math" panose="02040503050406030204" pitchFamily="18" charset="0"/>
                            <a:ea typeface="Cambria Math" panose="02040503050406030204" pitchFamily="18" charset="0"/>
                          </a:rPr>
                        </m:ctrlPr>
                      </m:sSupPr>
                      <m:e>
                        <m:r>
                          <a:rPr lang="es-CR" i="1">
                            <a:latin typeface="Cambria Math" panose="02040503050406030204" pitchFamily="18" charset="0"/>
                            <a:ea typeface="Cambria Math" panose="02040503050406030204" pitchFamily="18" charset="0"/>
                          </a:rPr>
                          <m:t>𝜎</m:t>
                        </m:r>
                      </m:e>
                      <m:sup>
                        <m:r>
                          <a:rPr lang="es-CR" b="0" i="1" smtClean="0">
                            <a:latin typeface="Cambria Math" panose="02040503050406030204" pitchFamily="18" charset="0"/>
                            <a:ea typeface="Cambria Math" panose="02040503050406030204" pitchFamily="18" charset="0"/>
                          </a:rPr>
                          <m:t>2</m:t>
                        </m:r>
                      </m:sup>
                    </m:sSup>
                    <m:r>
                      <a:rPr lang="es-CR" b="0" i="1" smtClean="0">
                        <a:latin typeface="Cambria Math" panose="02040503050406030204" pitchFamily="18" charset="0"/>
                        <a:ea typeface="Cambria Math" panose="02040503050406030204" pitchFamily="18" charset="0"/>
                      </a:rPr>
                      <m:t>)</m:t>
                    </m:r>
                  </m:oMath>
                </a14:m>
                <a:r>
                  <a:rPr lang="es-CR" dirty="0"/>
                  <a:t>, en donde </a:t>
                </a:r>
                <a14:m>
                  <m:oMath xmlns:m="http://schemas.openxmlformats.org/officeDocument/2006/math">
                    <m:acc>
                      <m:accPr>
                        <m:chr m:val="̅"/>
                        <m:ctrlPr>
                          <a:rPr lang="es-CR" i="1" smtClean="0">
                            <a:latin typeface="Cambria Math" panose="02040503050406030204" pitchFamily="18" charset="0"/>
                          </a:rPr>
                        </m:ctrlPr>
                      </m:accPr>
                      <m:e>
                        <m:r>
                          <a:rPr lang="es-CR" b="0" i="1" smtClean="0">
                            <a:latin typeface="Cambria Math" panose="02040503050406030204" pitchFamily="18" charset="0"/>
                          </a:rPr>
                          <m:t>𝑋</m:t>
                        </m:r>
                      </m:e>
                    </m:acc>
                  </m:oMath>
                </a14:m>
                <a:r>
                  <a:rPr lang="es-CR" dirty="0"/>
                  <a:t> es el estimador insesgado de la media poblacional (desconocida). </a:t>
                </a:r>
              </a:p>
              <a:p>
                <a:pPr algn="just"/>
                <a:r>
                  <a:rPr lang="es-CR" dirty="0"/>
                  <a:t>Bajo el supuesto de que </a:t>
                </a:r>
                <a14:m>
                  <m:oMath xmlns:m="http://schemas.openxmlformats.org/officeDocument/2006/math">
                    <m:acc>
                      <m:accPr>
                        <m:chr m:val="̅"/>
                        <m:ctrlPr>
                          <a:rPr lang="es-CR" i="1" smtClean="0">
                            <a:latin typeface="Cambria Math" panose="02040503050406030204" pitchFamily="18" charset="0"/>
                          </a:rPr>
                        </m:ctrlPr>
                      </m:accPr>
                      <m:e>
                        <m:r>
                          <a:rPr lang="es-CR" b="0" i="1" smtClean="0">
                            <a:latin typeface="Cambria Math" panose="02040503050406030204" pitchFamily="18" charset="0"/>
                          </a:rPr>
                          <m:t>𝑋</m:t>
                        </m:r>
                      </m:e>
                    </m:acc>
                  </m:oMath>
                </a14:m>
                <a:r>
                  <a:rPr lang="es-CR" dirty="0"/>
                  <a:t> es un estimador insesgado y que sigue una distribución normal, </a:t>
                </a:r>
                <a14:m>
                  <m:oMath xmlns:m="http://schemas.openxmlformats.org/officeDocument/2006/math">
                    <m:r>
                      <a:rPr lang="es-CR" i="1">
                        <a:latin typeface="Cambria Math" panose="02040503050406030204" pitchFamily="18" charset="0"/>
                      </a:rPr>
                      <m:t>𝑁</m:t>
                    </m:r>
                    <m:r>
                      <a:rPr lang="es-CR" i="1">
                        <a:latin typeface="Cambria Math" panose="02040503050406030204" pitchFamily="18" charset="0"/>
                      </a:rPr>
                      <m:t>(</m:t>
                    </m:r>
                    <m:r>
                      <a:rPr lang="es-CR" i="1">
                        <a:latin typeface="Cambria Math" panose="02040503050406030204" pitchFamily="18" charset="0"/>
                        <a:ea typeface="Cambria Math" panose="02040503050406030204" pitchFamily="18" charset="0"/>
                      </a:rPr>
                      <m:t>𝜇</m:t>
                    </m:r>
                    <m:r>
                      <a:rPr lang="es-CR" i="1">
                        <a:latin typeface="Cambria Math" panose="02040503050406030204" pitchFamily="18" charset="0"/>
                        <a:ea typeface="Cambria Math" panose="02040503050406030204" pitchFamily="18" charset="0"/>
                      </a:rPr>
                      <m:t>, </m:t>
                    </m:r>
                    <m:f>
                      <m:fPr>
                        <m:type m:val="skw"/>
                        <m:ctrlPr>
                          <a:rPr lang="es-CR" i="1" smtClean="0">
                            <a:latin typeface="Cambria Math" panose="02040503050406030204" pitchFamily="18" charset="0"/>
                            <a:ea typeface="Cambria Math" panose="02040503050406030204" pitchFamily="18" charset="0"/>
                          </a:rPr>
                        </m:ctrlPr>
                      </m:fPr>
                      <m:num>
                        <m:sSup>
                          <m:sSupPr>
                            <m:ctrlPr>
                              <a:rPr lang="es-CR" i="1" smtClean="0">
                                <a:latin typeface="Cambria Math" panose="02040503050406030204" pitchFamily="18" charset="0"/>
                                <a:ea typeface="Cambria Math" panose="02040503050406030204" pitchFamily="18" charset="0"/>
                              </a:rPr>
                            </m:ctrlPr>
                          </m:sSupPr>
                          <m:e>
                            <m:r>
                              <a:rPr lang="es-CR" i="1">
                                <a:latin typeface="Cambria Math" panose="02040503050406030204" pitchFamily="18" charset="0"/>
                                <a:ea typeface="Cambria Math" panose="02040503050406030204" pitchFamily="18" charset="0"/>
                              </a:rPr>
                              <m:t>𝜎</m:t>
                            </m:r>
                          </m:e>
                          <m:sup>
                            <m:r>
                              <a:rPr lang="es-CR" b="0" i="1" smtClean="0">
                                <a:latin typeface="Cambria Math" panose="02040503050406030204" pitchFamily="18" charset="0"/>
                                <a:ea typeface="Cambria Math" panose="02040503050406030204" pitchFamily="18" charset="0"/>
                              </a:rPr>
                              <m:t>2</m:t>
                            </m:r>
                          </m:sup>
                        </m:sSup>
                      </m:num>
                      <m:den>
                        <m:r>
                          <a:rPr lang="es-CR" b="0" i="1" smtClean="0">
                            <a:latin typeface="Cambria Math" panose="02040503050406030204" pitchFamily="18" charset="0"/>
                            <a:ea typeface="Cambria Math" panose="02040503050406030204" pitchFamily="18" charset="0"/>
                          </a:rPr>
                          <m:t>𝑛</m:t>
                        </m:r>
                      </m:den>
                    </m:f>
                    <m:r>
                      <a:rPr lang="es-CR" i="1">
                        <a:latin typeface="Cambria Math" panose="02040503050406030204" pitchFamily="18" charset="0"/>
                        <a:ea typeface="Cambria Math" panose="02040503050406030204" pitchFamily="18" charset="0"/>
                      </a:rPr>
                      <m:t>)</m:t>
                    </m:r>
                  </m:oMath>
                </a14:m>
                <a:r>
                  <a:rPr lang="es-CR" dirty="0"/>
                  <a:t>, se puede construir un intervalo de confianza para el valor </a:t>
                </a:r>
                <a14:m>
                  <m:oMath xmlns:m="http://schemas.openxmlformats.org/officeDocument/2006/math">
                    <m:r>
                      <a:rPr lang="es-CR" i="1">
                        <a:latin typeface="Cambria Math" panose="02040503050406030204" pitchFamily="18" charset="0"/>
                        <a:ea typeface="Cambria Math" panose="02040503050406030204" pitchFamily="18" charset="0"/>
                      </a:rPr>
                      <m:t>𝜇</m:t>
                    </m:r>
                  </m:oMath>
                </a14:m>
                <a:r>
                  <a:rPr lang="es-CR" dirty="0"/>
                  <a:t>, con un nivel determinado por </a:t>
                </a:r>
                <a14:m>
                  <m:oMath xmlns:m="http://schemas.openxmlformats.org/officeDocument/2006/math">
                    <m:r>
                      <a:rPr lang="es-CR" b="0" i="0" smtClean="0">
                        <a:latin typeface="Cambria Math" panose="02040503050406030204" pitchFamily="18" charset="0"/>
                        <a:ea typeface="Cambria Math" panose="02040503050406030204" pitchFamily="18" charset="0"/>
                      </a:rPr>
                      <m:t>1− </m:t>
                    </m:r>
                    <m:r>
                      <a:rPr lang="es-CR" i="1" smtClean="0">
                        <a:latin typeface="Cambria Math" panose="02040503050406030204" pitchFamily="18" charset="0"/>
                        <a:ea typeface="Cambria Math" panose="02040503050406030204" pitchFamily="18" charset="0"/>
                      </a:rPr>
                      <m:t>𝛼</m:t>
                    </m:r>
                  </m:oMath>
                </a14:m>
                <a:r>
                  <a:rPr lang="es-CR" dirty="0"/>
                  <a:t>.</a:t>
                </a:r>
              </a:p>
              <a:p>
                <a:pPr marL="0" indent="0" algn="just">
                  <a:buNone/>
                </a:pPr>
                <a:endParaRPr lang="es-CR" dirty="0"/>
              </a:p>
              <a:p>
                <a:pPr algn="just"/>
                <a14:m>
                  <m:oMath xmlns:m="http://schemas.openxmlformats.org/officeDocument/2006/math">
                    <m:r>
                      <a:rPr lang="es-CR" b="0" i="1" smtClean="0">
                        <a:latin typeface="Cambria Math" panose="02040503050406030204" pitchFamily="18" charset="0"/>
                      </a:rPr>
                      <m:t>𝑃</m:t>
                    </m:r>
                    <m:d>
                      <m:dPr>
                        <m:ctrlPr>
                          <a:rPr lang="es-CR" b="0" i="1" smtClean="0">
                            <a:latin typeface="Cambria Math" panose="02040503050406030204" pitchFamily="18" charset="0"/>
                          </a:rPr>
                        </m:ctrlPr>
                      </m:dPr>
                      <m:e>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i="1">
                            <a:latin typeface="Cambria Math" panose="02040503050406030204" pitchFamily="18" charset="0"/>
                            <a:ea typeface="Cambria Math" panose="02040503050406030204" pitchFamily="18" charset="0"/>
                          </a:rPr>
                          <m:t>≤</m:t>
                        </m:r>
                        <m:f>
                          <m:fPr>
                            <m:ctrlPr>
                              <a:rPr lang="es-CR" i="1">
                                <a:latin typeface="Cambria Math" panose="02040503050406030204" pitchFamily="18" charset="0"/>
                                <a:ea typeface="Cambria Math" panose="02040503050406030204" pitchFamily="18" charset="0"/>
                              </a:rPr>
                            </m:ctrlPr>
                          </m:fPr>
                          <m:num>
                            <m:acc>
                              <m:accPr>
                                <m:chr m:val="̅"/>
                                <m:ctrlPr>
                                  <a:rPr lang="es-CR" i="1">
                                    <a:latin typeface="Cambria Math" panose="02040503050406030204" pitchFamily="18" charset="0"/>
                                  </a:rPr>
                                </m:ctrlPr>
                              </m:accPr>
                              <m:e>
                                <m:r>
                                  <a:rPr lang="es-CR" i="1">
                                    <a:latin typeface="Cambria Math" panose="02040503050406030204" pitchFamily="18" charset="0"/>
                                  </a:rPr>
                                  <m:t>𝑋</m:t>
                                </m:r>
                              </m:e>
                            </m:acc>
                            <m:r>
                              <a:rPr lang="es-CR" i="1">
                                <a:latin typeface="Cambria Math" panose="02040503050406030204" pitchFamily="18" charset="0"/>
                              </a:rPr>
                              <m:t>−</m:t>
                            </m:r>
                            <m:r>
                              <a:rPr lang="es-CR" i="1">
                                <a:latin typeface="Cambria Math" panose="02040503050406030204" pitchFamily="18" charset="0"/>
                                <a:ea typeface="Cambria Math" panose="02040503050406030204" pitchFamily="18" charset="0"/>
                              </a:rPr>
                              <m:t>𝜇</m:t>
                            </m:r>
                            <m:r>
                              <a:rPr lang="es-CR" i="1">
                                <a:latin typeface="Cambria Math" panose="02040503050406030204" pitchFamily="18" charset="0"/>
                              </a:rPr>
                              <m:t> </m:t>
                            </m:r>
                          </m:num>
                          <m:den>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den>
                        </m:f>
                        <m:r>
                          <a:rPr lang="es-CR" i="1">
                            <a:latin typeface="Cambria Math" panose="02040503050406030204" pitchFamily="18" charset="0"/>
                            <a:ea typeface="Cambria Math" panose="02040503050406030204" pitchFamily="18" charset="0"/>
                          </a:rPr>
                          <m:t>≤</m:t>
                        </m:r>
                        <m:r>
                          <m:rPr>
                            <m:nor/>
                          </m:rPr>
                          <a:rPr lang="es-CR" i="0" dirty="0"/>
                          <m:t> </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e>
                    </m:d>
                    <m:r>
                      <a:rPr lang="es-CR" b="0" i="1" smtClean="0">
                        <a:latin typeface="Cambria Math" panose="02040503050406030204" pitchFamily="18" charset="0"/>
                      </a:rPr>
                      <m:t>=1−</m:t>
                    </m:r>
                    <m:r>
                      <a:rPr lang="es-CR" b="0" i="1" smtClean="0">
                        <a:latin typeface="Cambria Math" panose="02040503050406030204" pitchFamily="18" charset="0"/>
                        <a:ea typeface="Cambria Math" panose="02040503050406030204" pitchFamily="18" charset="0"/>
                      </a:rPr>
                      <m:t>𝛼</m:t>
                    </m:r>
                  </m:oMath>
                </a14:m>
                <a:endParaRPr lang="es-CR" dirty="0"/>
              </a:p>
            </p:txBody>
          </p:sp>
        </mc:Choice>
        <mc:Fallback xmlns="">
          <p:sp>
            <p:nvSpPr>
              <p:cNvPr id="2" name="Content Placeholder 1">
                <a:extLst>
                  <a:ext uri="{FF2B5EF4-FFF2-40B4-BE49-F238E27FC236}">
                    <a16:creationId xmlns:a16="http://schemas.microsoft.com/office/drawing/2014/main" id="{01568CF3-1B0B-740E-A1FF-A4C21849D273}"/>
                  </a:ext>
                </a:extLst>
              </p:cNvPr>
              <p:cNvSpPr>
                <a:spLocks noGrp="1" noRot="1" noChangeAspect="1" noMove="1" noResize="1" noEditPoints="1" noAdjustHandles="1" noChangeArrowheads="1" noChangeShapeType="1" noTextEdit="1"/>
              </p:cNvSpPr>
              <p:nvPr>
                <p:ph sz="half" idx="1"/>
              </p:nvPr>
            </p:nvSpPr>
            <p:spPr>
              <a:xfrm>
                <a:off x="838200" y="2067983"/>
                <a:ext cx="10158984" cy="3735410"/>
              </a:xfrm>
              <a:blipFill>
                <a:blip r:embed="rId2"/>
                <a:stretch>
                  <a:fillRect l="-960" t="-3263" r="-1020"/>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41CC725A-23AC-6EDB-6838-7EE5531185D9}"/>
              </a:ext>
            </a:extLst>
          </p:cNvPr>
          <p:cNvSpPr>
            <a:spLocks noGrp="1"/>
          </p:cNvSpPr>
          <p:nvPr>
            <p:ph type="title"/>
          </p:nvPr>
        </p:nvSpPr>
        <p:spPr/>
        <p:txBody>
          <a:bodyPr/>
          <a:lstStyle/>
          <a:p>
            <a:r>
              <a:rPr lang="es-CR" dirty="0"/>
              <a:t>Intervalos de Confianza para la media</a:t>
            </a:r>
          </a:p>
        </p:txBody>
      </p:sp>
    </p:spTree>
    <p:extLst>
      <p:ext uri="{BB962C8B-B14F-4D97-AF65-F5344CB8AC3E}">
        <p14:creationId xmlns:p14="http://schemas.microsoft.com/office/powerpoint/2010/main" val="3976489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5122-1E50-B0EF-BF4E-AE80E4D542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BCF748F-C7B2-4CE9-57D2-83F1EB7469CA}"/>
                  </a:ext>
                </a:extLst>
              </p:cNvPr>
              <p:cNvSpPr>
                <a:spLocks noGrp="1"/>
              </p:cNvSpPr>
              <p:nvPr>
                <p:ph sz="half" idx="1"/>
              </p:nvPr>
            </p:nvSpPr>
            <p:spPr>
              <a:xfrm>
                <a:off x="838200" y="2067983"/>
                <a:ext cx="10158984" cy="3735410"/>
              </a:xfrm>
            </p:spPr>
            <p:txBody>
              <a:bodyPr>
                <a:normAutofit fontScale="85000" lnSpcReduction="20000"/>
              </a:bodyPr>
              <a:lstStyle/>
              <a:p>
                <a:pPr marL="0" indent="0" algn="just">
                  <a:buNone/>
                </a:pPr>
                <a14:m>
                  <m:oMathPara xmlns:m="http://schemas.openxmlformats.org/officeDocument/2006/math">
                    <m:oMathParaPr>
                      <m:jc m:val="centerGroup"/>
                    </m:oMathParaPr>
                    <m:oMath xmlns:m="http://schemas.openxmlformats.org/officeDocument/2006/math">
                      <m:r>
                        <a:rPr lang="es-CR" i="1" smtClean="0">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i="1">
                          <a:latin typeface="Cambria Math" panose="02040503050406030204" pitchFamily="18" charset="0"/>
                          <a:ea typeface="Cambria Math" panose="02040503050406030204" pitchFamily="18" charset="0"/>
                        </a:rPr>
                        <m:t>≤</m:t>
                      </m:r>
                      <m:f>
                        <m:fPr>
                          <m:ctrlPr>
                            <a:rPr lang="es-CR" i="1">
                              <a:latin typeface="Cambria Math" panose="02040503050406030204" pitchFamily="18" charset="0"/>
                              <a:ea typeface="Cambria Math" panose="02040503050406030204" pitchFamily="18" charset="0"/>
                            </a:rPr>
                          </m:ctrlPr>
                        </m:fPr>
                        <m:num>
                          <m:acc>
                            <m:accPr>
                              <m:chr m:val="̅"/>
                              <m:ctrlPr>
                                <a:rPr lang="es-CR" i="1">
                                  <a:latin typeface="Cambria Math" panose="02040503050406030204" pitchFamily="18" charset="0"/>
                                </a:rPr>
                              </m:ctrlPr>
                            </m:accPr>
                            <m:e>
                              <m:r>
                                <a:rPr lang="es-CR" i="1">
                                  <a:latin typeface="Cambria Math" panose="02040503050406030204" pitchFamily="18" charset="0"/>
                                </a:rPr>
                                <m:t>𝑋</m:t>
                              </m:r>
                            </m:e>
                          </m:acc>
                          <m:r>
                            <a:rPr lang="es-CR" i="1">
                              <a:latin typeface="Cambria Math" panose="02040503050406030204" pitchFamily="18" charset="0"/>
                            </a:rPr>
                            <m:t>−</m:t>
                          </m:r>
                          <m:r>
                            <a:rPr lang="es-CR" i="1">
                              <a:latin typeface="Cambria Math" panose="02040503050406030204" pitchFamily="18" charset="0"/>
                              <a:ea typeface="Cambria Math" panose="02040503050406030204" pitchFamily="18" charset="0"/>
                            </a:rPr>
                            <m:t>𝜇</m:t>
                          </m:r>
                          <m:r>
                            <a:rPr lang="es-CR" i="1">
                              <a:latin typeface="Cambria Math" panose="02040503050406030204" pitchFamily="18" charset="0"/>
                            </a:rPr>
                            <m:t> </m:t>
                          </m:r>
                        </m:num>
                        <m:den>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den>
                      </m:f>
                      <m:r>
                        <a:rPr lang="es-CR" i="1">
                          <a:latin typeface="Cambria Math" panose="02040503050406030204" pitchFamily="18" charset="0"/>
                          <a:ea typeface="Cambria Math" panose="02040503050406030204" pitchFamily="18" charset="0"/>
                        </a:rPr>
                        <m:t>≤</m:t>
                      </m:r>
                      <m:r>
                        <m:rPr>
                          <m:nor/>
                        </m:rPr>
                        <a:rPr lang="es-CR" i="0" dirty="0"/>
                        <m:t> </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oMath>
                  </m:oMathPara>
                </a14:m>
                <a:endParaRPr lang="es-CR" dirty="0"/>
              </a:p>
              <a:p>
                <a:pPr marL="0" indent="0" algn="just">
                  <a:buNone/>
                </a:pPr>
                <a:endParaRPr lang="es-CR" dirty="0"/>
              </a:p>
              <a:p>
                <a:pPr marL="0" indent="0" algn="just">
                  <a:buNone/>
                </a:pPr>
                <a14:m>
                  <m:oMathPara xmlns:m="http://schemas.openxmlformats.org/officeDocument/2006/math">
                    <m:oMathParaPr>
                      <m:jc m:val="centerGroup"/>
                    </m:oMathParaPr>
                    <m:oMath xmlns:m="http://schemas.openxmlformats.org/officeDocument/2006/math">
                      <m:r>
                        <a:rPr lang="es-CR" i="1" smtClean="0">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b="0" i="1" smtClean="0">
                          <a:latin typeface="Cambria Math" panose="02040503050406030204" pitchFamily="18" charset="0"/>
                        </a:rPr>
                        <m:t>∗</m:t>
                      </m:r>
                      <m:d>
                        <m:dPr>
                          <m:ctrlPr>
                            <a:rPr lang="es-CR" b="0" i="1" smtClean="0">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r>
                        <a:rPr lang="es-CR" i="1">
                          <a:latin typeface="Cambria Math" panose="02040503050406030204" pitchFamily="18" charset="0"/>
                          <a:ea typeface="Cambria Math" panose="02040503050406030204" pitchFamily="18" charset="0"/>
                        </a:rPr>
                        <m:t>≤</m:t>
                      </m:r>
                      <m:acc>
                        <m:accPr>
                          <m:chr m:val="̅"/>
                          <m:ctrlPr>
                            <a:rPr lang="es-CR" i="1">
                              <a:latin typeface="Cambria Math" panose="02040503050406030204" pitchFamily="18" charset="0"/>
                            </a:rPr>
                          </m:ctrlPr>
                        </m:accPr>
                        <m:e>
                          <m:r>
                            <a:rPr lang="es-CR" i="1">
                              <a:latin typeface="Cambria Math" panose="02040503050406030204" pitchFamily="18" charset="0"/>
                            </a:rPr>
                            <m:t>𝑋</m:t>
                          </m:r>
                        </m:e>
                      </m:acc>
                      <m:r>
                        <a:rPr lang="es-CR" i="1">
                          <a:latin typeface="Cambria Math" panose="02040503050406030204" pitchFamily="18" charset="0"/>
                        </a:rPr>
                        <m:t>−</m:t>
                      </m:r>
                      <m:r>
                        <a:rPr lang="es-CR" i="1">
                          <a:latin typeface="Cambria Math" panose="02040503050406030204" pitchFamily="18" charset="0"/>
                          <a:ea typeface="Cambria Math" panose="02040503050406030204" pitchFamily="18" charset="0"/>
                        </a:rPr>
                        <m:t>𝜇</m:t>
                      </m:r>
                      <m:r>
                        <a:rPr lang="es-CR" i="1">
                          <a:latin typeface="Cambria Math" panose="02040503050406030204" pitchFamily="18" charset="0"/>
                          <a:ea typeface="Cambria Math" panose="02040503050406030204" pitchFamily="18" charset="0"/>
                        </a:rPr>
                        <m:t>≤</m:t>
                      </m:r>
                      <m:r>
                        <m:rPr>
                          <m:nor/>
                        </m:rPr>
                        <a:rPr lang="es-CR" i="0" dirty="0"/>
                        <m:t> </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b="0" i="1" smtClean="0">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oMath>
                  </m:oMathPara>
                </a14:m>
                <a:endParaRPr lang="es-CR" dirty="0">
                  <a:ea typeface="Cambria Math" panose="02040503050406030204" pitchFamily="18" charset="0"/>
                </a:endParaRPr>
              </a:p>
              <a:p>
                <a:pPr marL="0" indent="0" algn="just">
                  <a:buNone/>
                </a:pPr>
                <a:endParaRPr lang="es-CR" dirty="0">
                  <a:ea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acc>
                        <m:accPr>
                          <m:chr m:val="̅"/>
                          <m:ctrlPr>
                            <a:rPr lang="es-CR" i="1">
                              <a:latin typeface="Cambria Math" panose="02040503050406030204" pitchFamily="18" charset="0"/>
                            </a:rPr>
                          </m:ctrlPr>
                        </m:accPr>
                        <m:e>
                          <m:r>
                            <a:rPr lang="es-CR" i="1">
                              <a:latin typeface="Cambria Math" panose="02040503050406030204" pitchFamily="18" charset="0"/>
                            </a:rPr>
                            <m:t>𝑋</m:t>
                          </m:r>
                        </m:e>
                      </m:acc>
                      <m:r>
                        <a:rPr lang="es-CR" b="0" i="1" smtClean="0">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b="0" i="1" smtClean="0">
                          <a:latin typeface="Cambria Math" panose="02040503050406030204" pitchFamily="18" charset="0"/>
                        </a:rPr>
                        <m:t>∗</m:t>
                      </m:r>
                      <m:d>
                        <m:dPr>
                          <m:ctrlPr>
                            <a:rPr lang="es-CR" b="0" i="1" smtClean="0">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r>
                        <a:rPr lang="es-CR" i="1" smtClean="0">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𝜇</m:t>
                      </m:r>
                      <m:r>
                        <a:rPr lang="es-CR" i="1" smtClean="0">
                          <a:latin typeface="Cambria Math" panose="02040503050406030204" pitchFamily="18" charset="0"/>
                          <a:ea typeface="Cambria Math" panose="02040503050406030204" pitchFamily="18" charset="0"/>
                        </a:rPr>
                        <m:t>≥</m:t>
                      </m:r>
                      <m:acc>
                        <m:accPr>
                          <m:chr m:val="̅"/>
                          <m:ctrlPr>
                            <a:rPr lang="es-CR" i="1">
                              <a:latin typeface="Cambria Math" panose="02040503050406030204" pitchFamily="18" charset="0"/>
                            </a:rPr>
                          </m:ctrlPr>
                        </m:accPr>
                        <m:e>
                          <m:r>
                            <a:rPr lang="es-CR" i="1">
                              <a:latin typeface="Cambria Math" panose="02040503050406030204" pitchFamily="18" charset="0"/>
                            </a:rPr>
                            <m:t>𝑋</m:t>
                          </m:r>
                        </m:e>
                      </m:acc>
                      <m:r>
                        <a:rPr lang="es-CR" b="0" i="1" smtClean="0">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b="0" i="1" smtClean="0">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oMath>
                  </m:oMathPara>
                </a14:m>
                <a:endParaRPr lang="es-CR" dirty="0">
                  <a:ea typeface="Cambria Math" panose="02040503050406030204" pitchFamily="18" charset="0"/>
                </a:endParaRPr>
              </a:p>
              <a:p>
                <a:pPr marL="0" indent="0" algn="just">
                  <a:buNone/>
                </a:pPr>
                <a:endParaRPr lang="es-CR" dirty="0">
                  <a:ea typeface="Cambria Math" panose="02040503050406030204" pitchFamily="18" charset="0"/>
                </a:endParaRPr>
              </a:p>
              <a:p>
                <a:pPr marL="0" indent="0" algn="ctr">
                  <a:buNone/>
                </a:pPr>
                <a14:m>
                  <m:oMath xmlns:m="http://schemas.openxmlformats.org/officeDocument/2006/math">
                    <m:r>
                      <a:rPr lang="es-CR" b="0" i="1" smtClean="0">
                        <a:latin typeface="Cambria Math" panose="02040503050406030204" pitchFamily="18" charset="0"/>
                      </a:rPr>
                      <m:t>𝑃</m:t>
                    </m:r>
                    <m:d>
                      <m:dPr>
                        <m:begChr m:val="["/>
                        <m:endChr m:val="]"/>
                        <m:ctrlPr>
                          <a:rPr lang="es-CR" b="0" i="1" smtClean="0">
                            <a:latin typeface="Cambria Math" panose="02040503050406030204" pitchFamily="18" charset="0"/>
                          </a:rPr>
                        </m:ctrlPr>
                      </m:dPr>
                      <m:e>
                        <m:acc>
                          <m:accPr>
                            <m:chr m:val="̅"/>
                            <m:ctrlPr>
                              <a:rPr lang="es-CR" i="1">
                                <a:latin typeface="Cambria Math" panose="02040503050406030204" pitchFamily="18" charset="0"/>
                              </a:rPr>
                            </m:ctrlPr>
                          </m:accPr>
                          <m:e>
                            <m:r>
                              <a:rPr lang="es-CR" i="1">
                                <a:latin typeface="Cambria Math" panose="02040503050406030204" pitchFamily="18" charset="0"/>
                              </a:rPr>
                              <m:t>𝑋</m:t>
                            </m:r>
                          </m:e>
                        </m:acc>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i="1">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r>
                          <a:rPr lang="es-CR" i="1">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𝜇</m:t>
                        </m:r>
                        <m:r>
                          <a:rPr lang="es-CR" i="1">
                            <a:latin typeface="Cambria Math" panose="02040503050406030204" pitchFamily="18" charset="0"/>
                            <a:ea typeface="Cambria Math" panose="02040503050406030204" pitchFamily="18" charset="0"/>
                          </a:rPr>
                          <m:t>≥</m:t>
                        </m:r>
                        <m:acc>
                          <m:accPr>
                            <m:chr m:val="̅"/>
                            <m:ctrlPr>
                              <a:rPr lang="es-CR" i="1">
                                <a:latin typeface="Cambria Math" panose="02040503050406030204" pitchFamily="18" charset="0"/>
                              </a:rPr>
                            </m:ctrlPr>
                          </m:accPr>
                          <m:e>
                            <m:r>
                              <a:rPr lang="es-CR" i="1">
                                <a:latin typeface="Cambria Math" panose="02040503050406030204" pitchFamily="18" charset="0"/>
                              </a:rPr>
                              <m:t>𝑋</m:t>
                            </m:r>
                          </m:e>
                        </m:acc>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f>
                              <m:fPr>
                                <m:type m:val="skw"/>
                                <m:ctrlPr>
                                  <a:rPr lang="es-CR" i="1">
                                    <a:latin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rPr>
                                  <m:t>2</m:t>
                                </m:r>
                              </m:den>
                            </m:f>
                          </m:sub>
                        </m:sSub>
                        <m:r>
                          <a:rPr lang="es-CR" i="1">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e>
                    </m:d>
                    <m:r>
                      <a:rPr lang="es-CR" b="0" i="1" smtClean="0">
                        <a:latin typeface="Cambria Math" panose="02040503050406030204" pitchFamily="18" charset="0"/>
                      </a:rPr>
                      <m:t>=1−</m:t>
                    </m:r>
                    <m:r>
                      <a:rPr lang="es-CR" b="0" i="1" smtClean="0">
                        <a:latin typeface="Cambria Math" panose="02040503050406030204" pitchFamily="18" charset="0"/>
                        <a:ea typeface="Cambria Math" panose="02040503050406030204" pitchFamily="18" charset="0"/>
                      </a:rPr>
                      <m:t>∝</m:t>
                    </m:r>
                  </m:oMath>
                </a14:m>
                <a:r>
                  <a:rPr lang="es-CR" dirty="0"/>
                  <a:t> </a:t>
                </a:r>
              </a:p>
              <a:p>
                <a:pPr marL="0" indent="0" algn="just">
                  <a:buNone/>
                </a:pPr>
                <a:endParaRPr lang="es-CR" dirty="0"/>
              </a:p>
              <a:p>
                <a:pPr marL="0" indent="0" algn="just">
                  <a:buNone/>
                </a:pPr>
                <a:endParaRPr lang="es-CR" dirty="0"/>
              </a:p>
              <a:p>
                <a:pPr marL="0" indent="0" algn="just">
                  <a:buNone/>
                </a:pPr>
                <a:endParaRPr lang="es-CR" dirty="0"/>
              </a:p>
              <a:p>
                <a:pPr marL="0" indent="0" algn="just">
                  <a:buNone/>
                </a:pPr>
                <a:endParaRPr lang="es-CR" dirty="0"/>
              </a:p>
            </p:txBody>
          </p:sp>
        </mc:Choice>
        <mc:Fallback xmlns="">
          <p:sp>
            <p:nvSpPr>
              <p:cNvPr id="2" name="Content Placeholder 1">
                <a:extLst>
                  <a:ext uri="{FF2B5EF4-FFF2-40B4-BE49-F238E27FC236}">
                    <a16:creationId xmlns:a16="http://schemas.microsoft.com/office/drawing/2014/main" id="{0BCF748F-C7B2-4CE9-57D2-83F1EB7469CA}"/>
                  </a:ext>
                </a:extLst>
              </p:cNvPr>
              <p:cNvSpPr>
                <a:spLocks noGrp="1" noRot="1" noChangeAspect="1" noMove="1" noResize="1" noEditPoints="1" noAdjustHandles="1" noChangeArrowheads="1" noChangeShapeType="1" noTextEdit="1"/>
              </p:cNvSpPr>
              <p:nvPr>
                <p:ph sz="half" idx="1"/>
              </p:nvPr>
            </p:nvSpPr>
            <p:spPr>
              <a:xfrm>
                <a:off x="838200" y="2067983"/>
                <a:ext cx="10158984" cy="3735410"/>
              </a:xfrm>
              <a:blipFill>
                <a:blip r:embed="rId2"/>
                <a:stretch>
                  <a:fillRect b="-979"/>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51EC2B1C-F491-4CAF-C17A-B1EB80240D1B}"/>
              </a:ext>
            </a:extLst>
          </p:cNvPr>
          <p:cNvSpPr>
            <a:spLocks noGrp="1"/>
          </p:cNvSpPr>
          <p:nvPr>
            <p:ph type="title"/>
          </p:nvPr>
        </p:nvSpPr>
        <p:spPr/>
        <p:txBody>
          <a:bodyPr/>
          <a:lstStyle/>
          <a:p>
            <a:r>
              <a:rPr lang="es-CR" dirty="0"/>
              <a:t>Intervalos de Confianza para la media</a:t>
            </a:r>
          </a:p>
        </p:txBody>
      </p:sp>
    </p:spTree>
    <p:extLst>
      <p:ext uri="{BB962C8B-B14F-4D97-AF65-F5344CB8AC3E}">
        <p14:creationId xmlns:p14="http://schemas.microsoft.com/office/powerpoint/2010/main" val="3169332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46E9781-F18B-25F4-F534-85917EB64A03}"/>
                  </a:ext>
                </a:extLst>
              </p:cNvPr>
              <p:cNvSpPr>
                <a:spLocks noGrp="1"/>
              </p:cNvSpPr>
              <p:nvPr>
                <p:ph sz="half" idx="1"/>
              </p:nvPr>
            </p:nvSpPr>
            <p:spPr>
              <a:xfrm>
                <a:off x="838199" y="2067983"/>
                <a:ext cx="10336877" cy="3735410"/>
              </a:xfrm>
            </p:spPr>
            <p:txBody>
              <a:bodyPr>
                <a:normAutofit fontScale="85000" lnSpcReduction="20000"/>
              </a:bodyPr>
              <a:lstStyle/>
              <a:p>
                <a:r>
                  <a:rPr lang="es-CR" dirty="0"/>
                  <a:t>X equivale a la vida útil de una bombilla de 60 watts. Asuma que la distribución de </a:t>
                </a:r>
                <a14:m>
                  <m:oMath xmlns:m="http://schemas.openxmlformats.org/officeDocument/2006/math">
                    <m:r>
                      <a:rPr lang="es-CR" b="0" i="1" smtClean="0">
                        <a:latin typeface="Cambria Math" panose="02040503050406030204" pitchFamily="18" charset="0"/>
                      </a:rPr>
                      <m:t>𝑋</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𝑁</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𝜇</m:t>
                    </m:r>
                    <m:r>
                      <a:rPr lang="es-CR" b="0" i="1" smtClean="0">
                        <a:latin typeface="Cambria Math" panose="02040503050406030204" pitchFamily="18" charset="0"/>
                        <a:ea typeface="Cambria Math" panose="02040503050406030204" pitchFamily="18" charset="0"/>
                      </a:rPr>
                      <m:t>, 1296)</m:t>
                    </m:r>
                  </m:oMath>
                </a14:m>
                <a:r>
                  <a:rPr lang="es-CR" dirty="0"/>
                  <a:t>. Si se selecciona una muestra aleatoria de n = 27 bombillas, y se prueban hasta que se quemen, lo que da una media muestral de 1,478 horas, entonces el intervalo de confianza para </a:t>
                </a:r>
                <a14:m>
                  <m:oMath xmlns:m="http://schemas.openxmlformats.org/officeDocument/2006/math">
                    <m:r>
                      <a:rPr lang="es-CR" i="1">
                        <a:latin typeface="Cambria Math" panose="02040503050406030204" pitchFamily="18" charset="0"/>
                        <a:ea typeface="Cambria Math" panose="02040503050406030204" pitchFamily="18" charset="0"/>
                      </a:rPr>
                      <m:t>𝜇</m:t>
                    </m:r>
                  </m:oMath>
                </a14:m>
                <a:r>
                  <a:rPr lang="es-CR" dirty="0"/>
                  <a:t> corresponde a: </a:t>
                </a:r>
              </a:p>
              <a:p>
                <a:pPr marL="0" indent="0">
                  <a:buNone/>
                </a:pPr>
                <a:endParaRPr lang="es-CR"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s-CR" b="0" i="1" smtClean="0">
                              <a:latin typeface="Cambria Math" panose="02040503050406030204" pitchFamily="18" charset="0"/>
                            </a:rPr>
                          </m:ctrlPr>
                        </m:dPr>
                        <m:e>
                          <m:acc>
                            <m:accPr>
                              <m:chr m:val="̅"/>
                              <m:ctrlPr>
                                <a:rPr lang="es-CR" i="1">
                                  <a:latin typeface="Cambria Math" panose="02040503050406030204" pitchFamily="18" charset="0"/>
                                </a:rPr>
                              </m:ctrlPr>
                            </m:accPr>
                            <m:e>
                              <m:r>
                                <a:rPr lang="es-CR" b="0" i="1" smtClean="0">
                                  <a:latin typeface="Cambria Math" panose="02040503050406030204" pitchFamily="18" charset="0"/>
                                </a:rPr>
                                <m:t>𝑥</m:t>
                              </m:r>
                            </m:e>
                          </m:acc>
                          <m:r>
                            <a:rPr lang="es-CR" b="0" i="1" smtClean="0">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r>
                                <a:rPr lang="es-CR" b="0" i="1" smtClean="0">
                                  <a:latin typeface="Cambria Math" panose="02040503050406030204" pitchFamily="18" charset="0"/>
                                </a:rPr>
                                <m:t>0.025</m:t>
                              </m:r>
                            </m:sub>
                          </m:sSub>
                          <m:r>
                            <a:rPr lang="es-CR" i="1">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r>
                            <a:rPr lang="es-CR" b="0" i="1" smtClean="0">
                              <a:latin typeface="Cambria Math" panose="02040503050406030204" pitchFamily="18" charset="0"/>
                              <a:ea typeface="Cambria Math" panose="02040503050406030204" pitchFamily="18" charset="0"/>
                            </a:rPr>
                            <m:t>,</m:t>
                          </m:r>
                          <m:acc>
                            <m:accPr>
                              <m:chr m:val="̅"/>
                              <m:ctrlPr>
                                <a:rPr lang="es-CR" i="1">
                                  <a:latin typeface="Cambria Math" panose="02040503050406030204" pitchFamily="18" charset="0"/>
                                </a:rPr>
                              </m:ctrlPr>
                            </m:accPr>
                            <m:e>
                              <m:r>
                                <a:rPr lang="es-CR" i="1">
                                  <a:latin typeface="Cambria Math" panose="02040503050406030204" pitchFamily="18" charset="0"/>
                                </a:rPr>
                                <m:t>𝑥</m:t>
                              </m:r>
                            </m:e>
                          </m:acc>
                          <m:r>
                            <a:rPr lang="es-CR" b="0" i="1" smtClean="0">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r>
                                <a:rPr lang="es-CR" i="1">
                                  <a:latin typeface="Cambria Math" panose="02040503050406030204" pitchFamily="18" charset="0"/>
                                </a:rPr>
                                <m:t>0.025</m:t>
                              </m:r>
                            </m:sub>
                          </m:sSub>
                          <m:r>
                            <a:rPr lang="es-CR" i="1">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𝜎</m:t>
                                  </m:r>
                                </m:num>
                                <m:den>
                                  <m:rad>
                                    <m:radPr>
                                      <m:degHide m:val="on"/>
                                      <m:ctrlPr>
                                        <a:rPr lang="es-CR" i="1">
                                          <a:latin typeface="Cambria Math" panose="02040503050406030204" pitchFamily="18" charset="0"/>
                                          <a:ea typeface="Cambria Math" panose="02040503050406030204" pitchFamily="18" charset="0"/>
                                        </a:rPr>
                                      </m:ctrlPr>
                                    </m:radPr>
                                    <m:deg/>
                                    <m:e>
                                      <m:r>
                                        <a:rPr lang="es-CR" i="1">
                                          <a:latin typeface="Cambria Math" panose="02040503050406030204" pitchFamily="18" charset="0"/>
                                          <a:ea typeface="Cambria Math" panose="02040503050406030204" pitchFamily="18" charset="0"/>
                                        </a:rPr>
                                        <m:t>𝑛</m:t>
                                      </m:r>
                                    </m:e>
                                  </m:rad>
                                </m:den>
                              </m:f>
                            </m:e>
                          </m:d>
                        </m:e>
                      </m:d>
                      <m:r>
                        <a:rPr lang="es-CR" b="0" i="1" smtClean="0">
                          <a:latin typeface="Cambria Math" panose="02040503050406030204" pitchFamily="18" charset="0"/>
                          <a:ea typeface="Cambria Math" panose="02040503050406030204" pitchFamily="18" charset="0"/>
                        </a:rPr>
                        <m:t>=</m:t>
                      </m:r>
                    </m:oMath>
                  </m:oMathPara>
                </a14:m>
                <a:endParaRPr lang="es-CR" b="0" dirty="0">
                  <a:ea typeface="Cambria Math" panose="02040503050406030204" pitchFamily="18" charset="0"/>
                </a:endParaRPr>
              </a:p>
              <a:p>
                <a:pPr marL="0" indent="0">
                  <a:buNone/>
                </a:pPr>
                <a:endParaRPr lang="es-C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s-CR" b="0" i="1" smtClean="0">
                              <a:latin typeface="Cambria Math" panose="02040503050406030204" pitchFamily="18" charset="0"/>
                            </a:rPr>
                          </m:ctrlPr>
                        </m:dPr>
                        <m:e>
                          <m:r>
                            <a:rPr lang="es-CR" i="1" smtClean="0">
                              <a:latin typeface="Cambria Math" panose="02040503050406030204" pitchFamily="18" charset="0"/>
                            </a:rPr>
                            <m:t>1</m:t>
                          </m:r>
                          <m:r>
                            <a:rPr lang="es-CR" b="0" i="1" smtClean="0">
                              <a:latin typeface="Cambria Math" panose="02040503050406030204" pitchFamily="18" charset="0"/>
                            </a:rPr>
                            <m:t>,478−</m:t>
                          </m:r>
                          <m:r>
                            <a:rPr lang="es-CR" i="1" smtClean="0">
                              <a:latin typeface="Cambria Math" panose="02040503050406030204" pitchFamily="18" charset="0"/>
                            </a:rPr>
                            <m:t>1</m:t>
                          </m:r>
                          <m:r>
                            <a:rPr lang="es-CR" b="0" i="1" smtClean="0">
                              <a:latin typeface="Cambria Math" panose="02040503050406030204" pitchFamily="18" charset="0"/>
                            </a:rPr>
                            <m:t>.96</m:t>
                          </m:r>
                          <m:r>
                            <a:rPr lang="es-CR" i="1">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36</m:t>
                                  </m:r>
                                </m:num>
                                <m:den>
                                  <m:rad>
                                    <m:radPr>
                                      <m:degHide m:val="on"/>
                                      <m:ctrlPr>
                                        <a:rPr lang="es-CR" i="1">
                                          <a:latin typeface="Cambria Math" panose="02040503050406030204" pitchFamily="18" charset="0"/>
                                          <a:ea typeface="Cambria Math" panose="02040503050406030204" pitchFamily="18" charset="0"/>
                                        </a:rPr>
                                      </m:ctrlPr>
                                    </m:radPr>
                                    <m:deg/>
                                    <m:e>
                                      <m:r>
                                        <a:rPr lang="es-CR" b="0" i="1" smtClean="0">
                                          <a:latin typeface="Cambria Math" panose="02040503050406030204" pitchFamily="18" charset="0"/>
                                          <a:ea typeface="Cambria Math" panose="02040503050406030204" pitchFamily="18" charset="0"/>
                                        </a:rPr>
                                        <m:t>27</m:t>
                                      </m:r>
                                    </m:e>
                                  </m:rad>
                                </m:den>
                              </m:f>
                            </m:e>
                          </m:d>
                          <m:r>
                            <a:rPr lang="es-CR" b="0" i="1" smtClean="0">
                              <a:latin typeface="Cambria Math" panose="02040503050406030204" pitchFamily="18" charset="0"/>
                              <a:ea typeface="Cambria Math" panose="02040503050406030204" pitchFamily="18" charset="0"/>
                            </a:rPr>
                            <m:t>,</m:t>
                          </m:r>
                          <m:r>
                            <a:rPr lang="es-CR" i="1" smtClean="0">
                              <a:latin typeface="Cambria Math" panose="02040503050406030204" pitchFamily="18" charset="0"/>
                            </a:rPr>
                            <m:t> </m:t>
                          </m:r>
                          <m:r>
                            <a:rPr lang="es-CR" b="0" i="1" smtClean="0">
                              <a:latin typeface="Cambria Math" panose="02040503050406030204" pitchFamily="18" charset="0"/>
                            </a:rPr>
                            <m:t>1,478+1.96</m:t>
                          </m:r>
                          <m:r>
                            <a:rPr lang="es-CR" i="1">
                              <a:latin typeface="Cambria Math" panose="02040503050406030204" pitchFamily="18" charset="0"/>
                            </a:rPr>
                            <m:t>∗</m:t>
                          </m:r>
                          <m:d>
                            <m:dPr>
                              <m:ctrlPr>
                                <a:rPr lang="es-CR" i="1">
                                  <a:latin typeface="Cambria Math" panose="02040503050406030204" pitchFamily="18" charset="0"/>
                                </a:rPr>
                              </m:ctrlPr>
                            </m:dPr>
                            <m:e>
                              <m:f>
                                <m:fPr>
                                  <m:type m:val="skw"/>
                                  <m:ctrlPr>
                                    <a:rPr lang="es-CR" i="1">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36</m:t>
                                  </m:r>
                                </m:num>
                                <m:den>
                                  <m:rad>
                                    <m:radPr>
                                      <m:degHide m:val="on"/>
                                      <m:ctrlPr>
                                        <a:rPr lang="es-CR" i="1">
                                          <a:latin typeface="Cambria Math" panose="02040503050406030204" pitchFamily="18" charset="0"/>
                                          <a:ea typeface="Cambria Math" panose="02040503050406030204" pitchFamily="18" charset="0"/>
                                        </a:rPr>
                                      </m:ctrlPr>
                                    </m:radPr>
                                    <m:deg/>
                                    <m:e>
                                      <m:r>
                                        <a:rPr lang="es-CR" b="0" i="1" smtClean="0">
                                          <a:latin typeface="Cambria Math" panose="02040503050406030204" pitchFamily="18" charset="0"/>
                                          <a:ea typeface="Cambria Math" panose="02040503050406030204" pitchFamily="18" charset="0"/>
                                        </a:rPr>
                                        <m:t>27</m:t>
                                      </m:r>
                                    </m:e>
                                  </m:rad>
                                </m:den>
                              </m:f>
                            </m:e>
                          </m:d>
                        </m:e>
                      </m:d>
                      <m:r>
                        <a:rPr lang="es-CR" b="0" i="1" smtClean="0">
                          <a:latin typeface="Cambria Math" panose="02040503050406030204" pitchFamily="18" charset="0"/>
                          <a:ea typeface="Cambria Math" panose="02040503050406030204" pitchFamily="18" charset="0"/>
                        </a:rPr>
                        <m:t>=</m:t>
                      </m:r>
                    </m:oMath>
                  </m:oMathPara>
                </a14:m>
                <a:endParaRPr lang="es-CR" b="0" dirty="0">
                  <a:ea typeface="Cambria Math" panose="02040503050406030204" pitchFamily="18" charset="0"/>
                </a:endParaRPr>
              </a:p>
              <a:p>
                <a:pPr marL="0" indent="0">
                  <a:buNone/>
                </a:pPr>
                <a:endParaRPr lang="es-C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s-CR" b="0" i="1" smtClean="0">
                              <a:latin typeface="Cambria Math" panose="02040503050406030204" pitchFamily="18" charset="0"/>
                            </a:rPr>
                          </m:ctrlPr>
                        </m:dPr>
                        <m:e>
                          <m:r>
                            <a:rPr lang="es-CR" i="1" smtClean="0">
                              <a:latin typeface="Cambria Math" panose="02040503050406030204" pitchFamily="18" charset="0"/>
                            </a:rPr>
                            <m:t>1</m:t>
                          </m:r>
                          <m:r>
                            <a:rPr lang="es-CR" b="0" i="1" smtClean="0">
                              <a:latin typeface="Cambria Math" panose="02040503050406030204" pitchFamily="18" charset="0"/>
                            </a:rPr>
                            <m:t>,464.42, 1,491.58</m:t>
                          </m:r>
                        </m:e>
                      </m:d>
                      <m:r>
                        <a:rPr lang="es-CR" b="0" i="1" smtClean="0">
                          <a:latin typeface="Cambria Math" panose="02040503050406030204" pitchFamily="18" charset="0"/>
                          <a:ea typeface="Cambria Math" panose="02040503050406030204" pitchFamily="18" charset="0"/>
                        </a:rPr>
                        <m:t>=</m:t>
                      </m:r>
                    </m:oMath>
                  </m:oMathPara>
                </a14:m>
                <a:endParaRPr lang="es-CR" b="0" dirty="0">
                  <a:ea typeface="Cambria Math" panose="02040503050406030204" pitchFamily="18" charset="0"/>
                </a:endParaRPr>
              </a:p>
              <a:p>
                <a:pPr marL="0" indent="0">
                  <a:buNone/>
                </a:pPr>
                <a:endParaRPr lang="es-CR" dirty="0"/>
              </a:p>
            </p:txBody>
          </p:sp>
        </mc:Choice>
        <mc:Fallback xmlns="">
          <p:sp>
            <p:nvSpPr>
              <p:cNvPr id="2" name="Content Placeholder 1">
                <a:extLst>
                  <a:ext uri="{FF2B5EF4-FFF2-40B4-BE49-F238E27FC236}">
                    <a16:creationId xmlns:a16="http://schemas.microsoft.com/office/drawing/2014/main" id="{A46E9781-F18B-25F4-F534-85917EB64A03}"/>
                  </a:ext>
                </a:extLst>
              </p:cNvPr>
              <p:cNvSpPr>
                <a:spLocks noGrp="1" noRot="1" noChangeAspect="1" noMove="1" noResize="1" noEditPoints="1" noAdjustHandles="1" noChangeArrowheads="1" noChangeShapeType="1" noTextEdit="1"/>
              </p:cNvSpPr>
              <p:nvPr>
                <p:ph sz="half" idx="1"/>
              </p:nvPr>
            </p:nvSpPr>
            <p:spPr>
              <a:xfrm>
                <a:off x="838199" y="2067983"/>
                <a:ext cx="10336877" cy="3735410"/>
              </a:xfrm>
              <a:blipFill>
                <a:blip r:embed="rId2"/>
                <a:stretch>
                  <a:fillRect l="-767" t="-3752" r="-413"/>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0B596C58-C2BA-FBC9-E051-FDBFAA775703}"/>
              </a:ext>
            </a:extLst>
          </p:cNvPr>
          <p:cNvSpPr>
            <a:spLocks noGrp="1"/>
          </p:cNvSpPr>
          <p:nvPr>
            <p:ph type="title"/>
          </p:nvPr>
        </p:nvSpPr>
        <p:spPr/>
        <p:txBody>
          <a:bodyPr/>
          <a:lstStyle/>
          <a:p>
            <a:r>
              <a:rPr lang="es-CR" dirty="0"/>
              <a:t>Ejemplo</a:t>
            </a:r>
          </a:p>
        </p:txBody>
      </p:sp>
    </p:spTree>
    <p:extLst>
      <p:ext uri="{BB962C8B-B14F-4D97-AF65-F5344CB8AC3E}">
        <p14:creationId xmlns:p14="http://schemas.microsoft.com/office/powerpoint/2010/main" val="1073331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208F08-505D-3D5D-DCB8-68841099C6EF}"/>
              </a:ext>
            </a:extLst>
          </p:cNvPr>
          <p:cNvSpPr>
            <a:spLocks noGrp="1"/>
          </p:cNvSpPr>
          <p:nvPr>
            <p:ph type="title"/>
          </p:nvPr>
        </p:nvSpPr>
        <p:spPr/>
        <p:txBody>
          <a:bodyPr/>
          <a:lstStyle/>
          <a:p>
            <a:r>
              <a:rPr lang="es-CR" dirty="0"/>
              <a:t>Ejercicio 1</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34622C9A-A918-D879-EB4B-8B1E8ED60E90}"/>
                  </a:ext>
                </a:extLst>
              </p:cNvPr>
              <p:cNvSpPr>
                <a:spLocks noGrp="1"/>
              </p:cNvSpPr>
              <p:nvPr>
                <p:ph sz="half" idx="1"/>
              </p:nvPr>
            </p:nvSpPr>
            <p:spPr>
              <a:xfrm>
                <a:off x="838200" y="2067983"/>
                <a:ext cx="10515600" cy="3735410"/>
              </a:xfrm>
            </p:spPr>
            <p:txBody>
              <a:bodyPr>
                <a:normAutofit/>
              </a:bodyPr>
              <a:lstStyle/>
              <a:p>
                <a:r>
                  <a:rPr lang="es-MX" sz="2400" dirty="0"/>
                  <a:t>Sea X la cantidad de jugo de naranja (en gramos por día) consumida por una persona. Suponga que se conoce que la desviación estándar de X (</a:t>
                </a:r>
                <a14:m>
                  <m:oMath xmlns:m="http://schemas.openxmlformats.org/officeDocument/2006/math">
                    <m:r>
                      <a:rPr lang="es-MX" sz="2400" i="1" smtClean="0">
                        <a:latin typeface="Cambria Math" panose="02040503050406030204" pitchFamily="18" charset="0"/>
                        <a:ea typeface="Cambria Math" panose="02040503050406030204" pitchFamily="18" charset="0"/>
                      </a:rPr>
                      <m:t>𝜎</m:t>
                    </m:r>
                    <m:r>
                      <a:rPr lang="en-US" sz="2400" b="0" i="1" smtClean="0">
                        <a:latin typeface="Cambria Math" panose="02040503050406030204" pitchFamily="18" charset="0"/>
                        <a:ea typeface="Cambria Math" panose="02040503050406030204" pitchFamily="18" charset="0"/>
                      </a:rPr>
                      <m:t>=96)</m:t>
                    </m:r>
                  </m:oMath>
                </a14:m>
                <a:r>
                  <a:rPr lang="es-MX" sz="2400" dirty="0"/>
                  <a:t>. Para estimar la media de X, una asociación de productores de naranja tomó una muestra aleatoria de n=576 y encontró que, en promedio, consumían 133 (</a:t>
                </a:r>
                <a14:m>
                  <m:oMath xmlns:m="http://schemas.openxmlformats.org/officeDocument/2006/math">
                    <m:acc>
                      <m:accPr>
                        <m:chr m:val="̅"/>
                        <m:ctrlPr>
                          <a:rPr lang="es-MX" sz="240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𝑥</m:t>
                        </m:r>
                      </m:e>
                    </m:acc>
                    <m:r>
                      <a:rPr lang="en-US" sz="2400" b="0" i="1" smtClean="0">
                        <a:latin typeface="Cambria Math" panose="02040503050406030204" pitchFamily="18" charset="0"/>
                        <a:ea typeface="Cambria Math" panose="02040503050406030204" pitchFamily="18" charset="0"/>
                      </a:rPr>
                      <m:t>=133</m:t>
                    </m:r>
                    <m:r>
                      <a:rPr lang="en-US" sz="2400" i="1">
                        <a:latin typeface="Cambria Math" panose="02040503050406030204" pitchFamily="18" charset="0"/>
                        <a:ea typeface="Cambria Math" panose="02040503050406030204" pitchFamily="18" charset="0"/>
                      </a:rPr>
                      <m:t>) </m:t>
                    </m:r>
                  </m:oMath>
                </a14:m>
                <a:r>
                  <a:rPr lang="es-MX" sz="2400" dirty="0"/>
                  <a:t>gramos de jugo de naranja por día.</a:t>
                </a:r>
              </a:p>
              <a:p>
                <a:endParaRPr lang="es-MX" sz="2400" dirty="0"/>
              </a:p>
              <a:p>
                <a:r>
                  <a:rPr lang="es-MX" sz="2400" dirty="0"/>
                  <a:t>Con esta información, calcular un intervalo con un 90% de confianza.</a:t>
                </a:r>
                <a:endParaRPr lang="es-CR" sz="2400" dirty="0"/>
              </a:p>
            </p:txBody>
          </p:sp>
        </mc:Choice>
        <mc:Fallback xmlns="">
          <p:sp>
            <p:nvSpPr>
              <p:cNvPr id="11" name="Content Placeholder 10">
                <a:extLst>
                  <a:ext uri="{FF2B5EF4-FFF2-40B4-BE49-F238E27FC236}">
                    <a16:creationId xmlns:a16="http://schemas.microsoft.com/office/drawing/2014/main" id="{34622C9A-A918-D879-EB4B-8B1E8ED60E90}"/>
                  </a:ext>
                </a:extLst>
              </p:cNvPr>
              <p:cNvSpPr>
                <a:spLocks noGrp="1" noRot="1" noChangeAspect="1" noMove="1" noResize="1" noEditPoints="1" noAdjustHandles="1" noChangeArrowheads="1" noChangeShapeType="1" noTextEdit="1"/>
              </p:cNvSpPr>
              <p:nvPr>
                <p:ph sz="half" idx="1"/>
              </p:nvPr>
            </p:nvSpPr>
            <p:spPr>
              <a:xfrm>
                <a:off x="838200" y="2067983"/>
                <a:ext cx="10515600" cy="3735410"/>
              </a:xfrm>
              <a:blipFill>
                <a:blip r:embed="rId2"/>
                <a:stretch>
                  <a:fillRect l="-812" t="-2284"/>
                </a:stretch>
              </a:blipFill>
            </p:spPr>
            <p:txBody>
              <a:bodyPr/>
              <a:lstStyle/>
              <a:p>
                <a:r>
                  <a:rPr lang="es-CR">
                    <a:noFill/>
                  </a:rPr>
                  <a:t> </a:t>
                </a:r>
              </a:p>
            </p:txBody>
          </p:sp>
        </mc:Fallback>
      </mc:AlternateContent>
    </p:spTree>
    <p:extLst>
      <p:ext uri="{BB962C8B-B14F-4D97-AF65-F5344CB8AC3E}">
        <p14:creationId xmlns:p14="http://schemas.microsoft.com/office/powerpoint/2010/main" val="404764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13EA2D0-7D61-3155-B595-AF3E2D20D8BB}"/>
                  </a:ext>
                </a:extLst>
              </p:cNvPr>
              <p:cNvSpPr>
                <a:spLocks noGrp="1"/>
              </p:cNvSpPr>
              <p:nvPr>
                <p:ph sz="half" idx="1"/>
              </p:nvPr>
            </p:nvSpPr>
            <p:spPr>
              <a:xfrm>
                <a:off x="838200" y="2067983"/>
                <a:ext cx="9944100" cy="3735410"/>
              </a:xfrm>
            </p:spPr>
            <p:txBody>
              <a:bodyPr/>
              <a:lstStyle/>
              <a:p>
                <a14:m>
                  <m:oMath xmlns:m="http://schemas.openxmlformats.org/officeDocument/2006/math">
                    <m:r>
                      <a:rPr lang="en-US" b="0" i="1" smtClean="0">
                        <a:latin typeface="Cambria Math" panose="02040503050406030204" pitchFamily="18" charset="0"/>
                      </a:rPr>
                      <m:t>133 </m:t>
                    </m:r>
                    <m:r>
                      <a:rPr lang="en-US" b="0" i="1" smtClean="0">
                        <a:latin typeface="Cambria Math" panose="02040503050406030204" pitchFamily="18" charset="0"/>
                        <a:ea typeface="Cambria Math" panose="02040503050406030204" pitchFamily="18" charset="0"/>
                      </a:rPr>
                      <m:t>±1.645∗</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96</m:t>
                            </m:r>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576</m:t>
                                </m:r>
                              </m:e>
                            </m:rad>
                          </m:den>
                        </m:f>
                      </m:e>
                    </m:d>
                  </m:oMath>
                </a14:m>
                <a:endParaRPr lang="es-CR" dirty="0"/>
              </a:p>
              <a:p>
                <a:endParaRPr lang="es-CR" dirty="0"/>
              </a:p>
              <a:p>
                <a14:m>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133</m:t>
                        </m:r>
                        <m:r>
                          <a:rPr lang="en-US" b="0" i="1" smtClean="0">
                            <a:latin typeface="Cambria Math" panose="02040503050406030204" pitchFamily="18" charset="0"/>
                          </a:rPr>
                          <m:t>−6.58, 133+6.58</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126.42,  139.58</m:t>
                        </m:r>
                      </m:e>
                    </m:d>
                  </m:oMath>
                </a14:m>
                <a:endParaRPr lang="es-CR" dirty="0"/>
              </a:p>
            </p:txBody>
          </p:sp>
        </mc:Choice>
        <mc:Fallback xmlns="">
          <p:sp>
            <p:nvSpPr>
              <p:cNvPr id="2" name="Content Placeholder 1">
                <a:extLst>
                  <a:ext uri="{FF2B5EF4-FFF2-40B4-BE49-F238E27FC236}">
                    <a16:creationId xmlns:a16="http://schemas.microsoft.com/office/drawing/2014/main" id="{D13EA2D0-7D61-3155-B595-AF3E2D20D8BB}"/>
                  </a:ext>
                </a:extLst>
              </p:cNvPr>
              <p:cNvSpPr>
                <a:spLocks noGrp="1" noRot="1" noChangeAspect="1" noMove="1" noResize="1" noEditPoints="1" noAdjustHandles="1" noChangeArrowheads="1" noChangeShapeType="1" noTextEdit="1"/>
              </p:cNvSpPr>
              <p:nvPr>
                <p:ph sz="half" idx="1"/>
              </p:nvPr>
            </p:nvSpPr>
            <p:spPr>
              <a:xfrm>
                <a:off x="838200" y="2067983"/>
                <a:ext cx="9944100" cy="3735410"/>
              </a:xfrm>
              <a:blipFill>
                <a:blip r:embed="rId2"/>
                <a:stretch>
                  <a:fillRect/>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8CAA153C-8FDF-C137-57B2-805C70179443}"/>
              </a:ext>
            </a:extLst>
          </p:cNvPr>
          <p:cNvSpPr>
            <a:spLocks noGrp="1"/>
          </p:cNvSpPr>
          <p:nvPr>
            <p:ph type="title"/>
          </p:nvPr>
        </p:nvSpPr>
        <p:spPr/>
        <p:txBody>
          <a:bodyPr/>
          <a:lstStyle/>
          <a:p>
            <a:r>
              <a:rPr lang="es-CR" dirty="0"/>
              <a:t>Ejercicio 1: Respuesta</a:t>
            </a:r>
          </a:p>
        </p:txBody>
      </p:sp>
    </p:spTree>
    <p:extLst>
      <p:ext uri="{BB962C8B-B14F-4D97-AF65-F5344CB8AC3E}">
        <p14:creationId xmlns:p14="http://schemas.microsoft.com/office/powerpoint/2010/main" val="903538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669D606-8F10-637A-91DE-342C9D83379B}"/>
                  </a:ext>
                </a:extLst>
              </p:cNvPr>
              <p:cNvSpPr>
                <a:spLocks noGrp="1"/>
              </p:cNvSpPr>
              <p:nvPr>
                <p:ph sz="half" idx="1"/>
              </p:nvPr>
            </p:nvSpPr>
            <p:spPr>
              <a:xfrm>
                <a:off x="838200" y="2067983"/>
                <a:ext cx="10020300" cy="3735410"/>
              </a:xfrm>
            </p:spPr>
            <p:txBody>
              <a:bodyPr/>
              <a:lstStyle/>
              <a:p>
                <a:r>
                  <a:rPr lang="es-CR" dirty="0"/>
                  <a:t>En un muestreo aleatorio de tamaño 16 de una distribución normal </a:t>
                </a:r>
                <a14:m>
                  <m:oMath xmlns:m="http://schemas.openxmlformats.org/officeDocument/2006/math">
                    <m:r>
                      <a:rPr lang="es-CR" b="0" i="1" smtClean="0">
                        <a:latin typeface="Cambria Math" panose="02040503050406030204" pitchFamily="18" charset="0"/>
                      </a:rPr>
                      <m:t>𝑁</m:t>
                    </m:r>
                    <m:d>
                      <m:dPr>
                        <m:ctrlPr>
                          <a:rPr lang="es-CR" b="0" i="1" smtClean="0">
                            <a:latin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𝜇</m:t>
                        </m:r>
                        <m:r>
                          <a:rPr lang="es-CR" b="0" i="1" smtClean="0">
                            <a:latin typeface="Cambria Math" panose="02040503050406030204" pitchFamily="18" charset="0"/>
                            <a:ea typeface="Cambria Math" panose="02040503050406030204" pitchFamily="18" charset="0"/>
                          </a:rPr>
                          <m:t>,25</m:t>
                        </m:r>
                      </m:e>
                    </m:d>
                    <m:r>
                      <a:rPr lang="es-CR" b="0" i="1" smtClean="0">
                        <a:latin typeface="Cambria Math" panose="02040503050406030204" pitchFamily="18" charset="0"/>
                      </a:rPr>
                      <m:t>, </m:t>
                    </m:r>
                  </m:oMath>
                </a14:m>
                <a:r>
                  <a:rPr lang="es-CR" dirty="0"/>
                  <a:t> se obtuvo un promedio muestral de </a:t>
                </a:r>
                <a14:m>
                  <m:oMath xmlns:m="http://schemas.openxmlformats.org/officeDocument/2006/math">
                    <m:acc>
                      <m:accPr>
                        <m:chr m:val="̅"/>
                        <m:ctrlPr>
                          <a:rPr lang="es-CR" i="1" smtClean="0">
                            <a:latin typeface="Cambria Math" panose="02040503050406030204" pitchFamily="18" charset="0"/>
                          </a:rPr>
                        </m:ctrlPr>
                      </m:accPr>
                      <m:e>
                        <m:r>
                          <a:rPr lang="es-CR" b="0" i="1" smtClean="0">
                            <a:latin typeface="Cambria Math" panose="02040503050406030204" pitchFamily="18" charset="0"/>
                          </a:rPr>
                          <m:t>𝑥</m:t>
                        </m:r>
                      </m:e>
                    </m:acc>
                    <m:r>
                      <a:rPr lang="en-US" b="0" i="1" smtClean="0">
                        <a:latin typeface="Cambria Math" panose="02040503050406030204" pitchFamily="18" charset="0"/>
                      </a:rPr>
                      <m:t>=73.8</m:t>
                    </m:r>
                  </m:oMath>
                </a14:m>
                <a:r>
                  <a:rPr lang="es-CR" dirty="0"/>
                  <a:t>. Calcule el intervalo de confianza de 95% para el promedio poblacional.</a:t>
                </a:r>
              </a:p>
              <a:p>
                <a:endParaRPr lang="es-CR" dirty="0"/>
              </a:p>
            </p:txBody>
          </p:sp>
        </mc:Choice>
        <mc:Fallback xmlns="">
          <p:sp>
            <p:nvSpPr>
              <p:cNvPr id="2" name="Content Placeholder 1">
                <a:extLst>
                  <a:ext uri="{FF2B5EF4-FFF2-40B4-BE49-F238E27FC236}">
                    <a16:creationId xmlns:a16="http://schemas.microsoft.com/office/drawing/2014/main" id="{1669D606-8F10-637A-91DE-342C9D83379B}"/>
                  </a:ext>
                </a:extLst>
              </p:cNvPr>
              <p:cNvSpPr>
                <a:spLocks noGrp="1" noRot="1" noChangeAspect="1" noMove="1" noResize="1" noEditPoints="1" noAdjustHandles="1" noChangeArrowheads="1" noChangeShapeType="1" noTextEdit="1"/>
              </p:cNvSpPr>
              <p:nvPr>
                <p:ph sz="half" idx="1"/>
              </p:nvPr>
            </p:nvSpPr>
            <p:spPr>
              <a:xfrm>
                <a:off x="838200" y="2067983"/>
                <a:ext cx="10020300" cy="3735410"/>
              </a:xfrm>
              <a:blipFill>
                <a:blip r:embed="rId2"/>
                <a:stretch>
                  <a:fillRect l="-1096" t="-2610"/>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9B5C3E81-DD6A-56B6-FBA8-84A481A8BF34}"/>
              </a:ext>
            </a:extLst>
          </p:cNvPr>
          <p:cNvSpPr>
            <a:spLocks noGrp="1"/>
          </p:cNvSpPr>
          <p:nvPr>
            <p:ph type="title"/>
          </p:nvPr>
        </p:nvSpPr>
        <p:spPr/>
        <p:txBody>
          <a:bodyPr/>
          <a:lstStyle/>
          <a:p>
            <a:r>
              <a:rPr lang="es-CR" dirty="0"/>
              <a:t>Ejercicio 2</a:t>
            </a:r>
          </a:p>
        </p:txBody>
      </p:sp>
    </p:spTree>
    <p:extLst>
      <p:ext uri="{BB962C8B-B14F-4D97-AF65-F5344CB8AC3E}">
        <p14:creationId xmlns:p14="http://schemas.microsoft.com/office/powerpoint/2010/main" val="2504731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2190811-736E-61FB-540C-113149B1D8C4}"/>
                  </a:ext>
                </a:extLst>
              </p:cNvPr>
              <p:cNvSpPr>
                <a:spLocks noGrp="1"/>
              </p:cNvSpPr>
              <p:nvPr>
                <p:ph sz="half" idx="1"/>
              </p:nvPr>
            </p:nvSpPr>
            <p:spPr>
              <a:xfrm>
                <a:off x="838200" y="2067983"/>
                <a:ext cx="10153650" cy="3735410"/>
              </a:xfrm>
            </p:spPr>
            <p:txBody>
              <a:bodyPr/>
              <a:lstStyle/>
              <a:p>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73.8</m:t>
                        </m:r>
                        <m:r>
                          <a:rPr lang="en-US" i="1">
                            <a:latin typeface="Cambria Math" panose="02040503050406030204" pitchFamily="18" charset="0"/>
                          </a:rPr>
                          <m:t>−</m:t>
                        </m:r>
                        <m:r>
                          <m:rPr>
                            <m:nor/>
                          </m:rPr>
                          <a:rPr lang="es-CR" i="0"/>
                          <m:t>1.9</m:t>
                        </m:r>
                        <m:r>
                          <a:rPr lang="en-US" b="0" i="1" smtClean="0">
                            <a:latin typeface="Cambria Math" panose="02040503050406030204" pitchFamily="18" charset="0"/>
                          </a:rPr>
                          <m:t>6∗</m:t>
                        </m: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4</m:t>
                            </m:r>
                          </m:den>
                        </m:f>
                        <m:r>
                          <a:rPr lang="en-US" i="1">
                            <a:latin typeface="Cambria Math" panose="02040503050406030204" pitchFamily="18" charset="0"/>
                          </a:rPr>
                          <m:t>, </m:t>
                        </m:r>
                        <m:r>
                          <a:rPr lang="en-US" b="0" i="1" smtClean="0">
                            <a:latin typeface="Cambria Math" panose="02040503050406030204" pitchFamily="18" charset="0"/>
                          </a:rPr>
                          <m:t>73.8+</m:t>
                        </m:r>
                        <m:r>
                          <m:rPr>
                            <m:nor/>
                          </m:rPr>
                          <a:rPr lang="es-CR" i="0"/>
                          <m:t>1.9</m:t>
                        </m:r>
                        <m:r>
                          <a:rPr lang="en-US" i="1">
                            <a:latin typeface="Cambria Math" panose="02040503050406030204" pitchFamily="18" charset="0"/>
                          </a:rPr>
                          <m:t>6∗</m:t>
                        </m:r>
                        <m:f>
                          <m:fPr>
                            <m:ctrlPr>
                              <a:rPr lang="en-US" i="1">
                                <a:latin typeface="Cambria Math" panose="02040503050406030204" pitchFamily="18" charset="0"/>
                              </a:rPr>
                            </m:ctrlPr>
                          </m:fPr>
                          <m:num>
                            <m:r>
                              <a:rPr lang="en-US" i="1">
                                <a:latin typeface="Cambria Math" panose="02040503050406030204" pitchFamily="18" charset="0"/>
                              </a:rPr>
                              <m:t>5</m:t>
                            </m:r>
                          </m:num>
                          <m:den>
                            <m:r>
                              <a:rPr lang="en-US" i="1">
                                <a:latin typeface="Cambria Math" panose="02040503050406030204" pitchFamily="18" charset="0"/>
                              </a:rPr>
                              <m:t>4</m:t>
                            </m:r>
                          </m:den>
                        </m:f>
                        <m:r>
                          <a:rPr lang="en-US" i="1">
                            <a:latin typeface="Cambria Math" panose="02040503050406030204" pitchFamily="18" charset="0"/>
                          </a:rPr>
                          <m:t>,</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71.35</m:t>
                        </m:r>
                        <m:r>
                          <a:rPr lang="en-US" i="1">
                            <a:latin typeface="Cambria Math" panose="02040503050406030204" pitchFamily="18" charset="0"/>
                          </a:rPr>
                          <m:t>,  </m:t>
                        </m:r>
                        <m:r>
                          <a:rPr lang="en-US" b="0" i="1" smtClean="0">
                            <a:latin typeface="Cambria Math" panose="02040503050406030204" pitchFamily="18" charset="0"/>
                          </a:rPr>
                          <m:t>76.25</m:t>
                        </m:r>
                      </m:e>
                    </m:d>
                  </m:oMath>
                </a14:m>
                <a:endParaRPr lang="es-CR" dirty="0"/>
              </a:p>
              <a:p>
                <a:endParaRPr lang="es-CR" dirty="0"/>
              </a:p>
            </p:txBody>
          </p:sp>
        </mc:Choice>
        <mc:Fallback xmlns="">
          <p:sp>
            <p:nvSpPr>
              <p:cNvPr id="2" name="Content Placeholder 1">
                <a:extLst>
                  <a:ext uri="{FF2B5EF4-FFF2-40B4-BE49-F238E27FC236}">
                    <a16:creationId xmlns:a16="http://schemas.microsoft.com/office/drawing/2014/main" id="{12190811-736E-61FB-540C-113149B1D8C4}"/>
                  </a:ext>
                </a:extLst>
              </p:cNvPr>
              <p:cNvSpPr>
                <a:spLocks noGrp="1" noRot="1" noChangeAspect="1" noMove="1" noResize="1" noEditPoints="1" noAdjustHandles="1" noChangeArrowheads="1" noChangeShapeType="1" noTextEdit="1"/>
              </p:cNvSpPr>
              <p:nvPr>
                <p:ph sz="half" idx="1"/>
              </p:nvPr>
            </p:nvSpPr>
            <p:spPr>
              <a:xfrm>
                <a:off x="838200" y="2067983"/>
                <a:ext cx="10153650" cy="3735410"/>
              </a:xfrm>
              <a:blipFill>
                <a:blip r:embed="rId2"/>
                <a:stretch>
                  <a:fillRect/>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88A9EA22-2671-CF59-F448-D8D229539D70}"/>
              </a:ext>
            </a:extLst>
          </p:cNvPr>
          <p:cNvSpPr>
            <a:spLocks noGrp="1"/>
          </p:cNvSpPr>
          <p:nvPr>
            <p:ph type="title"/>
          </p:nvPr>
        </p:nvSpPr>
        <p:spPr/>
        <p:txBody>
          <a:bodyPr/>
          <a:lstStyle/>
          <a:p>
            <a:r>
              <a:rPr lang="en-US" dirty="0" err="1"/>
              <a:t>Ejercicio</a:t>
            </a:r>
            <a:r>
              <a:rPr lang="en-US" dirty="0"/>
              <a:t> 2: Respuesta</a:t>
            </a:r>
            <a:endParaRPr lang="es-CR" dirty="0"/>
          </a:p>
        </p:txBody>
      </p:sp>
    </p:spTree>
    <p:extLst>
      <p:ext uri="{BB962C8B-B14F-4D97-AF65-F5344CB8AC3E}">
        <p14:creationId xmlns:p14="http://schemas.microsoft.com/office/powerpoint/2010/main" val="3176370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0A6E6-48B2-487D-0418-5E2A70AAF4C9}"/>
              </a:ext>
            </a:extLst>
          </p:cNvPr>
          <p:cNvSpPr>
            <a:spLocks noGrp="1"/>
          </p:cNvSpPr>
          <p:nvPr>
            <p:ph type="ctrTitle"/>
          </p:nvPr>
        </p:nvSpPr>
        <p:spPr/>
        <p:txBody>
          <a:bodyPr>
            <a:normAutofit fontScale="90000"/>
          </a:bodyPr>
          <a:lstStyle/>
          <a:p>
            <a:r>
              <a:rPr lang="es-MX" dirty="0"/>
              <a:t>Intervalo de confianza de una proporción</a:t>
            </a:r>
            <a:endParaRPr lang="es-CR" dirty="0"/>
          </a:p>
        </p:txBody>
      </p:sp>
    </p:spTree>
    <p:extLst>
      <p:ext uri="{BB962C8B-B14F-4D97-AF65-F5344CB8AC3E}">
        <p14:creationId xmlns:p14="http://schemas.microsoft.com/office/powerpoint/2010/main" val="4087062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81EBB9-E017-9B30-2455-7F0CBD154CE9}"/>
              </a:ext>
            </a:extLst>
          </p:cNvPr>
          <p:cNvSpPr>
            <a:spLocks noGrp="1"/>
          </p:cNvSpPr>
          <p:nvPr>
            <p:ph type="title"/>
          </p:nvPr>
        </p:nvSpPr>
        <p:spPr/>
        <p:txBody>
          <a:bodyPr/>
          <a:lstStyle/>
          <a:p>
            <a:r>
              <a:rPr lang="en-US" dirty="0" err="1"/>
              <a:t>Definición</a:t>
            </a:r>
            <a:endParaRPr lang="es-CR" dirty="0"/>
          </a:p>
        </p:txBody>
      </p:sp>
      <p:sp>
        <p:nvSpPr>
          <p:cNvPr id="4" name="Content Placeholder 3">
            <a:extLst>
              <a:ext uri="{FF2B5EF4-FFF2-40B4-BE49-F238E27FC236}">
                <a16:creationId xmlns:a16="http://schemas.microsoft.com/office/drawing/2014/main" id="{69B5E734-8269-B0C5-F5DB-91C33CFC8469}"/>
              </a:ext>
            </a:extLst>
          </p:cNvPr>
          <p:cNvSpPr>
            <a:spLocks noGrp="1"/>
          </p:cNvSpPr>
          <p:nvPr>
            <p:ph sz="half" idx="1"/>
          </p:nvPr>
        </p:nvSpPr>
        <p:spPr>
          <a:xfrm>
            <a:off x="838199" y="2067983"/>
            <a:ext cx="10336877" cy="3735410"/>
          </a:xfrm>
        </p:spPr>
        <p:txBody>
          <a:bodyPr>
            <a:normAutofit fontScale="92500" lnSpcReduction="20000"/>
          </a:bodyPr>
          <a:lstStyle/>
          <a:p>
            <a:r>
              <a:rPr lang="en-US" dirty="0"/>
              <a:t>En </a:t>
            </a:r>
            <a:r>
              <a:rPr lang="en-US" dirty="0" err="1"/>
              <a:t>algunas</a:t>
            </a:r>
            <a:r>
              <a:rPr lang="en-US" dirty="0"/>
              <a:t> </a:t>
            </a:r>
            <a:r>
              <a:rPr lang="en-US" dirty="0" err="1"/>
              <a:t>ocasiones</a:t>
            </a:r>
            <a:r>
              <a:rPr lang="en-US" dirty="0"/>
              <a:t> se </a:t>
            </a:r>
            <a:r>
              <a:rPr lang="en-US" dirty="0" err="1"/>
              <a:t>tiene</a:t>
            </a:r>
            <a:r>
              <a:rPr lang="en-US" dirty="0"/>
              <a:t> </a:t>
            </a:r>
            <a:r>
              <a:rPr lang="en-US" dirty="0" err="1"/>
              <a:t>interés</a:t>
            </a:r>
            <a:r>
              <a:rPr lang="en-US" dirty="0"/>
              <a:t> </a:t>
            </a:r>
            <a:r>
              <a:rPr lang="en-US" dirty="0" err="1"/>
              <a:t>en</a:t>
            </a:r>
            <a:r>
              <a:rPr lang="en-US" dirty="0"/>
              <a:t> </a:t>
            </a:r>
            <a:r>
              <a:rPr lang="en-US" dirty="0" err="1"/>
              <a:t>realizar</a:t>
            </a:r>
            <a:r>
              <a:rPr lang="en-US" dirty="0"/>
              <a:t> </a:t>
            </a:r>
            <a:r>
              <a:rPr lang="en-US" dirty="0" err="1"/>
              <a:t>inferencia</a:t>
            </a:r>
            <a:r>
              <a:rPr lang="en-US" dirty="0"/>
              <a:t> </a:t>
            </a:r>
            <a:r>
              <a:rPr lang="en-US" dirty="0" err="1"/>
              <a:t>sobre</a:t>
            </a:r>
            <a:r>
              <a:rPr lang="en-US" dirty="0"/>
              <a:t> la </a:t>
            </a:r>
            <a:r>
              <a:rPr lang="en-US" dirty="0" err="1"/>
              <a:t>proporción</a:t>
            </a:r>
            <a:r>
              <a:rPr lang="en-US" dirty="0"/>
              <a:t> de </a:t>
            </a:r>
            <a:r>
              <a:rPr lang="en-US" dirty="0" err="1"/>
              <a:t>una</a:t>
            </a:r>
            <a:r>
              <a:rPr lang="en-US" dirty="0"/>
              <a:t> población. </a:t>
            </a:r>
            <a:r>
              <a:rPr lang="en-US" dirty="0" err="1"/>
              <a:t>Ejemplo</a:t>
            </a:r>
            <a:r>
              <a:rPr lang="en-US" dirty="0"/>
              <a:t>, </a:t>
            </a:r>
            <a:r>
              <a:rPr lang="en-US" dirty="0" err="1"/>
              <a:t>conocer</a:t>
            </a:r>
            <a:r>
              <a:rPr lang="en-US" dirty="0"/>
              <a:t> la </a:t>
            </a:r>
            <a:r>
              <a:rPr lang="en-US" dirty="0" err="1"/>
              <a:t>proporción</a:t>
            </a:r>
            <a:r>
              <a:rPr lang="en-US" dirty="0"/>
              <a:t> de personas </a:t>
            </a:r>
            <a:r>
              <a:rPr lang="en-US" dirty="0" err="1"/>
              <a:t>que</a:t>
            </a:r>
            <a:r>
              <a:rPr lang="en-US" dirty="0"/>
              <a:t> </a:t>
            </a:r>
            <a:r>
              <a:rPr lang="en-US" dirty="0" err="1"/>
              <a:t>tienen</a:t>
            </a:r>
            <a:r>
              <a:rPr lang="en-US" dirty="0"/>
              <a:t> </a:t>
            </a:r>
            <a:r>
              <a:rPr lang="en-US" dirty="0" err="1"/>
              <a:t>intención</a:t>
            </a:r>
            <a:r>
              <a:rPr lang="en-US" dirty="0"/>
              <a:t> de </a:t>
            </a:r>
            <a:r>
              <a:rPr lang="en-US" dirty="0" err="1"/>
              <a:t>votar</a:t>
            </a:r>
            <a:r>
              <a:rPr lang="en-US" dirty="0"/>
              <a:t> </a:t>
            </a:r>
            <a:r>
              <a:rPr lang="en-US" dirty="0" err="1"/>
              <a:t>por</a:t>
            </a:r>
            <a:r>
              <a:rPr lang="en-US" dirty="0"/>
              <a:t> </a:t>
            </a:r>
            <a:r>
              <a:rPr lang="en-US" dirty="0" err="1"/>
              <a:t>cierto</a:t>
            </a:r>
            <a:r>
              <a:rPr lang="en-US" dirty="0"/>
              <a:t> </a:t>
            </a:r>
            <a:r>
              <a:rPr lang="en-US" dirty="0" err="1"/>
              <a:t>candidato</a:t>
            </a:r>
            <a:r>
              <a:rPr lang="en-US" dirty="0"/>
              <a:t>.</a:t>
            </a:r>
          </a:p>
          <a:p>
            <a:endParaRPr lang="es-CR" dirty="0"/>
          </a:p>
          <a:p>
            <a:r>
              <a:rPr lang="es-CR" dirty="0"/>
              <a:t>Se toma una muestra y se asigna valores de 0 y 1, donde 1 es la intención de voto por el candidato. Estos datos siguen una distribución de Bernoulli (n, p) </a:t>
            </a:r>
          </a:p>
          <a:p>
            <a:endParaRPr lang="es-CR" dirty="0"/>
          </a:p>
          <a:p>
            <a:r>
              <a:rPr lang="es-CR" dirty="0"/>
              <a:t>En general, cuando se observa n Bernoulli ensayos con probabilidad </a:t>
            </a:r>
            <a:r>
              <a:rPr lang="es-CR" b="1" i="1" dirty="0">
                <a:solidFill>
                  <a:srgbClr val="000F9F"/>
                </a:solidFill>
              </a:rPr>
              <a:t>p </a:t>
            </a:r>
            <a:r>
              <a:rPr lang="es-CR" dirty="0"/>
              <a:t>de éxito, se puede construir un intervalo de confianza del intervalo </a:t>
            </a:r>
            <a:r>
              <a:rPr lang="es-CR" b="1" i="1" dirty="0">
                <a:solidFill>
                  <a:srgbClr val="000F9F"/>
                </a:solidFill>
              </a:rPr>
              <a:t>p</a:t>
            </a:r>
            <a:r>
              <a:rPr lang="es-CR" dirty="0"/>
              <a:t> basado en </a:t>
            </a:r>
            <a:r>
              <a:rPr lang="es-CR" b="1" i="1" dirty="0">
                <a:solidFill>
                  <a:srgbClr val="000F9F"/>
                </a:solidFill>
              </a:rPr>
              <a:t>Y/n</a:t>
            </a:r>
            <a:r>
              <a:rPr lang="es-CR" dirty="0"/>
              <a:t> </a:t>
            </a:r>
            <a:endParaRPr lang="es-CR" b="1" i="1" dirty="0">
              <a:solidFill>
                <a:srgbClr val="000F9F"/>
              </a:solidFill>
            </a:endParaRPr>
          </a:p>
        </p:txBody>
      </p:sp>
    </p:spTree>
    <p:extLst>
      <p:ext uri="{BB962C8B-B14F-4D97-AF65-F5344CB8AC3E}">
        <p14:creationId xmlns:p14="http://schemas.microsoft.com/office/powerpoint/2010/main" val="2471355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10AD8-DD7B-8283-80BC-E92255027C1B}"/>
              </a:ext>
            </a:extLst>
          </p:cNvPr>
          <p:cNvSpPr>
            <a:spLocks noGrp="1"/>
          </p:cNvSpPr>
          <p:nvPr>
            <p:ph type="title"/>
          </p:nvPr>
        </p:nvSpPr>
        <p:spPr/>
        <p:txBody>
          <a:bodyPr/>
          <a:lstStyle/>
          <a:p>
            <a:r>
              <a:rPr lang="es-CR" dirty="0"/>
              <a:t>Intervalo de confianza de una proporción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64872A-6162-5503-23CF-417A23C53F10}"/>
                  </a:ext>
                </a:extLst>
              </p:cNvPr>
              <p:cNvSpPr>
                <a:spLocks noGrp="1"/>
              </p:cNvSpPr>
              <p:nvPr>
                <p:ph sz="half" idx="1"/>
              </p:nvPr>
            </p:nvSpPr>
            <p:spPr>
              <a:xfrm>
                <a:off x="838200" y="2067983"/>
                <a:ext cx="10096500" cy="3735410"/>
              </a:xfrm>
            </p:spPr>
            <p:txBody>
              <a:bodyPr>
                <a:normAutofit fontScale="70000" lnSpcReduction="20000"/>
              </a:bodyPr>
              <a:lstStyle/>
              <a:p>
                <a:pPr marL="0" indent="0" algn="ctr">
                  <a:buNone/>
                </a:pPr>
                <a14:m>
                  <m:oMath xmlns:m="http://schemas.openxmlformats.org/officeDocument/2006/math">
                    <m:f>
                      <m:fPr>
                        <m:ctrlPr>
                          <a:rPr lang="es-CR" i="1" smtClean="0">
                            <a:latin typeface="Cambria Math" panose="02040503050406030204" pitchFamily="18" charset="0"/>
                          </a:rPr>
                        </m:ctrlPr>
                      </m:fPr>
                      <m:num>
                        <m:r>
                          <a:rPr lang="es-CR" b="0" i="1" smtClean="0">
                            <a:latin typeface="Cambria Math" panose="02040503050406030204" pitchFamily="18" charset="0"/>
                          </a:rPr>
                          <m:t>𝑌</m:t>
                        </m:r>
                        <m:r>
                          <a:rPr lang="es-CR" b="0" i="1" smtClean="0">
                            <a:latin typeface="Cambria Math" panose="02040503050406030204" pitchFamily="18" charset="0"/>
                          </a:rPr>
                          <m:t>−</m:t>
                        </m:r>
                        <m:r>
                          <a:rPr lang="es-CR" b="0" i="1" smtClean="0">
                            <a:latin typeface="Cambria Math" panose="02040503050406030204" pitchFamily="18" charset="0"/>
                          </a:rPr>
                          <m:t>𝑛𝑝</m:t>
                        </m:r>
                      </m:num>
                      <m:den>
                        <m:rad>
                          <m:radPr>
                            <m:degHide m:val="on"/>
                            <m:ctrlPr>
                              <a:rPr lang="es-CR" i="1" smtClean="0">
                                <a:latin typeface="Cambria Math" panose="02040503050406030204" pitchFamily="18" charset="0"/>
                              </a:rPr>
                            </m:ctrlPr>
                          </m:radPr>
                          <m:deg/>
                          <m:e>
                            <m:r>
                              <a:rPr lang="es-CR" b="0" i="1" smtClean="0">
                                <a:latin typeface="Cambria Math" panose="02040503050406030204" pitchFamily="18" charset="0"/>
                              </a:rPr>
                              <m:t>𝑛𝑝</m:t>
                            </m:r>
                            <m:r>
                              <a:rPr lang="es-CR" b="0" i="1" smtClean="0">
                                <a:latin typeface="Cambria Math" panose="02040503050406030204" pitchFamily="18" charset="0"/>
                              </a:rPr>
                              <m:t>(1−</m:t>
                            </m:r>
                            <m:r>
                              <a:rPr lang="es-CR" b="0" i="1" smtClean="0">
                                <a:latin typeface="Cambria Math" panose="02040503050406030204" pitchFamily="18" charset="0"/>
                              </a:rPr>
                              <m:t>𝑝</m:t>
                            </m:r>
                            <m:r>
                              <a:rPr lang="es-CR" b="0" i="1" smtClean="0">
                                <a:latin typeface="Cambria Math" panose="02040503050406030204" pitchFamily="18" charset="0"/>
                              </a:rPr>
                              <m:t>)</m:t>
                            </m:r>
                          </m:e>
                        </m:ra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𝑌</m:t>
                                </m:r>
                              </m:num>
                              <m:den>
                                <m:r>
                                  <a:rPr lang="en-US" b="0" i="1" smtClean="0">
                                    <a:latin typeface="Cambria Math" panose="02040503050406030204" pitchFamily="18" charset="0"/>
                                  </a:rPr>
                                  <m:t>𝑛</m:t>
                                </m:r>
                              </m:den>
                            </m:f>
                          </m:e>
                        </m:d>
                        <m:r>
                          <a:rPr lang="en-US" b="0" i="1" smtClean="0">
                            <a:latin typeface="Cambria Math" panose="02040503050406030204" pitchFamily="18" charset="0"/>
                          </a:rPr>
                          <m:t>−</m:t>
                        </m:r>
                        <m:r>
                          <a:rPr lang="en-US" b="0" i="1" smtClean="0">
                            <a:latin typeface="Cambria Math" panose="02040503050406030204" pitchFamily="18" charset="0"/>
                          </a:rPr>
                          <m:t>𝑝</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𝑛</m:t>
                            </m:r>
                          </m:e>
                        </m:rad>
                      </m:den>
                    </m:f>
                  </m:oMath>
                </a14:m>
                <a:r>
                  <a:rPr lang="es-CR" dirty="0"/>
                  <a:t>, </a:t>
                </a:r>
              </a:p>
              <a:p>
                <a:pPr marL="0" indent="0">
                  <a:buNone/>
                </a:pPr>
                <a:r>
                  <a:rPr lang="es-CR" dirty="0"/>
                  <a:t>Se asume tiene aproximadamente una distribución normal N(0,1), si el tamaño de muestra es grande.</a:t>
                </a:r>
              </a:p>
              <a:p>
                <a:endParaRPr lang="es-CR" dirty="0"/>
              </a:p>
              <a:p>
                <a:pPr marL="0" indent="0">
                  <a:buNone/>
                </a:pPr>
                <a14:m>
                  <m:oMathPara xmlns:m="http://schemas.openxmlformats.org/officeDocument/2006/math">
                    <m:oMathParaPr>
                      <m:jc m:val="centerGroup"/>
                    </m:oMathParaPr>
                    <m:oMath xmlns:m="http://schemas.openxmlformats.org/officeDocument/2006/math">
                      <m:r>
                        <a:rPr lang="es-CR" b="0" i="1" smtClean="0">
                          <a:latin typeface="Cambria Math" panose="02040503050406030204" pitchFamily="18" charset="0"/>
                        </a:rPr>
                        <m:t>𝑃</m:t>
                      </m:r>
                      <m:d>
                        <m:dPr>
                          <m:begChr m:val="["/>
                          <m:endChr m:val="]"/>
                          <m:ctrlPr>
                            <a:rPr lang="es-CR" b="0" i="1" smtClean="0">
                              <a:latin typeface="Cambria Math" panose="02040503050406030204" pitchFamily="18" charset="0"/>
                            </a:rPr>
                          </m:ctrlPr>
                        </m:dPr>
                        <m:e>
                          <m:sSub>
                            <m:sSubPr>
                              <m:ctrlPr>
                                <a:rPr lang="es-CR" b="0" i="1" smtClean="0">
                                  <a:latin typeface="Cambria Math" panose="02040503050406030204" pitchFamily="18" charset="0"/>
                                </a:rPr>
                              </m:ctrlPr>
                            </m:sSubPr>
                            <m:e>
                              <m:r>
                                <a:rPr lang="es-CR" i="1">
                                  <a:latin typeface="Cambria Math" panose="02040503050406030204" pitchFamily="18" charset="0"/>
                                </a:rPr>
                                <m:t>−</m:t>
                              </m:r>
                              <m:r>
                                <a:rPr lang="es-CR" i="1">
                                  <a:latin typeface="Cambria Math" panose="02040503050406030204" pitchFamily="18" charset="0"/>
                                </a:rPr>
                                <m:t>𝑧</m:t>
                              </m:r>
                            </m:e>
                            <m:sub>
                              <m:r>
                                <a:rPr lang="es-CR" b="0" i="1" smtClean="0">
                                  <a:latin typeface="Cambria Math" panose="02040503050406030204" pitchFamily="18" charset="0"/>
                                  <a:ea typeface="Cambria Math" panose="02040503050406030204" pitchFamily="18" charset="0"/>
                                </a:rPr>
                                <m:t>𝛼</m:t>
                              </m:r>
                              <m:r>
                                <a:rPr lang="es-CR" b="0" i="1" smtClean="0">
                                  <a:latin typeface="Cambria Math" panose="02040503050406030204" pitchFamily="18" charset="0"/>
                                  <a:ea typeface="Cambria Math" panose="02040503050406030204" pitchFamily="18" charset="0"/>
                                </a:rPr>
                                <m:t>/2</m:t>
                              </m:r>
                            </m:sub>
                          </m:sSub>
                          <m:r>
                            <a:rPr lang="es-CR"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𝑌</m:t>
                                      </m:r>
                                    </m:num>
                                    <m:den>
                                      <m:r>
                                        <a:rPr lang="en-US" i="1">
                                          <a:latin typeface="Cambria Math" panose="02040503050406030204" pitchFamily="18" charset="0"/>
                                        </a:rPr>
                                        <m:t>𝑛</m:t>
                                      </m:r>
                                    </m:den>
                                  </m:f>
                                </m:e>
                              </m:d>
                              <m:r>
                                <a:rPr lang="en-US" i="1">
                                  <a:latin typeface="Cambria Math" panose="02040503050406030204" pitchFamily="18" charset="0"/>
                                </a:rPr>
                                <m:t>−</m:t>
                              </m:r>
                              <m:r>
                                <a:rPr lang="en-US" i="1">
                                  <a:latin typeface="Cambria Math" panose="02040503050406030204" pitchFamily="18" charset="0"/>
                                </a:rPr>
                                <m:t>𝑝</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𝑝</m:t>
                                  </m:r>
                                  <m:r>
                                    <a:rPr lang="en-US" i="1">
                                      <a:latin typeface="Cambria Math" panose="02040503050406030204" pitchFamily="18" charset="0"/>
                                    </a:rPr>
                                    <m:t>(1−</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𝑛</m:t>
                                  </m:r>
                                </m:e>
                              </m:rad>
                            </m:den>
                          </m:f>
                          <m:r>
                            <a:rPr lang="en-US" i="1" smtClean="0">
                              <a:latin typeface="Cambria Math" panose="02040503050406030204" pitchFamily="18" charset="0"/>
                              <a:ea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𝑧</m:t>
                              </m:r>
                            </m:e>
                            <m:sub>
                              <m:r>
                                <a:rPr lang="es-CR" i="1">
                                  <a:latin typeface="Cambria Math" panose="02040503050406030204" pitchFamily="18" charset="0"/>
                                  <a:ea typeface="Cambria Math" panose="02040503050406030204" pitchFamily="18" charset="0"/>
                                </a:rPr>
                                <m:t>𝛼</m:t>
                              </m:r>
                              <m:r>
                                <a:rPr lang="es-CR" i="1">
                                  <a:latin typeface="Cambria Math" panose="02040503050406030204" pitchFamily="18" charset="0"/>
                                  <a:ea typeface="Cambria Math" panose="02040503050406030204" pitchFamily="18" charset="0"/>
                                </a:rPr>
                                <m:t>/2</m:t>
                              </m:r>
                            </m:sub>
                          </m:sSub>
                        </m:e>
                      </m:d>
                      <m:r>
                        <a:rPr lang="es-CR" b="0" i="1" smtClean="0">
                          <a:latin typeface="Cambria Math" panose="02040503050406030204" pitchFamily="18" charset="0"/>
                          <a:ea typeface="Cambria Math" panose="02040503050406030204" pitchFamily="18" charset="0"/>
                        </a:rPr>
                        <m:t>≈1−</m:t>
                      </m:r>
                      <m:r>
                        <a:rPr lang="es-CR" b="0" i="1" smtClean="0">
                          <a:latin typeface="Cambria Math" panose="02040503050406030204" pitchFamily="18" charset="0"/>
                          <a:ea typeface="Cambria Math" panose="02040503050406030204" pitchFamily="18" charset="0"/>
                        </a:rPr>
                        <m:t>𝛼</m:t>
                      </m:r>
                    </m:oMath>
                  </m:oMathPara>
                </a14:m>
                <a:endParaRPr lang="es-CR" b="0" dirty="0">
                  <a:ea typeface="Cambria Math" panose="02040503050406030204" pitchFamily="18" charset="0"/>
                </a:endParaRPr>
              </a:p>
              <a:p>
                <a:pPr marL="0" indent="0">
                  <a:buNone/>
                </a:pPr>
                <a:endParaRPr lang="es-C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s-CR"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𝑌</m:t>
                              </m:r>
                            </m:num>
                            <m:den>
                              <m:r>
                                <a:rPr lang="en-US" i="1">
                                  <a:latin typeface="Cambria Math" panose="02040503050406030204" pitchFamily="18" charset="0"/>
                                </a:rPr>
                                <m:t>𝑛</m:t>
                              </m:r>
                            </m:den>
                          </m:f>
                          <m:sSub>
                            <m:sSubPr>
                              <m:ctrlPr>
                                <a:rPr lang="es-CR" i="1">
                                  <a:latin typeface="Cambria Math" panose="02040503050406030204" pitchFamily="18" charset="0"/>
                                </a:rPr>
                              </m:ctrlPr>
                            </m:sSubPr>
                            <m:e>
                              <m:r>
                                <a:rPr lang="es-CR" i="1">
                                  <a:latin typeface="Cambria Math" panose="02040503050406030204" pitchFamily="18" charset="0"/>
                                </a:rPr>
                                <m:t>−</m:t>
                              </m:r>
                              <m:r>
                                <a:rPr lang="es-CR" i="1">
                                  <a:latin typeface="Cambria Math" panose="02040503050406030204" pitchFamily="18" charset="0"/>
                                </a:rPr>
                                <m:t>𝑧</m:t>
                              </m:r>
                            </m:e>
                            <m:sub>
                              <m:r>
                                <a:rPr lang="es-CR" i="1">
                                  <a:latin typeface="Cambria Math" panose="02040503050406030204" pitchFamily="18" charset="0"/>
                                  <a:ea typeface="Cambria Math" panose="02040503050406030204" pitchFamily="18" charset="0"/>
                                </a:rPr>
                                <m:t>𝛼</m:t>
                              </m:r>
                              <m:r>
                                <a:rPr lang="es-CR" i="1">
                                  <a:latin typeface="Cambria Math" panose="02040503050406030204" pitchFamily="18" charset="0"/>
                                  <a:ea typeface="Cambria Math" panose="02040503050406030204" pitchFamily="18" charset="0"/>
                                </a:rPr>
                                <m:t>/2</m:t>
                              </m:r>
                            </m:sub>
                          </m:sSub>
                          <m:rad>
                            <m:radPr>
                              <m:degHide m:val="on"/>
                              <m:ctrlPr>
                                <a:rPr lang="es-CR" i="1" smtClean="0">
                                  <a:latin typeface="Cambria Math" panose="02040503050406030204" pitchFamily="18" charset="0"/>
                                  <a:ea typeface="Cambria Math" panose="02040503050406030204" pitchFamily="18" charset="0"/>
                                </a:rPr>
                              </m:ctrlPr>
                            </m:radPr>
                            <m:deg/>
                            <m:e>
                              <m:f>
                                <m:fPr>
                                  <m:ctrlPr>
                                    <a:rPr lang="es-CR" i="1" smtClean="0">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𝑦</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𝑛</m:t>
                                  </m:r>
                                  <m:r>
                                    <a:rPr lang="es-CR" b="0" i="1" smtClean="0">
                                      <a:latin typeface="Cambria Math" panose="02040503050406030204" pitchFamily="18" charset="0"/>
                                      <a:ea typeface="Cambria Math" panose="02040503050406030204" pitchFamily="18" charset="0"/>
                                    </a:rPr>
                                    <m:t>)(1−</m:t>
                                  </m:r>
                                  <m:r>
                                    <a:rPr lang="es-CR" b="0" i="1" smtClean="0">
                                      <a:latin typeface="Cambria Math" panose="02040503050406030204" pitchFamily="18" charset="0"/>
                                      <a:ea typeface="Cambria Math" panose="02040503050406030204" pitchFamily="18" charset="0"/>
                                    </a:rPr>
                                    <m:t>𝑦</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𝑛</m:t>
                                  </m:r>
                                  <m:r>
                                    <a:rPr lang="es-CR" b="0" i="1" smtClean="0">
                                      <a:latin typeface="Cambria Math" panose="02040503050406030204" pitchFamily="18" charset="0"/>
                                      <a:ea typeface="Cambria Math" panose="02040503050406030204" pitchFamily="18" charset="0"/>
                                    </a:rPr>
                                    <m:t>)</m:t>
                                  </m:r>
                                </m:num>
                                <m:den>
                                  <m:r>
                                    <a:rPr lang="es-CR" b="0" i="1" smtClean="0">
                                      <a:latin typeface="Cambria Math" panose="02040503050406030204" pitchFamily="18" charset="0"/>
                                      <a:ea typeface="Cambria Math" panose="02040503050406030204" pitchFamily="18" charset="0"/>
                                    </a:rPr>
                                    <m:t>𝑛</m:t>
                                  </m:r>
                                </m:den>
                              </m:f>
                            </m:e>
                          </m:rad>
                          <m:r>
                            <a:rPr lang="es-CR"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𝑌</m:t>
                              </m:r>
                            </m:num>
                            <m:den>
                              <m:r>
                                <a:rPr lang="en-US" i="1">
                                  <a:latin typeface="Cambria Math" panose="02040503050406030204" pitchFamily="18" charset="0"/>
                                </a:rPr>
                                <m:t>𝑛</m:t>
                              </m:r>
                            </m:den>
                          </m:f>
                          <m:sSub>
                            <m:sSubPr>
                              <m:ctrlPr>
                                <a:rPr lang="es-CR" i="1">
                                  <a:latin typeface="Cambria Math" panose="02040503050406030204" pitchFamily="18" charset="0"/>
                                </a:rPr>
                              </m:ctrlPr>
                            </m:sSubPr>
                            <m:e>
                              <m:r>
                                <a:rPr lang="es-CR" b="0" i="1" smtClean="0">
                                  <a:latin typeface="Cambria Math" panose="02040503050406030204" pitchFamily="18" charset="0"/>
                                </a:rPr>
                                <m:t>+</m:t>
                              </m:r>
                              <m:r>
                                <a:rPr lang="es-CR" i="1">
                                  <a:latin typeface="Cambria Math" panose="02040503050406030204" pitchFamily="18" charset="0"/>
                                </a:rPr>
                                <m:t>𝑧</m:t>
                              </m:r>
                            </m:e>
                            <m:sub>
                              <m:r>
                                <a:rPr lang="es-CR" i="1">
                                  <a:latin typeface="Cambria Math" panose="02040503050406030204" pitchFamily="18" charset="0"/>
                                  <a:ea typeface="Cambria Math" panose="02040503050406030204" pitchFamily="18" charset="0"/>
                                </a:rPr>
                                <m:t>𝛼</m:t>
                              </m:r>
                              <m:r>
                                <a:rPr lang="es-CR" i="1">
                                  <a:latin typeface="Cambria Math" panose="02040503050406030204" pitchFamily="18" charset="0"/>
                                  <a:ea typeface="Cambria Math" panose="02040503050406030204" pitchFamily="18" charset="0"/>
                                </a:rPr>
                                <m:t>/2</m:t>
                              </m:r>
                            </m:sub>
                          </m:sSub>
                          <m:rad>
                            <m:radPr>
                              <m:degHide m:val="on"/>
                              <m:ctrlPr>
                                <a:rPr lang="es-CR" i="1">
                                  <a:latin typeface="Cambria Math" panose="02040503050406030204" pitchFamily="18" charset="0"/>
                                  <a:ea typeface="Cambria Math" panose="02040503050406030204" pitchFamily="18" charset="0"/>
                                </a:rPr>
                              </m:ctrlPr>
                            </m:radPr>
                            <m:deg/>
                            <m:e>
                              <m:f>
                                <m:fPr>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𝑦</m:t>
                                  </m:r>
                                  <m:r>
                                    <a:rPr lang="es-CR" i="1">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𝑛</m:t>
                                  </m:r>
                                  <m:r>
                                    <a:rPr lang="es-CR" i="1">
                                      <a:latin typeface="Cambria Math" panose="02040503050406030204" pitchFamily="18" charset="0"/>
                                      <a:ea typeface="Cambria Math" panose="02040503050406030204" pitchFamily="18" charset="0"/>
                                    </a:rPr>
                                    <m:t>)(1−</m:t>
                                  </m:r>
                                  <m:r>
                                    <a:rPr lang="es-CR" i="1">
                                      <a:latin typeface="Cambria Math" panose="02040503050406030204" pitchFamily="18" charset="0"/>
                                      <a:ea typeface="Cambria Math" panose="02040503050406030204" pitchFamily="18" charset="0"/>
                                    </a:rPr>
                                    <m:t>𝑦</m:t>
                                  </m:r>
                                  <m:r>
                                    <a:rPr lang="es-CR" i="1">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𝑛</m:t>
                                  </m:r>
                                  <m:r>
                                    <a:rPr lang="es-CR" i="1">
                                      <a:latin typeface="Cambria Math" panose="02040503050406030204" pitchFamily="18" charset="0"/>
                                      <a:ea typeface="Cambria Math" panose="02040503050406030204" pitchFamily="18" charset="0"/>
                                    </a:rPr>
                                    <m:t>)</m:t>
                                  </m:r>
                                </m:num>
                                <m:den>
                                  <m:r>
                                    <a:rPr lang="es-CR" i="1">
                                      <a:latin typeface="Cambria Math" panose="02040503050406030204" pitchFamily="18" charset="0"/>
                                      <a:ea typeface="Cambria Math" panose="02040503050406030204" pitchFamily="18" charset="0"/>
                                    </a:rPr>
                                    <m:t>𝑛</m:t>
                                  </m:r>
                                </m:den>
                              </m:f>
                            </m:e>
                          </m:rad>
                        </m:e>
                      </m:d>
                    </m:oMath>
                  </m:oMathPara>
                </a14:m>
                <a:endParaRPr lang="es-CR" dirty="0"/>
              </a:p>
              <a:p>
                <a:pPr marL="0" indent="0">
                  <a:buNone/>
                </a:pPr>
                <a:endParaRPr lang="es-CR" dirty="0"/>
              </a:p>
            </p:txBody>
          </p:sp>
        </mc:Choice>
        <mc:Fallback xmlns="">
          <p:sp>
            <p:nvSpPr>
              <p:cNvPr id="3" name="Content Placeholder 2">
                <a:extLst>
                  <a:ext uri="{FF2B5EF4-FFF2-40B4-BE49-F238E27FC236}">
                    <a16:creationId xmlns:a16="http://schemas.microsoft.com/office/drawing/2014/main" id="{9364872A-6162-5503-23CF-417A23C53F10}"/>
                  </a:ext>
                </a:extLst>
              </p:cNvPr>
              <p:cNvSpPr>
                <a:spLocks noGrp="1" noRot="1" noChangeAspect="1" noMove="1" noResize="1" noEditPoints="1" noAdjustHandles="1" noChangeArrowheads="1" noChangeShapeType="1" noTextEdit="1"/>
              </p:cNvSpPr>
              <p:nvPr>
                <p:ph sz="half" idx="1"/>
              </p:nvPr>
            </p:nvSpPr>
            <p:spPr>
              <a:xfrm>
                <a:off x="838200" y="2067983"/>
                <a:ext cx="10096500" cy="3735410"/>
              </a:xfrm>
              <a:blipFill>
                <a:blip r:embed="rId2"/>
                <a:stretch>
                  <a:fillRect l="-664" t="-1794"/>
                </a:stretch>
              </a:blipFill>
            </p:spPr>
            <p:txBody>
              <a:bodyPr/>
              <a:lstStyle/>
              <a:p>
                <a:r>
                  <a:rPr lang="es-CR">
                    <a:noFill/>
                  </a:rPr>
                  <a:t> </a:t>
                </a:r>
              </a:p>
            </p:txBody>
          </p:sp>
        </mc:Fallback>
      </mc:AlternateContent>
    </p:spTree>
    <p:extLst>
      <p:ext uri="{BB962C8B-B14F-4D97-AF65-F5344CB8AC3E}">
        <p14:creationId xmlns:p14="http://schemas.microsoft.com/office/powerpoint/2010/main" val="232706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D0CC-FF86-BDB5-093C-C8E75A307EF2}"/>
              </a:ext>
            </a:extLst>
          </p:cNvPr>
          <p:cNvSpPr>
            <a:spLocks noGrp="1"/>
          </p:cNvSpPr>
          <p:nvPr>
            <p:ph type="title"/>
          </p:nvPr>
        </p:nvSpPr>
        <p:spPr/>
        <p:txBody>
          <a:bodyPr/>
          <a:lstStyle/>
          <a:p>
            <a:r>
              <a:rPr lang="en-US" dirty="0" err="1"/>
              <a:t>Ejemplo</a:t>
            </a:r>
            <a:r>
              <a:rPr lang="en-US" dirty="0"/>
              <a:t>:</a:t>
            </a:r>
            <a:endParaRPr lang="es-C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BAE668-8C8E-8C9D-EF3C-FB47E473AFE5}"/>
                  </a:ext>
                </a:extLst>
              </p:cNvPr>
              <p:cNvSpPr>
                <a:spLocks noGrp="1"/>
              </p:cNvSpPr>
              <p:nvPr>
                <p:ph sz="half" idx="1"/>
              </p:nvPr>
            </p:nvSpPr>
            <p:spPr>
              <a:xfrm>
                <a:off x="838199" y="2067983"/>
                <a:ext cx="10336877" cy="3735410"/>
              </a:xfrm>
            </p:spPr>
            <p:txBody>
              <a:bodyPr/>
              <a:lstStyle/>
              <a:p>
                <a:r>
                  <a:rPr lang="en-US" dirty="0"/>
                  <a:t>En un </a:t>
                </a:r>
                <a:r>
                  <a:rPr lang="en-US" dirty="0" err="1"/>
                  <a:t>estudio</a:t>
                </a:r>
                <a:r>
                  <a:rPr lang="en-US" dirty="0"/>
                  <a:t>  de mercado se </a:t>
                </a:r>
                <a:r>
                  <a:rPr lang="en-US" dirty="0" err="1"/>
                  <a:t>busca</a:t>
                </a:r>
                <a:r>
                  <a:rPr lang="en-US" dirty="0"/>
                  <a:t> </a:t>
                </a:r>
                <a:r>
                  <a:rPr lang="en-US" dirty="0" err="1"/>
                  <a:t>calcular</a:t>
                </a:r>
                <a:r>
                  <a:rPr lang="en-US" dirty="0"/>
                  <a:t> </a:t>
                </a:r>
                <a:r>
                  <a:rPr lang="en-US" dirty="0" err="1"/>
                  <a:t>cuanta</a:t>
                </a:r>
                <a:r>
                  <a:rPr lang="en-US" dirty="0"/>
                  <a:t> </a:t>
                </a:r>
                <a:r>
                  <a:rPr lang="en-US" dirty="0" err="1"/>
                  <a:t>proporción</a:t>
                </a:r>
                <a:r>
                  <a:rPr lang="en-US" dirty="0"/>
                  <a:t> de la población </a:t>
                </a:r>
                <a:r>
                  <a:rPr lang="en-US" dirty="0" err="1"/>
                  <a:t>está</a:t>
                </a:r>
                <a:r>
                  <a:rPr lang="en-US" dirty="0"/>
                  <a:t> </a:t>
                </a:r>
                <a:r>
                  <a:rPr lang="en-US" dirty="0" err="1"/>
                  <a:t>dispuesta</a:t>
                </a:r>
                <a:r>
                  <a:rPr lang="en-US" dirty="0"/>
                  <a:t> a </a:t>
                </a:r>
                <a:r>
                  <a:rPr lang="en-US" dirty="0" err="1"/>
                  <a:t>comprar</a:t>
                </a:r>
                <a:r>
                  <a:rPr lang="en-US" dirty="0"/>
                  <a:t> un nuevo product</a:t>
                </a:r>
              </a:p>
              <a:p>
                <a:r>
                  <a:rPr lang="en-US" dirty="0"/>
                  <a:t>Para </a:t>
                </a:r>
                <a:r>
                  <a:rPr lang="en-US" dirty="0" err="1"/>
                  <a:t>ello</a:t>
                </a:r>
                <a:r>
                  <a:rPr lang="en-US" dirty="0"/>
                  <a:t> se </a:t>
                </a:r>
                <a:r>
                  <a:rPr lang="en-US" dirty="0" err="1"/>
                  <a:t>toma</a:t>
                </a:r>
                <a:r>
                  <a:rPr lang="en-US" dirty="0"/>
                  <a:t> </a:t>
                </a:r>
                <a:r>
                  <a:rPr lang="en-US" dirty="0" err="1"/>
                  <a:t>una</a:t>
                </a:r>
                <a:r>
                  <a:rPr lang="en-US" dirty="0"/>
                  <a:t> </a:t>
                </a:r>
                <a:r>
                  <a:rPr lang="en-US" dirty="0" err="1"/>
                  <a:t>muestra</a:t>
                </a:r>
                <a:r>
                  <a:rPr lang="en-US" dirty="0"/>
                  <a:t> de </a:t>
                </a:r>
                <a:r>
                  <a:rPr lang="en-US" dirty="0" err="1"/>
                  <a:t>tama</a:t>
                </a:r>
                <a:r>
                  <a:rPr lang="es-CR" dirty="0" err="1"/>
                  <a:t>ño</a:t>
                </a:r>
                <a:r>
                  <a:rPr lang="es-CR" dirty="0"/>
                  <a:t> 40, de los cuales 8 personas afirman interés en comprar el nuevo producto. </a:t>
                </a:r>
              </a:p>
              <a:p>
                <a:endParaRPr lang="es-CR" dirty="0"/>
              </a:p>
              <a:p>
                <a:r>
                  <a:rPr lang="es-CR" dirty="0"/>
                  <a:t>Con esta información, calcular un intervalo de confianza </a:t>
                </a:r>
                <a14:m>
                  <m:oMath xmlns:m="http://schemas.openxmlformats.org/officeDocument/2006/math">
                    <m:r>
                      <a:rPr lang="es-CR" b="0" i="1" smtClean="0">
                        <a:latin typeface="Cambria Math" panose="02040503050406030204" pitchFamily="18" charset="0"/>
                      </a:rPr>
                      <m:t>1−</m:t>
                    </m:r>
                    <m:r>
                      <a:rPr lang="es-CR"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=90%</m:t>
                    </m:r>
                  </m:oMath>
                </a14:m>
                <a:r>
                  <a:rPr lang="es-CR" dirty="0"/>
                  <a:t> para el valor </a:t>
                </a:r>
                <a:r>
                  <a:rPr lang="es-CR" b="1" i="1" dirty="0">
                    <a:solidFill>
                      <a:srgbClr val="000F9F"/>
                    </a:solidFill>
                  </a:rPr>
                  <a:t>p</a:t>
                </a:r>
                <a:r>
                  <a:rPr lang="es-CR" dirty="0"/>
                  <a:t> verdadero.</a:t>
                </a:r>
              </a:p>
            </p:txBody>
          </p:sp>
        </mc:Choice>
        <mc:Fallback xmlns="">
          <p:sp>
            <p:nvSpPr>
              <p:cNvPr id="3" name="Content Placeholder 2">
                <a:extLst>
                  <a:ext uri="{FF2B5EF4-FFF2-40B4-BE49-F238E27FC236}">
                    <a16:creationId xmlns:a16="http://schemas.microsoft.com/office/drawing/2014/main" id="{49BAE668-8C8E-8C9D-EF3C-FB47E473AFE5}"/>
                  </a:ext>
                </a:extLst>
              </p:cNvPr>
              <p:cNvSpPr>
                <a:spLocks noGrp="1" noRot="1" noChangeAspect="1" noMove="1" noResize="1" noEditPoints="1" noAdjustHandles="1" noChangeArrowheads="1" noChangeShapeType="1" noTextEdit="1"/>
              </p:cNvSpPr>
              <p:nvPr>
                <p:ph sz="half" idx="1"/>
              </p:nvPr>
            </p:nvSpPr>
            <p:spPr>
              <a:xfrm>
                <a:off x="838199" y="2067983"/>
                <a:ext cx="10336877" cy="3735410"/>
              </a:xfrm>
              <a:blipFill>
                <a:blip r:embed="rId2"/>
                <a:stretch>
                  <a:fillRect l="-1002" t="-2610" r="-1356"/>
                </a:stretch>
              </a:blipFill>
            </p:spPr>
            <p:txBody>
              <a:bodyPr/>
              <a:lstStyle/>
              <a:p>
                <a:r>
                  <a:rPr lang="es-CR">
                    <a:noFill/>
                  </a:rPr>
                  <a:t> </a:t>
                </a:r>
              </a:p>
            </p:txBody>
          </p:sp>
        </mc:Fallback>
      </mc:AlternateContent>
    </p:spTree>
    <p:extLst>
      <p:ext uri="{BB962C8B-B14F-4D97-AF65-F5344CB8AC3E}">
        <p14:creationId xmlns:p14="http://schemas.microsoft.com/office/powerpoint/2010/main" val="2117834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1D88-DF47-C80F-E2BC-318097042365}"/>
              </a:ext>
            </a:extLst>
          </p:cNvPr>
          <p:cNvSpPr>
            <a:spLocks noGrp="1"/>
          </p:cNvSpPr>
          <p:nvPr>
            <p:ph type="title"/>
          </p:nvPr>
        </p:nvSpPr>
        <p:spPr/>
        <p:txBody>
          <a:bodyPr/>
          <a:lstStyle/>
          <a:p>
            <a:r>
              <a:rPr lang="en-US" dirty="0"/>
              <a:t>Respuesta</a:t>
            </a:r>
            <a:endParaRPr lang="es-C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27CDA3-CA55-F313-7EF7-1B7FE75E67B5}"/>
                  </a:ext>
                </a:extLst>
              </p:cNvPr>
              <p:cNvSpPr>
                <a:spLocks noGrp="1"/>
              </p:cNvSpPr>
              <p:nvPr>
                <p:ph sz="half" idx="1"/>
              </p:nvPr>
            </p:nvSpPr>
            <p:spPr>
              <a:xfrm>
                <a:off x="838200" y="2067983"/>
                <a:ext cx="10077450" cy="3735410"/>
              </a:xfrm>
            </p:spPr>
            <p:txBody>
              <a:bodyPr/>
              <a:lstStyle/>
              <a:p>
                <a14:m>
                  <m:oMath xmlns:m="http://schemas.openxmlformats.org/officeDocument/2006/math">
                    <m:r>
                      <a:rPr lang="en-US" b="0" i="1" smtClean="0">
                        <a:latin typeface="Cambria Math" panose="02040503050406030204" pitchFamily="18" charset="0"/>
                      </a:rPr>
                      <m:t>0.20</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±1.645∗</m:t>
                    </m:r>
                    <m:rad>
                      <m:radPr>
                        <m:degHide m:val="on"/>
                        <m:ctrlPr>
                          <a:rPr lang="en-US" i="1" smtClean="0">
                            <a:latin typeface="Cambria Math" panose="02040503050406030204" pitchFamily="18" charset="0"/>
                            <a:ea typeface="Cambria Math" panose="02040503050406030204" pitchFamily="18" charset="0"/>
                          </a:rPr>
                        </m:ctrlPr>
                      </m:radPr>
                      <m:deg/>
                      <m:e>
                        <m:f>
                          <m:fPr>
                            <m:ctrlPr>
                              <a:rPr lang="en-US" i="1" smtClean="0">
                                <a:latin typeface="Cambria Math" panose="02040503050406030204" pitchFamily="18" charset="0"/>
                                <a:ea typeface="Cambria Math" panose="02040503050406030204" pitchFamily="18" charset="0"/>
                              </a:rPr>
                            </m:ctrlPr>
                          </m:fPr>
                          <m:num>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0.20</m:t>
                                </m:r>
                              </m:e>
                            </m:d>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0.80</m:t>
                                </m:r>
                              </m:e>
                            </m:d>
                          </m:num>
                          <m:den>
                            <m:r>
                              <a:rPr lang="en-US" b="0" i="1" smtClean="0">
                                <a:latin typeface="Cambria Math" panose="02040503050406030204" pitchFamily="18" charset="0"/>
                                <a:ea typeface="Cambria Math" panose="02040503050406030204" pitchFamily="18" charset="0"/>
                              </a:rPr>
                              <m:t>40</m:t>
                            </m:r>
                          </m:den>
                        </m:f>
                      </m:e>
                    </m:rad>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0.096</m:t>
                        </m:r>
                        <m:r>
                          <a:rPr lang="en-US" i="1">
                            <a:latin typeface="Cambria Math" panose="02040503050406030204" pitchFamily="18" charset="0"/>
                          </a:rPr>
                          <m:t>, </m:t>
                        </m:r>
                        <m:r>
                          <a:rPr lang="en-US" b="0" i="1" smtClean="0">
                            <a:latin typeface="Cambria Math" panose="02040503050406030204" pitchFamily="18" charset="0"/>
                          </a:rPr>
                          <m:t>0.304</m:t>
                        </m:r>
                      </m:e>
                    </m:d>
                  </m:oMath>
                </a14:m>
                <a:endParaRPr lang="es-CR" dirty="0"/>
              </a:p>
              <a:p>
                <a:pPr marL="0" indent="0">
                  <a:buNone/>
                </a:pPr>
                <a:r>
                  <a:rPr lang="en-US" dirty="0"/>
                  <a:t> </a:t>
                </a:r>
                <a:endParaRPr lang="es-CR" dirty="0"/>
              </a:p>
            </p:txBody>
          </p:sp>
        </mc:Choice>
        <mc:Fallback xmlns="">
          <p:sp>
            <p:nvSpPr>
              <p:cNvPr id="3" name="Content Placeholder 2">
                <a:extLst>
                  <a:ext uri="{FF2B5EF4-FFF2-40B4-BE49-F238E27FC236}">
                    <a16:creationId xmlns:a16="http://schemas.microsoft.com/office/drawing/2014/main" id="{3127CDA3-CA55-F313-7EF7-1B7FE75E67B5}"/>
                  </a:ext>
                </a:extLst>
              </p:cNvPr>
              <p:cNvSpPr>
                <a:spLocks noGrp="1" noRot="1" noChangeAspect="1" noMove="1" noResize="1" noEditPoints="1" noAdjustHandles="1" noChangeArrowheads="1" noChangeShapeType="1" noTextEdit="1"/>
              </p:cNvSpPr>
              <p:nvPr>
                <p:ph sz="half" idx="1"/>
              </p:nvPr>
            </p:nvSpPr>
            <p:spPr>
              <a:xfrm>
                <a:off x="838200" y="2067983"/>
                <a:ext cx="10077450" cy="3735410"/>
              </a:xfrm>
              <a:blipFill>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3931162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4DDE4-B742-A5E9-D80B-C6D45FD9E391}"/>
              </a:ext>
            </a:extLst>
          </p:cNvPr>
          <p:cNvSpPr>
            <a:spLocks noGrp="1"/>
          </p:cNvSpPr>
          <p:nvPr>
            <p:ph type="title"/>
          </p:nvPr>
        </p:nvSpPr>
        <p:spPr/>
        <p:txBody>
          <a:bodyPr/>
          <a:lstStyle/>
          <a:p>
            <a:r>
              <a:rPr lang="en-US" dirty="0" err="1"/>
              <a:t>Ejercicio</a:t>
            </a:r>
            <a:r>
              <a:rPr lang="en-US" dirty="0"/>
              <a:t> 4:</a:t>
            </a:r>
            <a:endParaRPr lang="es-CR" dirty="0"/>
          </a:p>
        </p:txBody>
      </p:sp>
      <p:sp>
        <p:nvSpPr>
          <p:cNvPr id="3" name="Content Placeholder 2">
            <a:extLst>
              <a:ext uri="{FF2B5EF4-FFF2-40B4-BE49-F238E27FC236}">
                <a16:creationId xmlns:a16="http://schemas.microsoft.com/office/drawing/2014/main" id="{7B415811-EE12-745C-1B10-AB5123FE31C2}"/>
              </a:ext>
            </a:extLst>
          </p:cNvPr>
          <p:cNvSpPr>
            <a:spLocks noGrp="1"/>
          </p:cNvSpPr>
          <p:nvPr>
            <p:ph sz="half" idx="1"/>
          </p:nvPr>
        </p:nvSpPr>
        <p:spPr>
          <a:xfrm>
            <a:off x="838199" y="2067983"/>
            <a:ext cx="10336877" cy="3735410"/>
          </a:xfrm>
        </p:spPr>
        <p:txBody>
          <a:bodyPr/>
          <a:lstStyle/>
          <a:p>
            <a:r>
              <a:rPr lang="en-US" dirty="0"/>
              <a:t>En </a:t>
            </a:r>
            <a:r>
              <a:rPr lang="en-US" dirty="0" err="1"/>
              <a:t>una</a:t>
            </a:r>
            <a:r>
              <a:rPr lang="en-US" dirty="0"/>
              <a:t> campa</a:t>
            </a:r>
            <a:r>
              <a:rPr lang="es-CR" dirty="0" err="1"/>
              <a:t>ña</a:t>
            </a:r>
            <a:r>
              <a:rPr lang="es-CR" dirty="0"/>
              <a:t> política, un candidato realiza una encuesta para medir intención de voto. Los resultados son Y</a:t>
            </a:r>
            <a:r>
              <a:rPr lang="es-MX" dirty="0"/>
              <a:t> </a:t>
            </a:r>
            <a:r>
              <a:rPr lang="en-US" dirty="0"/>
              <a:t>= 185 (</a:t>
            </a:r>
            <a:r>
              <a:rPr lang="en-US" dirty="0" err="1"/>
              <a:t>cantidad</a:t>
            </a:r>
            <a:r>
              <a:rPr lang="en-US" dirty="0"/>
              <a:t> de </a:t>
            </a:r>
            <a:r>
              <a:rPr lang="en-US" dirty="0" err="1"/>
              <a:t>votantes</a:t>
            </a:r>
            <a:r>
              <a:rPr lang="en-US" dirty="0"/>
              <a:t> </a:t>
            </a:r>
            <a:r>
              <a:rPr lang="en-US" dirty="0" err="1"/>
              <a:t>dispuestas</a:t>
            </a:r>
            <a:r>
              <a:rPr lang="en-US" dirty="0"/>
              <a:t> a </a:t>
            </a:r>
            <a:r>
              <a:rPr lang="en-US" dirty="0" err="1"/>
              <a:t>votar</a:t>
            </a:r>
            <a:r>
              <a:rPr lang="en-US" dirty="0"/>
              <a:t> </a:t>
            </a:r>
            <a:r>
              <a:rPr lang="en-US" dirty="0" err="1"/>
              <a:t>por</a:t>
            </a:r>
            <a:r>
              <a:rPr lang="en-US" dirty="0"/>
              <a:t> </a:t>
            </a:r>
            <a:r>
              <a:rPr lang="en-US" dirty="0" err="1"/>
              <a:t>el</a:t>
            </a:r>
            <a:r>
              <a:rPr lang="en-US" dirty="0"/>
              <a:t> </a:t>
            </a:r>
            <a:r>
              <a:rPr lang="en-US" dirty="0" err="1"/>
              <a:t>candidato</a:t>
            </a:r>
            <a:r>
              <a:rPr lang="en-US" dirty="0"/>
              <a:t>) y n = 351</a:t>
            </a:r>
            <a:r>
              <a:rPr lang="es-CR" dirty="0"/>
              <a:t> </a:t>
            </a:r>
          </a:p>
          <a:p>
            <a:endParaRPr lang="es-CR" dirty="0"/>
          </a:p>
          <a:p>
            <a:r>
              <a:rPr lang="es-CR" dirty="0"/>
              <a:t>Calcular intervalo de confianza de p, con un Alpha de 5%</a:t>
            </a:r>
          </a:p>
        </p:txBody>
      </p:sp>
    </p:spTree>
    <p:extLst>
      <p:ext uri="{BB962C8B-B14F-4D97-AF65-F5344CB8AC3E}">
        <p14:creationId xmlns:p14="http://schemas.microsoft.com/office/powerpoint/2010/main" val="2390447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4CD2-F015-7E68-959B-5B218606AD75}"/>
              </a:ext>
            </a:extLst>
          </p:cNvPr>
          <p:cNvSpPr>
            <a:spLocks noGrp="1"/>
          </p:cNvSpPr>
          <p:nvPr>
            <p:ph type="title"/>
          </p:nvPr>
        </p:nvSpPr>
        <p:spPr/>
        <p:txBody>
          <a:bodyPr/>
          <a:lstStyle/>
          <a:p>
            <a:r>
              <a:rPr lang="en-US" dirty="0" err="1"/>
              <a:t>Ejercicio</a:t>
            </a:r>
            <a:r>
              <a:rPr lang="en-US" dirty="0"/>
              <a:t> 4: Respuesta</a:t>
            </a:r>
            <a:endParaRPr lang="es-C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F433F1-8774-B31F-74E5-05F263A21110}"/>
                  </a:ext>
                </a:extLst>
              </p:cNvPr>
              <p:cNvSpPr>
                <a:spLocks noGrp="1"/>
              </p:cNvSpPr>
              <p:nvPr>
                <p:ph sz="half" idx="1"/>
              </p:nvPr>
            </p:nvSpPr>
            <p:spPr>
              <a:xfrm>
                <a:off x="838200" y="2067983"/>
                <a:ext cx="10077450" cy="3735410"/>
              </a:xfrm>
            </p:spPr>
            <p:txBody>
              <a:bodyPr/>
              <a:lstStyle/>
              <a:p>
                <a14:m>
                  <m:oMath xmlns:m="http://schemas.openxmlformats.org/officeDocument/2006/math">
                    <m:r>
                      <a:rPr lang="en-US" i="1" smtClean="0">
                        <a:latin typeface="Cambria Math" panose="02040503050406030204" pitchFamily="18" charset="0"/>
                      </a:rPr>
                      <m:t>0.</m:t>
                    </m:r>
                    <m:r>
                      <a:rPr lang="en-US" b="0" i="1" smtClean="0">
                        <a:latin typeface="Cambria Math" panose="02040503050406030204" pitchFamily="18" charset="0"/>
                      </a:rPr>
                      <m:t>527</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96</m:t>
                    </m:r>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f>
                          <m:fPr>
                            <m:ctrlPr>
                              <a:rPr lang="en-US" i="1">
                                <a:latin typeface="Cambria Math" panose="02040503050406030204" pitchFamily="18" charset="0"/>
                                <a:ea typeface="Cambria Math" panose="02040503050406030204" pitchFamily="18" charset="0"/>
                              </a:rPr>
                            </m:ctrlPr>
                          </m:fPr>
                          <m:num>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527</m:t>
                                </m:r>
                              </m:e>
                            </m:d>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0.473</m:t>
                                </m:r>
                              </m:e>
                            </m:d>
                          </m:num>
                          <m:den>
                            <m:r>
                              <a:rPr lang="en-US" b="0" i="1" smtClean="0">
                                <a:latin typeface="Cambria Math" panose="02040503050406030204" pitchFamily="18" charset="0"/>
                                <a:ea typeface="Cambria Math" panose="02040503050406030204" pitchFamily="18" charset="0"/>
                              </a:rPr>
                              <m:t>351</m:t>
                            </m:r>
                          </m:den>
                        </m:f>
                      </m:e>
                    </m:ra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475</m:t>
                        </m:r>
                        <m:r>
                          <a:rPr lang="en-US" i="1">
                            <a:latin typeface="Cambria Math" panose="02040503050406030204" pitchFamily="18" charset="0"/>
                          </a:rPr>
                          <m:t>, 0.</m:t>
                        </m:r>
                        <m:r>
                          <a:rPr lang="en-US" b="0" i="1" smtClean="0">
                            <a:latin typeface="Cambria Math" panose="02040503050406030204" pitchFamily="18" charset="0"/>
                          </a:rPr>
                          <m:t>579</m:t>
                        </m:r>
                      </m:e>
                    </m:d>
                  </m:oMath>
                </a14:m>
                <a:endParaRPr lang="es-CR" dirty="0"/>
              </a:p>
            </p:txBody>
          </p:sp>
        </mc:Choice>
        <mc:Fallback xmlns="">
          <p:sp>
            <p:nvSpPr>
              <p:cNvPr id="3" name="Content Placeholder 2">
                <a:extLst>
                  <a:ext uri="{FF2B5EF4-FFF2-40B4-BE49-F238E27FC236}">
                    <a16:creationId xmlns:a16="http://schemas.microsoft.com/office/drawing/2014/main" id="{3CF433F1-8774-B31F-74E5-05F263A21110}"/>
                  </a:ext>
                </a:extLst>
              </p:cNvPr>
              <p:cNvSpPr>
                <a:spLocks noGrp="1" noRot="1" noChangeAspect="1" noMove="1" noResize="1" noEditPoints="1" noAdjustHandles="1" noChangeArrowheads="1" noChangeShapeType="1" noTextEdit="1"/>
              </p:cNvSpPr>
              <p:nvPr>
                <p:ph sz="half" idx="1"/>
              </p:nvPr>
            </p:nvSpPr>
            <p:spPr>
              <a:xfrm>
                <a:off x="838200" y="2067983"/>
                <a:ext cx="10077450" cy="3735410"/>
              </a:xfrm>
              <a:blipFill>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4114490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D9A09-A2BC-1A9F-5E04-2E49D1756343}"/>
              </a:ext>
            </a:extLst>
          </p:cNvPr>
          <p:cNvSpPr>
            <a:spLocks noGrp="1"/>
          </p:cNvSpPr>
          <p:nvPr>
            <p:ph type="title"/>
          </p:nvPr>
        </p:nvSpPr>
        <p:spPr/>
        <p:txBody>
          <a:bodyPr/>
          <a:lstStyle/>
          <a:p>
            <a:r>
              <a:rPr lang="en-US" dirty="0" err="1"/>
              <a:t>Ejercicio</a:t>
            </a:r>
            <a:r>
              <a:rPr lang="en-US" dirty="0"/>
              <a:t> 5</a:t>
            </a:r>
            <a:endParaRPr lang="es-CR" dirty="0"/>
          </a:p>
        </p:txBody>
      </p:sp>
      <p:sp>
        <p:nvSpPr>
          <p:cNvPr id="3" name="Content Placeholder 2">
            <a:extLst>
              <a:ext uri="{FF2B5EF4-FFF2-40B4-BE49-F238E27FC236}">
                <a16:creationId xmlns:a16="http://schemas.microsoft.com/office/drawing/2014/main" id="{AA07CE80-9351-8805-774A-32A68C8B2665}"/>
              </a:ext>
            </a:extLst>
          </p:cNvPr>
          <p:cNvSpPr>
            <a:spLocks noGrp="1"/>
          </p:cNvSpPr>
          <p:nvPr>
            <p:ph sz="half" idx="1"/>
          </p:nvPr>
        </p:nvSpPr>
        <p:spPr>
          <a:xfrm>
            <a:off x="838200" y="2067983"/>
            <a:ext cx="10668000" cy="3735410"/>
          </a:xfrm>
        </p:spPr>
        <p:txBody>
          <a:bodyPr/>
          <a:lstStyle/>
          <a:p>
            <a:r>
              <a:rPr lang="en-US" dirty="0"/>
              <a:t>Sea </a:t>
            </a:r>
            <a:r>
              <a:rPr lang="en-US" b="1" i="1" dirty="0">
                <a:solidFill>
                  <a:srgbClr val="000F9F"/>
                </a:solidFill>
              </a:rPr>
              <a:t>p </a:t>
            </a:r>
            <a:r>
              <a:rPr lang="en-US" dirty="0"/>
              <a:t>la </a:t>
            </a:r>
            <a:r>
              <a:rPr lang="en-US" dirty="0" err="1"/>
              <a:t>proporción</a:t>
            </a:r>
            <a:r>
              <a:rPr lang="en-US" dirty="0"/>
              <a:t> de personas a favor de </a:t>
            </a:r>
            <a:r>
              <a:rPr lang="en-US" dirty="0" err="1"/>
              <a:t>una</a:t>
            </a:r>
            <a:r>
              <a:rPr lang="en-US" dirty="0"/>
              <a:t> </a:t>
            </a:r>
            <a:r>
              <a:rPr lang="en-US" dirty="0" err="1"/>
              <a:t>nueva</a:t>
            </a:r>
            <a:r>
              <a:rPr lang="en-US" dirty="0"/>
              <a:t> </a:t>
            </a:r>
            <a:r>
              <a:rPr lang="en-US" dirty="0" err="1"/>
              <a:t>reforma</a:t>
            </a:r>
            <a:r>
              <a:rPr lang="en-US" dirty="0"/>
              <a:t> fiscal. Si de </a:t>
            </a:r>
            <a:r>
              <a:rPr lang="en-US" dirty="0" err="1"/>
              <a:t>una</a:t>
            </a:r>
            <a:r>
              <a:rPr lang="en-US" dirty="0"/>
              <a:t> </a:t>
            </a:r>
            <a:r>
              <a:rPr lang="en-US" dirty="0" err="1"/>
              <a:t>muestra</a:t>
            </a:r>
            <a:r>
              <a:rPr lang="en-US" dirty="0"/>
              <a:t> </a:t>
            </a:r>
            <a:r>
              <a:rPr lang="en-US" dirty="0" err="1"/>
              <a:t>aleatoria</a:t>
            </a:r>
            <a:r>
              <a:rPr lang="en-US" dirty="0"/>
              <a:t> de </a:t>
            </a:r>
            <a:r>
              <a:rPr lang="en-US" dirty="0" err="1"/>
              <a:t>tama</a:t>
            </a:r>
            <a:r>
              <a:rPr lang="es-CR" dirty="0" err="1"/>
              <a:t>ño</a:t>
            </a:r>
            <a:r>
              <a:rPr lang="es-CR" dirty="0"/>
              <a:t> 1200, 600 afirmaron estar de acuerdo con una nueva reforma fiscal. </a:t>
            </a:r>
          </a:p>
          <a:p>
            <a:endParaRPr lang="es-CR" dirty="0"/>
          </a:p>
          <a:p>
            <a:r>
              <a:rPr lang="es-CR" dirty="0"/>
              <a:t>Encontrar un intervalo de confianza de 95% para </a:t>
            </a:r>
            <a:r>
              <a:rPr lang="es-CR" b="1" dirty="0">
                <a:solidFill>
                  <a:srgbClr val="000F9F"/>
                </a:solidFill>
              </a:rPr>
              <a:t>p</a:t>
            </a:r>
            <a:r>
              <a:rPr lang="es-CR" dirty="0"/>
              <a:t> </a:t>
            </a:r>
          </a:p>
        </p:txBody>
      </p:sp>
    </p:spTree>
    <p:extLst>
      <p:ext uri="{BB962C8B-B14F-4D97-AF65-F5344CB8AC3E}">
        <p14:creationId xmlns:p14="http://schemas.microsoft.com/office/powerpoint/2010/main" val="185290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030B9-A4D5-3F88-F5C2-19B6ABA4795E}"/>
              </a:ext>
            </a:extLst>
          </p:cNvPr>
          <p:cNvSpPr>
            <a:spLocks noGrp="1"/>
          </p:cNvSpPr>
          <p:nvPr>
            <p:ph type="title"/>
          </p:nvPr>
        </p:nvSpPr>
        <p:spPr/>
        <p:txBody>
          <a:bodyPr/>
          <a:lstStyle/>
          <a:p>
            <a:r>
              <a:rPr lang="es-CR" dirty="0"/>
              <a:t>Ejercicio 5</a:t>
            </a:r>
            <a:r>
              <a:rPr lang="en-US" dirty="0"/>
              <a:t>: Respuesta</a:t>
            </a:r>
            <a:endParaRPr lang="es-C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20654E-7AE8-FAF7-FF90-F32EDE484160}"/>
                  </a:ext>
                </a:extLst>
              </p:cNvPr>
              <p:cNvSpPr>
                <a:spLocks noGrp="1"/>
              </p:cNvSpPr>
              <p:nvPr>
                <p:ph sz="half" idx="1"/>
              </p:nvPr>
            </p:nvSpPr>
            <p:spPr>
              <a:xfrm>
                <a:off x="838199" y="2067983"/>
                <a:ext cx="10336877" cy="3735410"/>
              </a:xfrm>
            </p:spPr>
            <p:txBody>
              <a:bodyPr/>
              <a:lstStyle/>
              <a:p>
                <a14:m>
                  <m:oMath xmlns:m="http://schemas.openxmlformats.org/officeDocument/2006/math">
                    <m:r>
                      <a:rPr lang="en-US" i="1" smtClean="0">
                        <a:latin typeface="Cambria Math" panose="02040503050406030204" pitchFamily="18" charset="0"/>
                      </a:rPr>
                      <m:t>0.5</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±1.96∗</m:t>
                    </m:r>
                    <m:rad>
                      <m:radPr>
                        <m:degHide m:val="on"/>
                        <m:ctrlPr>
                          <a:rPr lang="en-US" i="1">
                            <a:latin typeface="Cambria Math" panose="02040503050406030204" pitchFamily="18" charset="0"/>
                            <a:ea typeface="Cambria Math" panose="02040503050406030204" pitchFamily="18" charset="0"/>
                          </a:rPr>
                        </m:ctrlPr>
                      </m:radPr>
                      <m:deg/>
                      <m:e>
                        <m:f>
                          <m:fPr>
                            <m:ctrlPr>
                              <a:rPr lang="en-US" i="1">
                                <a:latin typeface="Cambria Math" panose="02040503050406030204" pitchFamily="18" charset="0"/>
                                <a:ea typeface="Cambria Math" panose="02040503050406030204" pitchFamily="18" charset="0"/>
                              </a:rPr>
                            </m:ctrlPr>
                          </m:fPr>
                          <m:num>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0.5</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5</m:t>
                                </m:r>
                              </m:e>
                            </m:d>
                          </m:num>
                          <m:den>
                            <m:r>
                              <a:rPr lang="en-US" b="0" i="1" smtClean="0">
                                <a:latin typeface="Cambria Math" panose="02040503050406030204" pitchFamily="18" charset="0"/>
                                <a:ea typeface="Cambria Math" panose="02040503050406030204" pitchFamily="18" charset="0"/>
                              </a:rPr>
                              <m:t>1200</m:t>
                            </m:r>
                          </m:den>
                        </m:f>
                      </m:e>
                    </m:ra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0.47, 0.5</m:t>
                        </m:r>
                        <m:r>
                          <a:rPr lang="en-US" b="0" i="1" smtClean="0">
                            <a:latin typeface="Cambria Math" panose="02040503050406030204" pitchFamily="18" charset="0"/>
                          </a:rPr>
                          <m:t>3</m:t>
                        </m:r>
                      </m:e>
                    </m:d>
                  </m:oMath>
                </a14:m>
                <a:endParaRPr lang="es-CR" dirty="0"/>
              </a:p>
              <a:p>
                <a:endParaRPr lang="es-CR" dirty="0"/>
              </a:p>
            </p:txBody>
          </p:sp>
        </mc:Choice>
        <mc:Fallback xmlns="">
          <p:sp>
            <p:nvSpPr>
              <p:cNvPr id="3" name="Content Placeholder 2">
                <a:extLst>
                  <a:ext uri="{FF2B5EF4-FFF2-40B4-BE49-F238E27FC236}">
                    <a16:creationId xmlns:a16="http://schemas.microsoft.com/office/drawing/2014/main" id="{4D20654E-7AE8-FAF7-FF90-F32EDE484160}"/>
                  </a:ext>
                </a:extLst>
              </p:cNvPr>
              <p:cNvSpPr>
                <a:spLocks noGrp="1" noRot="1" noChangeAspect="1" noMove="1" noResize="1" noEditPoints="1" noAdjustHandles="1" noChangeArrowheads="1" noChangeShapeType="1" noTextEdit="1"/>
              </p:cNvSpPr>
              <p:nvPr>
                <p:ph sz="half" idx="1"/>
              </p:nvPr>
            </p:nvSpPr>
            <p:spPr>
              <a:xfrm>
                <a:off x="838199" y="2067983"/>
                <a:ext cx="10336877" cy="3735410"/>
              </a:xfrm>
              <a:blipFill>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3344999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D90DD4-0B11-CC56-42FE-7E0492064F43}"/>
              </a:ext>
            </a:extLst>
          </p:cNvPr>
          <p:cNvSpPr>
            <a:spLocks noGrp="1"/>
          </p:cNvSpPr>
          <p:nvPr>
            <p:ph type="ctrTitle"/>
          </p:nvPr>
        </p:nvSpPr>
        <p:spPr/>
        <p:txBody>
          <a:bodyPr/>
          <a:lstStyle/>
          <a:p>
            <a:r>
              <a:rPr lang="es-CR" dirty="0"/>
              <a:t>Laboratorio</a:t>
            </a:r>
          </a:p>
        </p:txBody>
      </p:sp>
    </p:spTree>
    <p:extLst>
      <p:ext uri="{BB962C8B-B14F-4D97-AF65-F5344CB8AC3E}">
        <p14:creationId xmlns:p14="http://schemas.microsoft.com/office/powerpoint/2010/main" val="1241570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EC8D5-5DA1-6272-AD6B-F372D3C639A7}"/>
              </a:ext>
            </a:extLst>
          </p:cNvPr>
          <p:cNvSpPr>
            <a:spLocks noGrp="1"/>
          </p:cNvSpPr>
          <p:nvPr>
            <p:ph type="ctrTitle"/>
          </p:nvPr>
        </p:nvSpPr>
        <p:spPr/>
        <p:txBody>
          <a:bodyPr/>
          <a:lstStyle/>
          <a:p>
            <a:r>
              <a:rPr lang="en-US" dirty="0" err="1"/>
              <a:t>Ejercicio</a:t>
            </a:r>
            <a:endParaRPr lang="es-CR" dirty="0"/>
          </a:p>
        </p:txBody>
      </p:sp>
    </p:spTree>
    <p:extLst>
      <p:ext uri="{BB962C8B-B14F-4D97-AF65-F5344CB8AC3E}">
        <p14:creationId xmlns:p14="http://schemas.microsoft.com/office/powerpoint/2010/main" val="1191204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DCB08-09F9-7C69-67F2-E8AB6434F93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4620822-A547-7700-94A9-61FA72B13F18}"/>
              </a:ext>
            </a:extLst>
          </p:cNvPr>
          <p:cNvSpPr>
            <a:spLocks noGrp="1"/>
          </p:cNvSpPr>
          <p:nvPr>
            <p:ph sz="half" idx="1"/>
          </p:nvPr>
        </p:nvSpPr>
        <p:spPr>
          <a:xfrm>
            <a:off x="838199" y="2067983"/>
            <a:ext cx="10336877" cy="3735410"/>
          </a:xfrm>
        </p:spPr>
        <p:txBody>
          <a:bodyPr/>
          <a:lstStyle/>
          <a:p>
            <a:r>
              <a:rPr lang="es-CR" dirty="0"/>
              <a:t>Utilice la base de datos de ECE 2025 y la variable </a:t>
            </a:r>
            <a:r>
              <a:rPr lang="es-CR" dirty="0" err="1"/>
              <a:t>Ingreso_total</a:t>
            </a:r>
            <a:r>
              <a:rPr lang="es-CR" dirty="0"/>
              <a:t>:</a:t>
            </a:r>
          </a:p>
          <a:p>
            <a:endParaRPr lang="es-CR" dirty="0"/>
          </a:p>
          <a:p>
            <a:pPr marL="514350" indent="-514350">
              <a:buFont typeface="+mj-lt"/>
              <a:buAutoNum type="arabicPeriod"/>
            </a:pPr>
            <a:r>
              <a:rPr lang="es-CR" dirty="0"/>
              <a:t>Gráfico de densidad de la variable.</a:t>
            </a:r>
          </a:p>
          <a:p>
            <a:pPr marL="514350" indent="-514350">
              <a:buFont typeface="+mj-lt"/>
              <a:buAutoNum type="arabicPeriod"/>
            </a:pPr>
            <a:r>
              <a:rPr lang="es-CR" dirty="0"/>
              <a:t>Calcular la mediana, media, varianza, desviación estándar y coeficiente de variación.</a:t>
            </a:r>
          </a:p>
          <a:p>
            <a:pPr marL="514350" indent="-514350">
              <a:buFont typeface="+mj-lt"/>
              <a:buAutoNum type="arabicPeriod"/>
            </a:pPr>
            <a:r>
              <a:rPr lang="es-CR" dirty="0"/>
              <a:t>Intervalo de confianza con un </a:t>
            </a:r>
            <a:r>
              <a:rPr lang="es-CR" dirty="0" err="1"/>
              <a:t>alpha</a:t>
            </a:r>
            <a:r>
              <a:rPr lang="es-CR" dirty="0"/>
              <a:t> de 5%</a:t>
            </a:r>
          </a:p>
          <a:p>
            <a:endParaRPr lang="es-CR" dirty="0"/>
          </a:p>
        </p:txBody>
      </p:sp>
      <p:sp>
        <p:nvSpPr>
          <p:cNvPr id="3" name="Title 2">
            <a:extLst>
              <a:ext uri="{FF2B5EF4-FFF2-40B4-BE49-F238E27FC236}">
                <a16:creationId xmlns:a16="http://schemas.microsoft.com/office/drawing/2014/main" id="{F7D04EC6-330E-A21C-AA77-201E92B73CCD}"/>
              </a:ext>
            </a:extLst>
          </p:cNvPr>
          <p:cNvSpPr>
            <a:spLocks noGrp="1"/>
          </p:cNvSpPr>
          <p:nvPr>
            <p:ph type="title"/>
          </p:nvPr>
        </p:nvSpPr>
        <p:spPr/>
        <p:txBody>
          <a:bodyPr/>
          <a:lstStyle/>
          <a:p>
            <a:r>
              <a:rPr lang="es-CR" dirty="0"/>
              <a:t>Ejercicio: Encuesta Continua de Empleo 2025</a:t>
            </a:r>
          </a:p>
        </p:txBody>
      </p:sp>
    </p:spTree>
    <p:extLst>
      <p:ext uri="{BB962C8B-B14F-4D97-AF65-F5344CB8AC3E}">
        <p14:creationId xmlns:p14="http://schemas.microsoft.com/office/powerpoint/2010/main" val="1929872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47963-9847-D956-EC01-6D075D5EFA04}"/>
              </a:ext>
            </a:extLst>
          </p:cNvPr>
          <p:cNvSpPr>
            <a:spLocks noGrp="1"/>
          </p:cNvSpPr>
          <p:nvPr>
            <p:ph type="title"/>
          </p:nvPr>
        </p:nvSpPr>
        <p:spPr/>
        <p:txBody>
          <a:bodyPr/>
          <a:lstStyle/>
          <a:p>
            <a:r>
              <a:rPr lang="es-CR" dirty="0"/>
              <a:t>Bibliografía</a:t>
            </a:r>
          </a:p>
        </p:txBody>
      </p:sp>
      <p:sp>
        <p:nvSpPr>
          <p:cNvPr id="3" name="Content Placeholder 2">
            <a:extLst>
              <a:ext uri="{FF2B5EF4-FFF2-40B4-BE49-F238E27FC236}">
                <a16:creationId xmlns:a16="http://schemas.microsoft.com/office/drawing/2014/main" id="{FE1C764F-3023-9E9E-4783-CDF2241DDB9B}"/>
              </a:ext>
            </a:extLst>
          </p:cNvPr>
          <p:cNvSpPr>
            <a:spLocks noGrp="1"/>
          </p:cNvSpPr>
          <p:nvPr>
            <p:ph sz="half" idx="1"/>
          </p:nvPr>
        </p:nvSpPr>
        <p:spPr>
          <a:xfrm>
            <a:off x="838199" y="2067983"/>
            <a:ext cx="10336877" cy="3735410"/>
          </a:xfrm>
        </p:spPr>
        <p:txBody>
          <a:bodyPr/>
          <a:lstStyle/>
          <a:p>
            <a:r>
              <a:rPr lang="en-US" b="0" i="0" dirty="0">
                <a:solidFill>
                  <a:srgbClr val="373A3C"/>
                </a:solidFill>
                <a:effectLst/>
                <a:latin typeface="Source Sans Pro" panose="020B0503030403020204" pitchFamily="34" charset="0"/>
              </a:rPr>
              <a:t>Hogg, Robert V.., Elliot A.. Tanis, and Dale L.. Zimmerman. 2015. </a:t>
            </a:r>
            <a:r>
              <a:rPr lang="en-US" b="0" i="1" dirty="0">
                <a:solidFill>
                  <a:srgbClr val="373A3C"/>
                </a:solidFill>
                <a:effectLst/>
                <a:latin typeface="Source Sans Pro" panose="020B0503030403020204" pitchFamily="34" charset="0"/>
              </a:rPr>
              <a:t>Probability and Statistical Inference</a:t>
            </a:r>
            <a:r>
              <a:rPr lang="en-US" b="0" i="0" dirty="0">
                <a:solidFill>
                  <a:srgbClr val="373A3C"/>
                </a:solidFill>
                <a:effectLst/>
                <a:latin typeface="Source Sans Pro" panose="020B0503030403020204" pitchFamily="34" charset="0"/>
              </a:rPr>
              <a:t>. Pearson</a:t>
            </a:r>
          </a:p>
          <a:p>
            <a:endParaRPr lang="en-US" dirty="0">
              <a:solidFill>
                <a:srgbClr val="373A3C"/>
              </a:solidFill>
              <a:latin typeface="Source Sans Pro" panose="020B0503030403020204" pitchFamily="34" charset="0"/>
            </a:endParaRPr>
          </a:p>
          <a:p>
            <a:r>
              <a:rPr lang="en-US" b="0" i="0" dirty="0">
                <a:solidFill>
                  <a:srgbClr val="373A3C"/>
                </a:solidFill>
                <a:effectLst/>
                <a:latin typeface="Source Sans Pro" panose="020B0503030403020204" pitchFamily="34" charset="0"/>
              </a:rPr>
              <a:t>Sahu, Sujit K. 2024. </a:t>
            </a:r>
            <a:r>
              <a:rPr lang="en-US" b="0" i="1" dirty="0">
                <a:solidFill>
                  <a:srgbClr val="373A3C"/>
                </a:solidFill>
                <a:effectLst/>
                <a:latin typeface="Source Sans Pro" panose="020B0503030403020204" pitchFamily="34" charset="0"/>
              </a:rPr>
              <a:t>Introduction to Probability, Statistics &amp; r</a:t>
            </a:r>
            <a:r>
              <a:rPr lang="en-US" b="0" i="0" dirty="0">
                <a:solidFill>
                  <a:srgbClr val="373A3C"/>
                </a:solidFill>
                <a:effectLst/>
                <a:latin typeface="Source Sans Pro" panose="020B0503030403020204" pitchFamily="34" charset="0"/>
              </a:rPr>
              <a:t>. </a:t>
            </a:r>
            <a:r>
              <a:rPr lang="en-US" b="0" i="1" dirty="0">
                <a:solidFill>
                  <a:srgbClr val="373A3C"/>
                </a:solidFill>
                <a:effectLst/>
                <a:latin typeface="Source Sans Pro" panose="020B0503030403020204" pitchFamily="34" charset="0"/>
              </a:rPr>
              <a:t>Introduction to Probability, Statistics &amp; R</a:t>
            </a:r>
            <a:r>
              <a:rPr lang="en-US" b="0" i="0" dirty="0">
                <a:solidFill>
                  <a:srgbClr val="373A3C"/>
                </a:solidFill>
                <a:effectLst/>
                <a:latin typeface="Source Sans Pro" panose="020B0503030403020204" pitchFamily="34" charset="0"/>
              </a:rPr>
              <a:t>. Springer International Publishing. </a:t>
            </a:r>
            <a:r>
              <a:rPr lang="en-US" b="0" i="0" u="sng" dirty="0">
                <a:effectLst/>
                <a:latin typeface="Source Sans Pro" panose="020B0503030403020204" pitchFamily="34" charset="0"/>
                <a:hlinkClick r:id="rId2"/>
              </a:rPr>
              <a:t>https://doi.org/10.1007/978-3-031-37865-2</a:t>
            </a:r>
            <a:r>
              <a:rPr lang="en-US" b="0" i="0" dirty="0">
                <a:solidFill>
                  <a:srgbClr val="373A3C"/>
                </a:solidFill>
                <a:effectLst/>
                <a:latin typeface="Source Sans Pro" panose="020B0503030403020204" pitchFamily="34" charset="0"/>
              </a:rPr>
              <a:t>.</a:t>
            </a:r>
            <a:endParaRPr lang="es-CR" dirty="0"/>
          </a:p>
        </p:txBody>
      </p:sp>
    </p:spTree>
    <p:extLst>
      <p:ext uri="{BB962C8B-B14F-4D97-AF65-F5344CB8AC3E}">
        <p14:creationId xmlns:p14="http://schemas.microsoft.com/office/powerpoint/2010/main" val="3875904549"/>
      </p:ext>
    </p:extLst>
  </p:cSld>
  <p:clrMapOvr>
    <a:masterClrMapping/>
  </p:clrMapOvr>
</p:sld>
</file>

<file path=ppt/theme/theme1.xml><?xml version="1.0" encoding="utf-8"?>
<a:theme xmlns:a="http://schemas.openxmlformats.org/drawingml/2006/main" name="Fidélitas ">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14222</TotalTime>
  <Words>1005</Words>
  <Application>Microsoft Office PowerPoint</Application>
  <PresentationFormat>Widescreen</PresentationFormat>
  <Paragraphs>100</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Cambria Math</vt:lpstr>
      <vt:lpstr>Source Sans Pro</vt:lpstr>
      <vt:lpstr>Trust Sans</vt:lpstr>
      <vt:lpstr>Trust Sans Black</vt:lpstr>
      <vt:lpstr>Trust Sans Bold</vt:lpstr>
      <vt:lpstr>Fidélitas </vt:lpstr>
      <vt:lpstr>Unidad 5: Estimación e intervalos de confianza</vt:lpstr>
      <vt:lpstr>Contenido</vt:lpstr>
      <vt:lpstr>Intervalo de Confianza: aplicaciones</vt:lpstr>
      <vt:lpstr>Intervalo de Confianza de la media</vt:lpstr>
      <vt:lpstr>Intervalos de Confianza para la media</vt:lpstr>
      <vt:lpstr>Intervalos de Confianza para la media</vt:lpstr>
      <vt:lpstr>Ejemplo</vt:lpstr>
      <vt:lpstr>Ejercicio 1</vt:lpstr>
      <vt:lpstr>Ejercicio 1: Respuesta</vt:lpstr>
      <vt:lpstr>Ejercicio 2</vt:lpstr>
      <vt:lpstr>Ejercicio 2: Respuesta</vt:lpstr>
      <vt:lpstr>Intervalo de confianza de una proporción</vt:lpstr>
      <vt:lpstr>Definición</vt:lpstr>
      <vt:lpstr>Intervalo de confianza de una proporción</vt:lpstr>
      <vt:lpstr>Ejemplo:</vt:lpstr>
      <vt:lpstr>Respuesta</vt:lpstr>
      <vt:lpstr>Ejercicio 4:</vt:lpstr>
      <vt:lpstr>Ejercicio 4: Respuesta</vt:lpstr>
      <vt:lpstr>Ejercicio 5</vt:lpstr>
      <vt:lpstr>Ejercicio 5: Respuesta</vt:lpstr>
      <vt:lpstr>Laboratorio</vt:lpstr>
      <vt:lpstr>Ejercicio</vt:lpstr>
      <vt:lpstr>Ejercicio: Encuesta Continua de Empleo 2025</vt:lpstr>
      <vt:lpstr>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dc:title>
  <dc:creator>Fiorella Chacón Morales</dc:creator>
  <cp:lastModifiedBy>Fabian Brenes</cp:lastModifiedBy>
  <cp:revision>118</cp:revision>
  <dcterms:created xsi:type="dcterms:W3CDTF">2023-02-23T21:29:48Z</dcterms:created>
  <dcterms:modified xsi:type="dcterms:W3CDTF">2026-07-10T20:40:18Z</dcterms:modified>
</cp:coreProperties>
</file>