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54" r:id="rId2"/>
    <p:sldId id="433" r:id="rId3"/>
    <p:sldId id="435" r:id="rId4"/>
    <p:sldId id="436" r:id="rId5"/>
    <p:sldId id="460" r:id="rId6"/>
    <p:sldId id="447" r:id="rId7"/>
    <p:sldId id="448" r:id="rId8"/>
    <p:sldId id="446" r:id="rId9"/>
    <p:sldId id="461" r:id="rId10"/>
    <p:sldId id="395" r:id="rId11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9F"/>
    <a:srgbClr val="FFFFFF"/>
    <a:srgbClr val="E31D93"/>
    <a:srgbClr val="00B2E3"/>
    <a:srgbClr val="FF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89422" autoAdjust="0"/>
  </p:normalViewPr>
  <p:slideViewPr>
    <p:cSldViewPr snapToGrid="0">
      <p:cViewPr varScale="1">
        <p:scale>
          <a:sx n="110" d="100"/>
          <a:sy n="110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Brenes" userId="0a98a788-2542-4baf-b081-64ee1e965425" providerId="ADAL" clId="{3D44E08D-C675-4D64-922C-0261EF110F0B}"/>
    <pc:docChg chg="undo custSel addSld delSld modSld sldOrd">
      <pc:chgData name="Fabian Brenes" userId="0a98a788-2542-4baf-b081-64ee1e965425" providerId="ADAL" clId="{3D44E08D-C675-4D64-922C-0261EF110F0B}" dt="2026-07-17T22:50:00.493" v="5695" actId="20577"/>
      <pc:docMkLst>
        <pc:docMk/>
      </pc:docMkLst>
      <pc:sldChg chg="modSp add mod">
        <pc:chgData name="Fabian Brenes" userId="0a98a788-2542-4baf-b081-64ee1e965425" providerId="ADAL" clId="{3D44E08D-C675-4D64-922C-0261EF110F0B}" dt="2026-07-17T22:50:00.493" v="5695" actId="20577"/>
        <pc:sldMkLst>
          <pc:docMk/>
          <pc:sldMk cId="1929872842" sldId="446"/>
        </pc:sldMkLst>
        <pc:spChg chg="mod">
          <ac:chgData name="Fabian Brenes" userId="0a98a788-2542-4baf-b081-64ee1e965425" providerId="ADAL" clId="{3D44E08D-C675-4D64-922C-0261EF110F0B}" dt="2026-07-17T22:50:00.493" v="5695" actId="20577"/>
          <ac:spMkLst>
            <pc:docMk/>
            <pc:sldMk cId="1929872842" sldId="446"/>
            <ac:spMk id="4" creationId="{54620822-A547-7700-94A9-61FA72B13F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90E02-228F-4EE4-B8DB-40CD5C605F12}" type="datetimeFigureOut">
              <a:rPr lang="es-CR" smtClean="0"/>
              <a:t>17/7/2026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78745-B1E6-4434-BB1A-E7B3F7352ADB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53189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variance due to the group difference and the variance due to the sampling error (i.e., unexplained residual variance by the systematic group difference)</a:t>
            </a:r>
            <a:endParaRPr lang="es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678745-B1E6-4434-BB1A-E7B3F7352ADB}" type="slidenum">
              <a:rPr lang="es-CR" smtClean="0"/>
              <a:t>6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54174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5F2A3D7-D255-7DCD-6AEE-4A3CB82FF3F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435" t="3287" b="3287"/>
          <a:stretch/>
        </p:blipFill>
        <p:spPr>
          <a:xfrm>
            <a:off x="0" y="2494722"/>
            <a:ext cx="2600946" cy="95681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5F754BB-255D-0FE5-FB11-2E7D44DB33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26443" y="1176898"/>
            <a:ext cx="7794913" cy="225210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Trust Sans Black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FFE5A59-DA03-60BF-23E2-491F1C0AB5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26444" y="4165636"/>
            <a:ext cx="7794912" cy="957689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subtitle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942F5F3-D9C5-32A4-1D88-43EF7BE18CE7}"/>
              </a:ext>
            </a:extLst>
          </p:cNvPr>
          <p:cNvCxnSpPr>
            <a:cxnSpLocks/>
          </p:cNvCxnSpPr>
          <p:nvPr userDrawn="1"/>
        </p:nvCxnSpPr>
        <p:spPr>
          <a:xfrm>
            <a:off x="2926444" y="3741684"/>
            <a:ext cx="7794913" cy="0"/>
          </a:xfrm>
          <a:prstGeom prst="line">
            <a:avLst/>
          </a:prstGeom>
          <a:ln w="76200" cap="rnd">
            <a:solidFill>
              <a:srgbClr val="FFD600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19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43BE044-ED31-3F60-3A2F-7E880992B3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8200" y="2735376"/>
            <a:ext cx="1139757" cy="7123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441604-9A2B-F58B-7730-B0BA9FF9D2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0049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5D7F6B5-6E7F-9DFE-350A-5B76D265B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3814" y="2735376"/>
            <a:ext cx="1139757" cy="71234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3C3988A-175F-3624-D13A-0B7D7469B5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2540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90F0828-C61C-4406-DC2A-08D1B900E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C64957B-02E4-9B5C-8E18-E36EA9BA263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C6D7E9F4-35B6-1C90-CF52-751FB46A86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37BC75-F084-050C-B722-406BB5C8011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78A961E-E13E-27B7-195D-9EA2B5A9AFBA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94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822B41A-10D2-12DC-7415-C3DFB5FFA59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94509" y="2526894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EE44A15-0D2B-2A97-C607-CF9797EB1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4509" y="771305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740D23F4-F7F1-B2AC-63CE-98E96B87EDA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902036" y="771306"/>
            <a:ext cx="5453352" cy="4444534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Trust Sans" pitchFamily="2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CR" dirty="0" err="1"/>
              <a:t>Click</a:t>
            </a:r>
            <a:r>
              <a:rPr lang="es-CR" dirty="0"/>
              <a:t> </a:t>
            </a:r>
            <a:r>
              <a:rPr lang="es-CR" dirty="0" err="1"/>
              <a:t>to</a:t>
            </a:r>
            <a:r>
              <a:rPr lang="es-CR" dirty="0"/>
              <a:t> </a:t>
            </a:r>
            <a:r>
              <a:rPr lang="es-CR" dirty="0" err="1"/>
              <a:t>add</a:t>
            </a:r>
            <a:r>
              <a:rPr lang="es-CR" dirty="0"/>
              <a:t> a </a:t>
            </a:r>
            <a:r>
              <a:rPr lang="es-CR" dirty="0" err="1"/>
              <a:t>image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08235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2">
            <a:extLst>
              <a:ext uri="{FF2B5EF4-FFF2-40B4-BE49-F238E27FC236}">
                <a16:creationId xmlns:a16="http://schemas.microsoft.com/office/drawing/2014/main" id="{C70069F9-4D6A-A47A-AF4F-EED984AE3C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28928" y="2511123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FB0BBF-334E-02E6-E3B0-595FF2DA8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8928" y="755534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9719F092-9774-93FA-2C6C-7F477253B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42363" y="698733"/>
            <a:ext cx="4918364" cy="4444534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58896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liso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588C353-EDDC-B884-9CAB-022D5154F4E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5E2DD159-D272-5B1F-5E0C-14A3DC6252E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757F612-090F-A7EF-4E70-7AAD35CF72DC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FC846CE2-3AED-AB04-9835-976A0147B7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pic>
        <p:nvPicPr>
          <p:cNvPr id="11" name="Imagen 7">
            <a:extLst>
              <a:ext uri="{FF2B5EF4-FFF2-40B4-BE49-F238E27FC236}">
                <a16:creationId xmlns:a16="http://schemas.microsoft.com/office/drawing/2014/main" id="{A5B6BF07-8364-9FED-F612-95E99DC32A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6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(NO US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0F7BE623-D05C-AB7B-74E9-BF7866F7D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2183" y="365125"/>
            <a:ext cx="98076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3F1B8A1-C662-D115-0579-1F78DFAED100}"/>
              </a:ext>
            </a:extLst>
          </p:cNvPr>
          <p:cNvCxnSpPr>
            <a:cxnSpLocks/>
          </p:cNvCxnSpPr>
          <p:nvPr userDrawn="1"/>
        </p:nvCxnSpPr>
        <p:spPr>
          <a:xfrm>
            <a:off x="999779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01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F4E6B-8ED0-1A0E-9981-00C1D28AC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6B6CF-A793-667E-DFBB-6606EFB10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8E7DB-55BF-03D2-747C-3E850277C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C3DDB-3254-4B44-AF1A-1332E3F263AA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E244A-B1DD-9755-2D40-610B86172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9798C-0384-56F2-CEBE-2C5FA81B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6D993-70CC-49F7-B403-AE26218914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68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659041-7ADC-62BC-6910-5620613E9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0333AB-DD6B-8268-4367-48E815507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3ADE5-809A-F847-849A-CF38205A1D8E}" type="datetimeFigureOut">
              <a:rPr lang="es-CR" smtClean="0"/>
              <a:t>17/7/2026</a:t>
            </a:fld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71165C-2410-72E9-B41A-2B2E95CD3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56CB7-7D20-A748-9388-BFDA1817F9B8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6315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2" r:id="rId4"/>
    <p:sldLayoutId id="2147483653" r:id="rId5"/>
    <p:sldLayoutId id="2147483659" r:id="rId6"/>
    <p:sldLayoutId id="2147483656" r:id="rId7"/>
    <p:sldLayoutId id="2147483657" r:id="rId8"/>
    <p:sldLayoutId id="214748366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978-3-031-37865-2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D761F7-B769-3D43-00ED-0BFDC3AC7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CR" dirty="0"/>
              <a:t>Unidad 6: ANOVA de un factor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633BDD-7A3E-2C4B-BEF9-52FFB3723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6057" y="4055104"/>
            <a:ext cx="7794912" cy="957689"/>
          </a:xfrm>
        </p:spPr>
        <p:txBody>
          <a:bodyPr>
            <a:normAutofit/>
          </a:bodyPr>
          <a:lstStyle/>
          <a:p>
            <a:r>
              <a:rPr lang="es-CR" dirty="0" err="1"/>
              <a:t>Prof</a:t>
            </a:r>
            <a:r>
              <a:rPr lang="es-CR" dirty="0"/>
              <a:t>: Fabián Brenes Trejos</a:t>
            </a:r>
          </a:p>
        </p:txBody>
      </p:sp>
    </p:spTree>
    <p:extLst>
      <p:ext uri="{BB962C8B-B14F-4D97-AF65-F5344CB8AC3E}">
        <p14:creationId xmlns:p14="http://schemas.microsoft.com/office/powerpoint/2010/main" val="3375381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568CF3-1B0B-740E-A1FF-A4C21849D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050"/>
            <a:ext cx="10158984" cy="413385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s-CR" dirty="0"/>
              <a:t>En las clases anteriores estudiamos el método de prueba de hipótesis para evaluar si dos promedio son estadísticamente diferentes</a:t>
            </a:r>
          </a:p>
          <a:p>
            <a:pPr algn="just"/>
            <a:endParaRPr lang="es-CR" dirty="0"/>
          </a:p>
          <a:p>
            <a:pPr algn="just"/>
            <a:r>
              <a:rPr lang="es-CR" dirty="0"/>
              <a:t>El ANOVA se aplica para evaluar </a:t>
            </a:r>
            <a:r>
              <a:rPr lang="es-CR" b="1" dirty="0">
                <a:solidFill>
                  <a:srgbClr val="000F9F"/>
                </a:solidFill>
              </a:rPr>
              <a:t>tres o más promedios</a:t>
            </a:r>
          </a:p>
          <a:p>
            <a:pPr algn="just"/>
            <a:endParaRPr lang="es-CR" dirty="0"/>
          </a:p>
          <a:p>
            <a:pPr algn="just"/>
            <a:r>
              <a:rPr lang="es-CR" dirty="0"/>
              <a:t>El término de un factor, indica que son promedios comparados entre niveles de una sola variable de clasificación (llamada la variable independiente o factor).</a:t>
            </a:r>
          </a:p>
          <a:p>
            <a:pPr algn="just"/>
            <a:endParaRPr lang="es-CR" dirty="0"/>
          </a:p>
          <a:p>
            <a:pPr algn="just"/>
            <a:r>
              <a:rPr lang="es-CR" dirty="0"/>
              <a:t>La variable dependiente son los promedios que se van a comparar.</a:t>
            </a:r>
          </a:p>
          <a:p>
            <a:pPr algn="just"/>
            <a:endParaRPr lang="es-CR" dirty="0"/>
          </a:p>
          <a:p>
            <a:pPr algn="just"/>
            <a:r>
              <a:rPr lang="es-CR" dirty="0"/>
              <a:t>Supuestos del análisis:</a:t>
            </a:r>
          </a:p>
          <a:p>
            <a:pPr lvl="1" algn="just"/>
            <a:r>
              <a:rPr lang="es-CR" dirty="0"/>
              <a:t>Los valores de la variable dependiente son observaciones que siguen una distribución normal</a:t>
            </a:r>
          </a:p>
          <a:p>
            <a:pPr lvl="1" algn="just"/>
            <a:r>
              <a:rPr lang="es-CR" dirty="0"/>
              <a:t>La varianzas poblacionales son iguales a través de los niveles de la variable independiente</a:t>
            </a:r>
          </a:p>
          <a:p>
            <a:pPr lvl="1" algn="just"/>
            <a:endParaRPr lang="es-CR" dirty="0"/>
          </a:p>
          <a:p>
            <a:pPr algn="just"/>
            <a:endParaRPr lang="es-CR" dirty="0"/>
          </a:p>
          <a:p>
            <a:pPr algn="just"/>
            <a:endParaRPr lang="es-CR" dirty="0"/>
          </a:p>
          <a:p>
            <a:pPr algn="just"/>
            <a:endParaRPr lang="es-C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CC725A-23AC-6EDB-6838-7EE553118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Introducción</a:t>
            </a:r>
          </a:p>
        </p:txBody>
      </p:sp>
    </p:spTree>
    <p:extLst>
      <p:ext uri="{BB962C8B-B14F-4D97-AF65-F5344CB8AC3E}">
        <p14:creationId xmlns:p14="http://schemas.microsoft.com/office/powerpoint/2010/main" val="3976489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55122-1E50-B0EF-BF4E-AE80E4D54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CF748F-C7B2-4CE9-57D2-83F1EB746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983"/>
            <a:ext cx="10158984" cy="3735410"/>
          </a:xfrm>
        </p:spPr>
        <p:txBody>
          <a:bodyPr>
            <a:normAutofit fontScale="92500" lnSpcReduction="1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Cálculo de variaciones (Sumas de Cuadrados): </a:t>
            </a:r>
          </a:p>
          <a:p>
            <a:pPr marL="0" indent="0" algn="just">
              <a:buNone/>
            </a:pPr>
            <a:r>
              <a:rPr lang="es-MX" dirty="0"/>
              <a:t>Se mide la variabilidad de los datos dividiéndola en dos fuentes: la variabilidad explicada por los grupos comparados y la variabilidad residual o de error (no explicada).</a:t>
            </a:r>
          </a:p>
          <a:p>
            <a:pPr marL="0" indent="0" algn="just">
              <a:buNone/>
            </a:pPr>
            <a:endParaRPr lang="es-MX" dirty="0"/>
          </a:p>
          <a:p>
            <a:pPr marL="514350" indent="-514350" algn="just">
              <a:buFont typeface="+mj-lt"/>
              <a:buAutoNum type="arabicPeriod" startAt="2"/>
            </a:pPr>
            <a:r>
              <a:rPr lang="es-MX" b="1" dirty="0"/>
              <a:t>Prueba de hipótesis: </a:t>
            </a:r>
          </a:p>
          <a:p>
            <a:pPr marL="0" indent="0" algn="just">
              <a:buNone/>
            </a:pPr>
            <a:r>
              <a:rPr lang="es-MX" dirty="0"/>
              <a:t>Estas medidas se utilizan para realizar el contraste de hipótesis que permite comparar si las medias de los grupos son significativamente diferentes.</a:t>
            </a:r>
            <a:endParaRPr lang="es-CR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EC2B1C-F491-4CAF-C17A-B1EB80240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Procedimiento de estimación</a:t>
            </a:r>
          </a:p>
        </p:txBody>
      </p:sp>
    </p:spTree>
    <p:extLst>
      <p:ext uri="{BB962C8B-B14F-4D97-AF65-F5344CB8AC3E}">
        <p14:creationId xmlns:p14="http://schemas.microsoft.com/office/powerpoint/2010/main" val="3169332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596C58-C2BA-FBC9-E051-FDBFAA775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R" dirty="0"/>
              <a:t>Cálculo de las variaciones (representación gráfica)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093FE2-CBFC-9141-1E0C-2E67E0A805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6047" y="1140974"/>
            <a:ext cx="11719906" cy="57170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C34E9D-D4EB-B93F-11F6-337334CB77AB}"/>
              </a:ext>
            </a:extLst>
          </p:cNvPr>
          <p:cNvSpPr txBox="1"/>
          <p:nvPr/>
        </p:nvSpPr>
        <p:spPr>
          <a:xfrm>
            <a:off x="8096250" y="6115050"/>
            <a:ext cx="3543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R" i="1" dirty="0"/>
              <a:t>Fuente: Lee, 2023, </a:t>
            </a:r>
            <a:r>
              <a:rPr lang="es-CR" i="1" dirty="0" err="1"/>
              <a:t>pg</a:t>
            </a:r>
            <a:r>
              <a:rPr lang="es-CR" i="1" dirty="0"/>
              <a:t> 86</a:t>
            </a:r>
          </a:p>
        </p:txBody>
      </p:sp>
    </p:spTree>
    <p:extLst>
      <p:ext uri="{BB962C8B-B14F-4D97-AF65-F5344CB8AC3E}">
        <p14:creationId xmlns:p14="http://schemas.microsoft.com/office/powerpoint/2010/main" val="1073331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4398E2-B413-B761-58E0-810C37CCB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Cálculo de las variaciones (ejemplo)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95472D-0885-4B46-5F19-BD4124172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1097266"/>
            <a:ext cx="9163050" cy="56233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EA911A-5AB4-0835-2CBC-87B6385FAF5A}"/>
              </a:ext>
            </a:extLst>
          </p:cNvPr>
          <p:cNvSpPr txBox="1"/>
          <p:nvPr/>
        </p:nvSpPr>
        <p:spPr>
          <a:xfrm>
            <a:off x="9563100" y="5391402"/>
            <a:ext cx="262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i="1" dirty="0"/>
              <a:t>Fuente: Lee, 2023, </a:t>
            </a:r>
            <a:r>
              <a:rPr lang="es-CR" i="1" dirty="0" err="1"/>
              <a:t>pg</a:t>
            </a:r>
            <a:r>
              <a:rPr lang="es-CR" i="1" dirty="0"/>
              <a:t> 87</a:t>
            </a:r>
          </a:p>
        </p:txBody>
      </p:sp>
    </p:spTree>
    <p:extLst>
      <p:ext uri="{BB962C8B-B14F-4D97-AF65-F5344CB8AC3E}">
        <p14:creationId xmlns:p14="http://schemas.microsoft.com/office/powerpoint/2010/main" val="3822963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208F08-505D-3D5D-DCB8-68841099C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Partición de las sumas al cuadrado (SS)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0F7948-58BF-DCD5-4F2B-D110F049CB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8346"/>
          <a:stretch>
            <a:fillRect/>
          </a:stretch>
        </p:blipFill>
        <p:spPr>
          <a:xfrm>
            <a:off x="1624330" y="1619250"/>
            <a:ext cx="8265160" cy="50040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F91C70-823B-BB34-9646-9BE5B3F9B68A}"/>
              </a:ext>
            </a:extLst>
          </p:cNvPr>
          <p:cNvSpPr txBox="1"/>
          <p:nvPr/>
        </p:nvSpPr>
        <p:spPr>
          <a:xfrm>
            <a:off x="0" y="6488668"/>
            <a:ext cx="262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R" i="1" dirty="0"/>
              <a:t>Fuente: Lee, 2023, </a:t>
            </a:r>
            <a:r>
              <a:rPr lang="es-CR" i="1" dirty="0" err="1"/>
              <a:t>pg</a:t>
            </a:r>
            <a:r>
              <a:rPr lang="es-CR" i="1" dirty="0"/>
              <a:t> 88</a:t>
            </a:r>
          </a:p>
        </p:txBody>
      </p:sp>
    </p:spTree>
    <p:extLst>
      <p:ext uri="{BB962C8B-B14F-4D97-AF65-F5344CB8AC3E}">
        <p14:creationId xmlns:p14="http://schemas.microsoft.com/office/powerpoint/2010/main" val="4047641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AA153C-8FDF-C137-57B2-805C70179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Prueba de hipótesis: Prueba 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B6E9D5-89F6-4F10-4558-5D736000360A}"/>
                  </a:ext>
                </a:extLst>
              </p:cNvPr>
              <p:cNvSpPr txBox="1"/>
              <p:nvPr/>
            </p:nvSpPr>
            <p:spPr>
              <a:xfrm>
                <a:off x="527685" y="1828800"/>
                <a:ext cx="11487150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s-CR" altLang="es-CR" sz="2400" b="1" dirty="0">
                    <a:latin typeface="Trust Sans"/>
                  </a:rPr>
                  <a:t>Planteamiento de hipótesis:</a:t>
                </a:r>
                <a:r>
                  <a:rPr lang="es-CR" altLang="es-CR" sz="2400" dirty="0">
                    <a:latin typeface="Trust Sans"/>
                  </a:rPr>
                  <a:t> La hipótesis nula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altLang="es-C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s-CR" sz="2400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es-CR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s-CR" altLang="es-CR" sz="2400" dirty="0">
                    <a:latin typeface="Trust Sans"/>
                  </a:rPr>
                  <a:t>) sostiene que todas las medias de los grupos son iguales, mientras que la alternativa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R" altLang="es-C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s-CR" sz="24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es-C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s-CR" altLang="es-CR" sz="2400" dirty="0">
                    <a:latin typeface="Trust Sans"/>
                  </a:rPr>
                  <a:t>) afirma que al menos una media es diferente.</a:t>
                </a: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lang="es-CR" altLang="es-CR" sz="2400" b="1" dirty="0">
                  <a:latin typeface="Trust Sans"/>
                </a:endParaRP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s-CR" altLang="es-CR" sz="2400" b="1" dirty="0">
                    <a:latin typeface="Trust Sans"/>
                  </a:rPr>
                  <a:t>Estadístico de prueba (</a:t>
                </a:r>
                <a14:m>
                  <m:oMath xmlns:m="http://schemas.openxmlformats.org/officeDocument/2006/math">
                    <m:r>
                      <a:rPr lang="en-US" altLang="es-CR" sz="2400" b="1" i="1" dirty="0" smtClean="0">
                        <a:latin typeface="Cambria Math" panose="02040503050406030204" pitchFamily="18" charset="0"/>
                      </a:rPr>
                      <m:t>𝑭</m:t>
                    </m:r>
                  </m:oMath>
                </a14:m>
                <a:r>
                  <a:rPr lang="es-CR" altLang="es-CR" sz="2400" b="1" dirty="0">
                    <a:latin typeface="Trust Sans"/>
                  </a:rPr>
                  <a:t>):</a:t>
                </a:r>
                <a:r>
                  <a:rPr lang="es-CR" altLang="es-CR" sz="2400" dirty="0">
                    <a:latin typeface="Trust Sans"/>
                  </a:rPr>
                  <a:t> A diferencia de las pruebas</a:t>
                </a:r>
                <a:r>
                  <a:rPr lang="es-CR" altLang="es-CR" sz="2400" dirty="0"/>
                  <a:t> </a:t>
                </a:r>
                <a14:m>
                  <m:oMath xmlns:m="http://schemas.openxmlformats.org/officeDocument/2006/math">
                    <m:r>
                      <a:rPr lang="en-US" altLang="es-CR" sz="24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s-CR" altLang="es-CR" sz="2400" dirty="0">
                    <a:latin typeface="Trust Sans"/>
                  </a:rPr>
                  <a:t>, aquí se utiliza la </a:t>
                </a:r>
                <a:r>
                  <a:rPr lang="es-CR" altLang="es-CR" sz="2400" b="1" dirty="0">
                    <a:latin typeface="Trust Sans"/>
                  </a:rPr>
                  <a:t>razón F</a:t>
                </a:r>
                <a:r>
                  <a:rPr lang="es-CR" altLang="es-CR" sz="2400" dirty="0">
                    <a:latin typeface="Trust Sans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es-CR" sz="2400" b="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es-C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s-C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s-CR" sz="2400" i="1" dirty="0">
                            <a:latin typeface="Cambria Math" panose="02040503050406030204" pitchFamily="18" charset="0"/>
                          </a:rPr>
                          <m:t>𝑀𝑆</m:t>
                        </m:r>
                      </m:e>
                      <m:sub>
                        <m:r>
                          <a:rPr lang="en-US" altLang="es-CR" sz="2400" b="0" i="1" dirty="0" smtClean="0">
                            <a:latin typeface="Cambria Math" panose="02040503050406030204" pitchFamily="18" charset="0"/>
                          </a:rPr>
                          <m:t>𝑒𝑛𝑡𝑟𝑒</m:t>
                        </m:r>
                      </m:sub>
                    </m:sSub>
                    <m:r>
                      <a:rPr lang="en-US" altLang="es-CR" sz="2400" b="0" i="1" dirty="0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en-US" altLang="es-C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s-CR" sz="2400" b="0" i="1" dirty="0" smtClean="0">
                            <a:latin typeface="Cambria Math" panose="02040503050406030204" pitchFamily="18" charset="0"/>
                          </a:rPr>
                          <m:t>𝑀𝑆</m:t>
                        </m:r>
                      </m:e>
                      <m:sub>
                        <m:r>
                          <a:rPr lang="en-US" altLang="es-CR" sz="2400" b="0" i="1" dirty="0" smtClean="0">
                            <a:latin typeface="Cambria Math" panose="02040503050406030204" pitchFamily="18" charset="0"/>
                          </a:rPr>
                          <m:t>𝑖𝑛𝑡𝑟𝑎</m:t>
                        </m:r>
                      </m:sub>
                    </m:sSub>
                  </m:oMath>
                </a14:m>
                <a:r>
                  <a:rPr lang="es-CR" altLang="es-CR" sz="2400" dirty="0">
                    <a:latin typeface="Trust Sans"/>
                  </a:rPr>
                  <a:t>), que actúa como una relación entre la "señal" (diferencia entre grupos) y el "ruido" (error de muestreo aleatorio).</a:t>
                </a: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endParaRPr lang="es-CR" altLang="es-CR" sz="2400" b="1" dirty="0">
                  <a:latin typeface="Trust Sans"/>
                </a:endParaRPr>
              </a:p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s-CR" altLang="es-CR" sz="2400" b="1" dirty="0">
                    <a:latin typeface="Trust Sans"/>
                  </a:rPr>
                  <a:t>Distribución:</a:t>
                </a:r>
                <a:r>
                  <a:rPr lang="es-CR" altLang="es-CR" sz="2400" dirty="0">
                    <a:latin typeface="Trust Sans"/>
                  </a:rPr>
                  <a:t> El estadístico sigue una </a:t>
                </a:r>
                <a:r>
                  <a:rPr lang="es-CR" altLang="es-CR" sz="2400" b="1" dirty="0">
                    <a:latin typeface="Trust Sans"/>
                  </a:rPr>
                  <a:t>distribución F</a:t>
                </a:r>
                <a:r>
                  <a:rPr lang="es-CR" altLang="es-CR" sz="2400" dirty="0">
                    <a:latin typeface="Trust Sans"/>
                  </a:rPr>
                  <a:t> definida por dos grados de libertad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s-C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s-CR" sz="2400" b="0" i="1" dirty="0" smtClean="0">
                            <a:latin typeface="Cambria Math" panose="02040503050406030204" pitchFamily="18" charset="0"/>
                          </a:rPr>
                          <m:t>𝑑𝑓</m:t>
                        </m:r>
                      </m:e>
                      <m:sub>
                        <m:r>
                          <a:rPr lang="en-US" altLang="es-CR" sz="2400" i="1" dirty="0">
                            <a:latin typeface="Cambria Math" panose="02040503050406030204" pitchFamily="18" charset="0"/>
                          </a:rPr>
                          <m:t>𝑒𝑛𝑡𝑟𝑒</m:t>
                        </m:r>
                      </m:sub>
                    </m:sSub>
                  </m:oMath>
                </a14:m>
                <a:r>
                  <a:rPr lang="es-CR" altLang="es-CR" sz="2400" dirty="0">
                    <a:latin typeface="Trust Sans"/>
                  </a:rPr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s-C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s-CR" sz="2400" b="0" i="1" dirty="0" smtClean="0">
                            <a:latin typeface="Cambria Math" panose="02040503050406030204" pitchFamily="18" charset="0"/>
                          </a:rPr>
                          <m:t>𝑑𝑓</m:t>
                        </m:r>
                      </m:e>
                      <m:sub>
                        <m:r>
                          <a:rPr lang="en-US" altLang="es-CR" sz="2400" i="1" dirty="0">
                            <a:latin typeface="Cambria Math" panose="02040503050406030204" pitchFamily="18" charset="0"/>
                          </a:rPr>
                          <m:t>𝑖𝑛𝑡𝑟𝑎</m:t>
                        </m:r>
                      </m:sub>
                    </m:sSub>
                  </m:oMath>
                </a14:m>
                <a:r>
                  <a:rPr lang="es-CR" altLang="es-CR" sz="2400" dirty="0">
                    <a:latin typeface="Trust Sans"/>
                  </a:rPr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EB6E9D5-89F6-4F10-4558-5D7360003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685" y="1828800"/>
                <a:ext cx="11487150" cy="3785652"/>
              </a:xfrm>
              <a:prstGeom prst="rect">
                <a:avLst/>
              </a:prstGeom>
              <a:blipFill>
                <a:blip r:embed="rId2"/>
                <a:stretch>
                  <a:fillRect l="-743" t="-1288" b="-2738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3538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DCB08-09F9-7C69-67F2-E8AB6434F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4620822-A547-7700-94A9-61FA72B13F1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</p:spPr>
            <p:txBody>
              <a:bodyPr/>
              <a:lstStyle/>
              <a:p>
                <a:r>
                  <a:rPr lang="es-CR" dirty="0"/>
                  <a:t>En una investigación tiene como objetivo estudiar si </a:t>
                </a:r>
                <a:r>
                  <a:rPr lang="es-CR"/>
                  <a:t>el peso </a:t>
                </a:r>
                <a:r>
                  <a:rPr lang="es-CR" dirty="0"/>
                  <a:t>de los niños al nacer se ve afectado si la madre es fumadora.</a:t>
                </a:r>
              </a:p>
              <a:p>
                <a:pPr marL="0" indent="0">
                  <a:buNone/>
                </a:pPr>
                <a:endParaRPr lang="es-C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C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𝑚𝑒𝑛𝑜𝑠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𝑝𝑟𝑜𝑚𝑒𝑑𝑖𝑜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𝑑𝑖𝑓𝑒𝑟𝑒𝑛𝑡𝑒</m:t>
                    </m:r>
                  </m:oMath>
                </a14:m>
                <a:endParaRPr lang="es-CR" dirty="0"/>
              </a:p>
              <a:p>
                <a:endParaRPr lang="es-CR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4620822-A547-7700-94A9-61FA72B13F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2067983"/>
                <a:ext cx="10336877" cy="3735410"/>
              </a:xfrm>
              <a:blipFill>
                <a:blip r:embed="rId2"/>
                <a:stretch>
                  <a:fillRect l="-1002" t="-2610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7D04EC6-330E-A21C-AA77-201E92B7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1929872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FEB2168-6742-114D-815A-3059B570CE1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43150160"/>
              </p:ext>
            </p:extLst>
          </p:nvPr>
        </p:nvGraphicFramePr>
        <p:xfrm>
          <a:off x="2914650" y="1729453"/>
          <a:ext cx="51816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7250">
                  <a:extLst>
                    <a:ext uri="{9D8B030D-6E8A-4147-A177-3AD203B41FA5}">
                      <a16:colId xmlns:a16="http://schemas.microsoft.com/office/drawing/2014/main" val="2116125907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443704839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128496738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574839184"/>
                    </a:ext>
                  </a:extLst>
                </a:gridCol>
              </a:tblGrid>
              <a:tr h="4797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Grupo</a:t>
                      </a:r>
                      <a:endParaRPr lang="es-C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Observaciones</a:t>
                      </a:r>
                      <a:r>
                        <a:rPr lang="en-US" dirty="0"/>
                        <a:t> (n)</a:t>
                      </a:r>
                      <a:endParaRPr lang="es-C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Promedio</a:t>
                      </a:r>
                      <a:endParaRPr lang="es-C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Desviación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estandar</a:t>
                      </a:r>
                      <a:endParaRPr lang="es-C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825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7.59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0.96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045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7.24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0.91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174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1.14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129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6.01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0.72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21055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754DE-9A96-547C-E212-9E45145440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4125383"/>
            <a:ext cx="12192000" cy="2732617"/>
          </a:xfrm>
          <a:solidFill>
            <a:schemeClr val="bg1"/>
          </a:solidFill>
        </p:spPr>
        <p:txBody>
          <a:bodyPr/>
          <a:lstStyle/>
          <a:p>
            <a:r>
              <a:rPr lang="en-US" b="1" dirty="0" err="1"/>
              <a:t>Tabla</a:t>
            </a:r>
            <a:r>
              <a:rPr lang="en-US" b="1" dirty="0"/>
              <a:t> Anova:</a:t>
            </a:r>
          </a:p>
          <a:p>
            <a:endParaRPr lang="en-US" b="1" dirty="0"/>
          </a:p>
          <a:p>
            <a:endParaRPr lang="es-CR" b="1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149063C-4546-D9AB-0F35-B732D3B87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Resultado</a:t>
            </a:r>
            <a:endParaRPr lang="es-CR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C6B433-E418-6DD3-F0B9-E954E3823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428867"/>
              </p:ext>
            </p:extLst>
          </p:nvPr>
        </p:nvGraphicFramePr>
        <p:xfrm>
          <a:off x="2207259" y="4734560"/>
          <a:ext cx="812800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85323692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12659293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3755229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1263453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64057490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932496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Fuente de la </a:t>
                      </a:r>
                      <a:r>
                        <a:rPr lang="en-US" dirty="0" err="1"/>
                        <a:t>Variación</a:t>
                      </a:r>
                      <a:endParaRPr lang="es-C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SS</a:t>
                      </a:r>
                      <a:endParaRPr lang="es-C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Df</a:t>
                      </a:r>
                      <a:endParaRPr lang="es-C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MS</a:t>
                      </a:r>
                      <a:endParaRPr lang="es-C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  <a:endParaRPr lang="es-C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P-value</a:t>
                      </a:r>
                      <a:endParaRPr lang="es-C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350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Entre </a:t>
                      </a:r>
                      <a:r>
                        <a:rPr lang="en-US" dirty="0" err="1"/>
                        <a:t>grupo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11.74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3.91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4.20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0.017</a:t>
                      </a:r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373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Intra </a:t>
                      </a:r>
                      <a:r>
                        <a:rPr lang="en-US" dirty="0" err="1"/>
                        <a:t>grupo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21.28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23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0.93</a:t>
                      </a:r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C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C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767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  <a:endParaRPr lang="es-C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33.02</a:t>
                      </a:r>
                      <a:endParaRPr lang="es-C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1" dirty="0"/>
                        <a:t>26</a:t>
                      </a:r>
                      <a:endParaRPr lang="es-C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C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C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s-CR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964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9142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47963-9847-D956-EC01-6D075D5EF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Bibliografía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764F-3023-9E9E-4783-CDF2241DD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>
            <a:normAutofit fontScale="92500" lnSpcReduction="10000"/>
          </a:bodyPr>
          <a:lstStyle/>
          <a:p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Hogg, Robert V.., Elliot A.. Tanis, and Dale L.. Zimmerman. 2015.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Probability and Statistical Inference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 Pearson</a:t>
            </a:r>
          </a:p>
          <a:p>
            <a:endParaRPr lang="en-US" dirty="0">
              <a:solidFill>
                <a:srgbClr val="373A3C"/>
              </a:solidFill>
              <a:latin typeface="Source Sans Pro" panose="020B0503030403020204" pitchFamily="34" charset="0"/>
            </a:endParaRPr>
          </a:p>
          <a:p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Sahu, Sujit K. 2024.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Introduction to Probability, Statistics &amp; r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Introduction to Probability, Statistics &amp; R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 Springer International Publishing. </a:t>
            </a:r>
            <a:r>
              <a:rPr lang="en-US" b="0" i="0" u="sng" dirty="0">
                <a:effectLst/>
                <a:latin typeface="Source Sans Pro" panose="020B0503030403020204" pitchFamily="34" charset="0"/>
                <a:hlinkClick r:id="rId2"/>
              </a:rPr>
              <a:t>https://doi.org/10.1007/978-3-031-37865-2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endParaRPr lang="en-US" dirty="0">
              <a:solidFill>
                <a:srgbClr val="373A3C"/>
              </a:solidFill>
              <a:latin typeface="Source Sans Pro" panose="020B0503030403020204" pitchFamily="34" charset="0"/>
            </a:endParaRPr>
          </a:p>
          <a:p>
            <a:r>
              <a:rPr lang="en-US" dirty="0">
                <a:solidFill>
                  <a:srgbClr val="373A3C"/>
                </a:solidFill>
                <a:latin typeface="Source Sans Pro" panose="020B0503030403020204" pitchFamily="34" charset="0"/>
              </a:rPr>
              <a:t>Lee, Hang. 2023. </a:t>
            </a:r>
            <a:r>
              <a:rPr lang="en-US" i="1" dirty="0">
                <a:solidFill>
                  <a:srgbClr val="373A3C"/>
                </a:solidFill>
                <a:latin typeface="Source Sans Pro" panose="020B0503030403020204" pitchFamily="34" charset="0"/>
              </a:rPr>
              <a:t>Foundations of Applied Statistical Method. </a:t>
            </a:r>
            <a:r>
              <a:rPr lang="en-US" dirty="0">
                <a:solidFill>
                  <a:srgbClr val="373A3C"/>
                </a:solidFill>
                <a:latin typeface="Source Sans Pro" panose="020B0503030403020204" pitchFamily="34" charset="0"/>
              </a:rPr>
              <a:t>. Springer International Publishing. </a:t>
            </a:r>
            <a:r>
              <a:rPr lang="en-US" u="sng" dirty="0">
                <a:latin typeface="Source Sans Pro" panose="020B0503030403020204" pitchFamily="34" charset="0"/>
              </a:rPr>
              <a:t>https://doi.org/10.1007/978-3-031-42296-6</a:t>
            </a:r>
            <a:r>
              <a:rPr lang="en-US" dirty="0">
                <a:solidFill>
                  <a:srgbClr val="373A3C"/>
                </a:solidFill>
                <a:latin typeface="Source Sans Pro" panose="020B0503030403020204" pitchFamily="34" charset="0"/>
              </a:rPr>
              <a:t>.</a:t>
            </a:r>
          </a:p>
          <a:p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875904549"/>
      </p:ext>
    </p:extLst>
  </p:cSld>
  <p:clrMapOvr>
    <a:masterClrMapping/>
  </p:clrMapOvr>
</p:sld>
</file>

<file path=ppt/theme/theme1.xml><?xml version="1.0" encoding="utf-8"?>
<a:theme xmlns:a="http://schemas.openxmlformats.org/drawingml/2006/main" name="Fidélitas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14345</TotalTime>
  <Words>550</Words>
  <Application>Microsoft Office PowerPoint</Application>
  <PresentationFormat>Widescreen</PresentationFormat>
  <Paragraphs>88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Cambria Math</vt:lpstr>
      <vt:lpstr>Source Sans Pro</vt:lpstr>
      <vt:lpstr>Trust Sans</vt:lpstr>
      <vt:lpstr>Trust Sans Black</vt:lpstr>
      <vt:lpstr>Trust Sans Bold</vt:lpstr>
      <vt:lpstr>Fidélitas </vt:lpstr>
      <vt:lpstr>Unidad 6: ANOVA de un factor</vt:lpstr>
      <vt:lpstr>Introducción</vt:lpstr>
      <vt:lpstr>Procedimiento de estimación</vt:lpstr>
      <vt:lpstr>Cálculo de las variaciones (representación gráfica)</vt:lpstr>
      <vt:lpstr>Cálculo de las variaciones (ejemplo)</vt:lpstr>
      <vt:lpstr>Partición de las sumas al cuadrado (SS)</vt:lpstr>
      <vt:lpstr>Prueba de hipótesis: Prueba F</vt:lpstr>
      <vt:lpstr>Ejemplo</vt:lpstr>
      <vt:lpstr>Resultado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Fiorella Chacón Morales</dc:creator>
  <cp:lastModifiedBy>Fabian Brenes</cp:lastModifiedBy>
  <cp:revision>118</cp:revision>
  <dcterms:created xsi:type="dcterms:W3CDTF">2023-02-23T21:29:48Z</dcterms:created>
  <dcterms:modified xsi:type="dcterms:W3CDTF">2026-07-17T22:50:02Z</dcterms:modified>
</cp:coreProperties>
</file>