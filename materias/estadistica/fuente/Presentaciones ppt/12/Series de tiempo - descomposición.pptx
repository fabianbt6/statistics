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354" r:id="rId2"/>
    <p:sldId id="441" r:id="rId3"/>
    <p:sldId id="442" r:id="rId4"/>
    <p:sldId id="443" r:id="rId5"/>
    <p:sldId id="454" r:id="rId6"/>
    <p:sldId id="455" r:id="rId7"/>
    <p:sldId id="444" r:id="rId8"/>
    <p:sldId id="456" r:id="rId9"/>
    <p:sldId id="457" r:id="rId10"/>
    <p:sldId id="458" r:id="rId11"/>
    <p:sldId id="459" r:id="rId12"/>
    <p:sldId id="452" r:id="rId13"/>
    <p:sldId id="395" r:id="rId14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F9F"/>
    <a:srgbClr val="FFFFFF"/>
    <a:srgbClr val="E31D93"/>
    <a:srgbClr val="00B2E3"/>
    <a:srgbClr val="FFD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49"/>
    <p:restoredTop sz="90706" autoAdjust="0"/>
  </p:normalViewPr>
  <p:slideViewPr>
    <p:cSldViewPr snapToGrid="0">
      <p:cViewPr varScale="1">
        <p:scale>
          <a:sx n="115" d="100"/>
          <a:sy n="115" d="100"/>
        </p:scale>
        <p:origin x="318" y="32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 Brenes" userId="0a98a788-2542-4baf-b081-64ee1e965425" providerId="ADAL" clId="{3D44E08D-C675-4D64-922C-0261EF110F0B}"/>
    <pc:docChg chg="modSld">
      <pc:chgData name="Fabian Brenes" userId="0a98a788-2542-4baf-b081-64ee1e965425" providerId="ADAL" clId="{3D44E08D-C675-4D64-922C-0261EF110F0B}" dt="2025-11-29T01:32:28.886" v="1" actId="6549"/>
      <pc:docMkLst>
        <pc:docMk/>
      </pc:docMkLst>
      <pc:sldChg chg="modSp mod">
        <pc:chgData name="Fabian Brenes" userId="0a98a788-2542-4baf-b081-64ee1e965425" providerId="ADAL" clId="{3D44E08D-C675-4D64-922C-0261EF110F0B}" dt="2025-11-29T01:32:28.886" v="1" actId="6549"/>
        <pc:sldMkLst>
          <pc:docMk/>
          <pc:sldMk cId="3889743845" sldId="441"/>
        </pc:sldMkLst>
        <pc:spChg chg="mod">
          <ac:chgData name="Fabian Brenes" userId="0a98a788-2542-4baf-b081-64ee1e965425" providerId="ADAL" clId="{3D44E08D-C675-4D64-922C-0261EF110F0B}" dt="2025-11-29T01:32:28.886" v="1" actId="6549"/>
          <ac:spMkLst>
            <pc:docMk/>
            <pc:sldMk cId="3889743845" sldId="441"/>
            <ac:spMk id="4" creationId="{4C664671-9E3F-1A5E-7E9F-AB44FBB1108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90E02-228F-4EE4-B8DB-40CD5C605F12}" type="datetimeFigureOut">
              <a:rPr lang="es-CR" smtClean="0"/>
              <a:t>28/11/2025</a:t>
            </a:fld>
            <a:endParaRPr lang="es-C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678745-B1E6-4434-BB1A-E7B3F7352ADB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53189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5F2A3D7-D255-7DCD-6AEE-4A3CB82FF3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435" t="3287" b="3287"/>
          <a:stretch/>
        </p:blipFill>
        <p:spPr>
          <a:xfrm>
            <a:off x="0" y="2494722"/>
            <a:ext cx="2600946" cy="956818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05F754BB-255D-0FE5-FB11-2E7D44DB33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26443" y="1176898"/>
            <a:ext cx="7794913" cy="225210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000" b="1" i="0">
                <a:solidFill>
                  <a:schemeClr val="bg1"/>
                </a:solidFill>
                <a:latin typeface="Trust Sans Black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FFE5A59-DA03-60BF-23E2-491F1C0AB5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26444" y="4165636"/>
            <a:ext cx="7794912" cy="957689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subtitle</a:t>
            </a:r>
            <a:endParaRPr lang="es-CR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942F5F3-D9C5-32A4-1D88-43EF7BE18CE7}"/>
              </a:ext>
            </a:extLst>
          </p:cNvPr>
          <p:cNvCxnSpPr>
            <a:cxnSpLocks/>
          </p:cNvCxnSpPr>
          <p:nvPr userDrawn="1"/>
        </p:nvCxnSpPr>
        <p:spPr>
          <a:xfrm>
            <a:off x="2926444" y="3741684"/>
            <a:ext cx="7794913" cy="0"/>
          </a:xfrm>
          <a:prstGeom prst="line">
            <a:avLst/>
          </a:prstGeom>
          <a:ln w="76200" cap="rnd">
            <a:solidFill>
              <a:srgbClr val="FFD600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197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portada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43BE044-ED31-3F60-3A2F-7E880992B3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38200" y="2735376"/>
            <a:ext cx="1139757" cy="71234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A441604-9A2B-F58B-7730-B0BA9FF9D2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4452" y="2454966"/>
            <a:ext cx="7077635" cy="2057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600" b="1" i="0">
                <a:solidFill>
                  <a:schemeClr val="bg1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800499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portad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5D7F6B5-6E7F-9DFE-350A-5B76D265B4F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33814" y="2735376"/>
            <a:ext cx="1139757" cy="712348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93C3988A-175F-3624-D13A-0B7D7469B5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4452" y="2454966"/>
            <a:ext cx="7077635" cy="2057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325400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90F0828-C61C-4406-DC2A-08D1B900E8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7444" y="585169"/>
            <a:ext cx="9807633" cy="871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3C64957B-02E4-9B5C-8E18-E36EA9BA263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C6D7E9F4-35B6-1C90-CF52-751FB46A862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E37BC75-F084-050C-B722-406BB5C801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86394" y="655266"/>
            <a:ext cx="781050" cy="488156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278A961E-E13E-27B7-195D-9EA2B5A9AFBA}"/>
              </a:ext>
            </a:extLst>
          </p:cNvPr>
          <p:cNvCxnSpPr>
            <a:cxnSpLocks/>
          </p:cNvCxnSpPr>
          <p:nvPr userDrawn="1"/>
        </p:nvCxnSpPr>
        <p:spPr>
          <a:xfrm>
            <a:off x="586394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949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822B41A-10D2-12DC-7415-C3DFB5FFA59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94509" y="2526894"/>
            <a:ext cx="4420710" cy="268894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text </a:t>
            </a:r>
            <a:endParaRPr lang="es-C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EE44A15-0D2B-2A97-C607-CF9797EB1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4509" y="771305"/>
            <a:ext cx="4420710" cy="152071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5" name="Marcador de posición de imagen 2">
            <a:extLst>
              <a:ext uri="{FF2B5EF4-FFF2-40B4-BE49-F238E27FC236}">
                <a16:creationId xmlns:a16="http://schemas.microsoft.com/office/drawing/2014/main" id="{740D23F4-F7F1-B2AC-63CE-98E96B87EDA7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5902036" y="771306"/>
            <a:ext cx="5453352" cy="4444534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Trust Sans" pitchFamily="2" charset="7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CR" dirty="0" err="1"/>
              <a:t>Click</a:t>
            </a:r>
            <a:r>
              <a:rPr lang="es-CR" dirty="0"/>
              <a:t> </a:t>
            </a:r>
            <a:r>
              <a:rPr lang="es-CR" dirty="0" err="1"/>
              <a:t>to</a:t>
            </a:r>
            <a:r>
              <a:rPr lang="es-CR" dirty="0"/>
              <a:t> </a:t>
            </a:r>
            <a:r>
              <a:rPr lang="es-CR" dirty="0" err="1"/>
              <a:t>add</a:t>
            </a:r>
            <a:r>
              <a:rPr lang="es-CR" dirty="0"/>
              <a:t> a </a:t>
            </a:r>
            <a:r>
              <a:rPr lang="es-CR" dirty="0" err="1"/>
              <a:t>image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082352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ítulo 2">
            <a:extLst>
              <a:ext uri="{FF2B5EF4-FFF2-40B4-BE49-F238E27FC236}">
                <a16:creationId xmlns:a16="http://schemas.microsoft.com/office/drawing/2014/main" id="{C70069F9-4D6A-A47A-AF4F-EED984AE3C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28928" y="2511123"/>
            <a:ext cx="4420710" cy="268894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text </a:t>
            </a:r>
            <a:endParaRPr lang="es-C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2FB0BBF-334E-02E6-E3B0-595FF2DA84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8928" y="755534"/>
            <a:ext cx="4420710" cy="152071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9719F092-9774-93FA-2C6C-7F477253B24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42363" y="698733"/>
            <a:ext cx="4918364" cy="4444534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588962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do liso +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3588C353-EDDC-B884-9CAB-022D5154F4E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sp>
        <p:nvSpPr>
          <p:cNvPr id="6" name="Marcador de contenido 3">
            <a:extLst>
              <a:ext uri="{FF2B5EF4-FFF2-40B4-BE49-F238E27FC236}">
                <a16:creationId xmlns:a16="http://schemas.microsoft.com/office/drawing/2014/main" id="{5E2DD159-D272-5B1F-5E0C-14A3DC6252E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757F612-090F-A7EF-4E70-7AAD35CF72DC}"/>
              </a:ext>
            </a:extLst>
          </p:cNvPr>
          <p:cNvCxnSpPr>
            <a:cxnSpLocks/>
          </p:cNvCxnSpPr>
          <p:nvPr userDrawn="1"/>
        </p:nvCxnSpPr>
        <p:spPr>
          <a:xfrm>
            <a:off x="586394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1">
            <a:extLst>
              <a:ext uri="{FF2B5EF4-FFF2-40B4-BE49-F238E27FC236}">
                <a16:creationId xmlns:a16="http://schemas.microsoft.com/office/drawing/2014/main" id="{FC846CE2-3AED-AB04-9835-976A0147B7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7444" y="585169"/>
            <a:ext cx="9807633" cy="871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pic>
        <p:nvPicPr>
          <p:cNvPr id="11" name="Imagen 7">
            <a:extLst>
              <a:ext uri="{FF2B5EF4-FFF2-40B4-BE49-F238E27FC236}">
                <a16:creationId xmlns:a16="http://schemas.microsoft.com/office/drawing/2014/main" id="{A5B6BF07-8364-9FED-F612-95E99DC32A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86394" y="655266"/>
            <a:ext cx="781050" cy="48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565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ets (NO US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0F7BE623-D05C-AB7B-74E9-BF7866F7D4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2183" y="365125"/>
            <a:ext cx="98076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F3F1B8A1-C662-D115-0579-1F78DFAED100}"/>
              </a:ext>
            </a:extLst>
          </p:cNvPr>
          <p:cNvCxnSpPr>
            <a:cxnSpLocks/>
          </p:cNvCxnSpPr>
          <p:nvPr userDrawn="1"/>
        </p:nvCxnSpPr>
        <p:spPr>
          <a:xfrm>
            <a:off x="999779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011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659041-7ADC-62BC-6910-5620613E9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0333AB-DD6B-8268-4367-48E815507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3ADE5-809A-F847-849A-CF38205A1D8E}" type="datetimeFigureOut">
              <a:rPr lang="es-CR" smtClean="0"/>
              <a:t>28/11/2025</a:t>
            </a:fld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71165C-2410-72E9-B41A-2B2E95CD3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56CB7-7D20-A748-9388-BFDA1817F9B8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563156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1" r:id="rId3"/>
    <p:sldLayoutId id="2147483652" r:id="rId4"/>
    <p:sldLayoutId id="2147483653" r:id="rId5"/>
    <p:sldLayoutId id="2147483659" r:id="rId6"/>
    <p:sldLayoutId id="2147483656" r:id="rId7"/>
    <p:sldLayoutId id="214748365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D761F7-B769-3D43-00ED-0BFDC3AC79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CR" sz="5400" dirty="0"/>
              <a:t>Tema 5: Introducción a las series de tiempo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633BDD-7A3E-2C4B-BEF9-52FFB37238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6057" y="4055104"/>
            <a:ext cx="7794912" cy="957689"/>
          </a:xfrm>
        </p:spPr>
        <p:txBody>
          <a:bodyPr>
            <a:normAutofit/>
          </a:bodyPr>
          <a:lstStyle/>
          <a:p>
            <a:r>
              <a:rPr lang="es-CR" dirty="0"/>
              <a:t>Fabián Brenes Trejos</a:t>
            </a:r>
          </a:p>
        </p:txBody>
      </p:sp>
    </p:spTree>
    <p:extLst>
      <p:ext uri="{BB962C8B-B14F-4D97-AF65-F5344CB8AC3E}">
        <p14:creationId xmlns:p14="http://schemas.microsoft.com/office/powerpoint/2010/main" val="3375381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A1D253-466B-BC99-1BB1-958CF395C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Agenda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664671-9E3F-1A5E-7E9F-AB44FBB110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67983"/>
            <a:ext cx="10463784" cy="3735410"/>
          </a:xfrm>
        </p:spPr>
        <p:txBody>
          <a:bodyPr>
            <a:normAutofit/>
          </a:bodyPr>
          <a:lstStyle/>
          <a:p>
            <a:r>
              <a:rPr lang="es-CR" dirty="0"/>
              <a:t>Regresión espuria</a:t>
            </a:r>
          </a:p>
          <a:p>
            <a:endParaRPr lang="es-CR" dirty="0"/>
          </a:p>
          <a:p>
            <a:r>
              <a:rPr lang="es-CR" dirty="0"/>
              <a:t>Laboratorio</a:t>
            </a:r>
          </a:p>
          <a:p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889743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A380FD-6C98-086F-F1D1-D4D23AED76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R" dirty="0"/>
              <a:t>Descomposición de series de tiempo</a:t>
            </a:r>
          </a:p>
        </p:txBody>
      </p:sp>
    </p:spTree>
    <p:extLst>
      <p:ext uri="{BB962C8B-B14F-4D97-AF65-F5344CB8AC3E}">
        <p14:creationId xmlns:p14="http://schemas.microsoft.com/office/powerpoint/2010/main" val="4019449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7521FD-A9FE-43FB-46A8-F1E92CC87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Componentes de las series de tiempo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FF8764A-70DA-10B9-7C40-002AC1C9FBF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778334"/>
                <a:ext cx="9963912" cy="366225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R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CR" sz="40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s-CR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R" sz="4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CR" sz="4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R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CR" sz="4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CR" sz="4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R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s-CR" sz="4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s-CR" sz="40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FF8764A-70DA-10B9-7C40-002AC1C9FB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778334"/>
                <a:ext cx="9963912" cy="366225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16B3824-3914-23FA-633F-AD2B2B1BB027}"/>
              </a:ext>
            </a:extLst>
          </p:cNvPr>
          <p:cNvCxnSpPr>
            <a:cxnSpLocks/>
          </p:cNvCxnSpPr>
          <p:nvPr/>
        </p:nvCxnSpPr>
        <p:spPr>
          <a:xfrm flipH="1">
            <a:off x="3427477" y="2819046"/>
            <a:ext cx="1767841" cy="972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39070E8-23CA-49AA-075D-E0197D4BA6CC}"/>
              </a:ext>
            </a:extLst>
          </p:cNvPr>
          <p:cNvSpPr txBox="1"/>
          <p:nvPr/>
        </p:nvSpPr>
        <p:spPr>
          <a:xfrm>
            <a:off x="2135125" y="3949252"/>
            <a:ext cx="24018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b="1" dirty="0"/>
              <a:t>Tendencia – ciclo:</a:t>
            </a:r>
          </a:p>
          <a:p>
            <a:r>
              <a:rPr lang="es-CR" dirty="0"/>
              <a:t>Comportamiento creciente o decreciente a largo plazo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E733731-D0E2-20CB-0B7F-CA07F784D2F5}"/>
              </a:ext>
            </a:extLst>
          </p:cNvPr>
          <p:cNvCxnSpPr>
            <a:cxnSpLocks/>
          </p:cNvCxnSpPr>
          <p:nvPr/>
        </p:nvCxnSpPr>
        <p:spPr>
          <a:xfrm>
            <a:off x="6524138" y="2863202"/>
            <a:ext cx="0" cy="87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71C5FE4-28AF-3BB6-B290-9AFB9C606BF7}"/>
              </a:ext>
            </a:extLst>
          </p:cNvPr>
          <p:cNvSpPr txBox="1"/>
          <p:nvPr/>
        </p:nvSpPr>
        <p:spPr>
          <a:xfrm>
            <a:off x="5335418" y="3947242"/>
            <a:ext cx="24018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b="1" dirty="0"/>
              <a:t>Estacionalidad:</a:t>
            </a:r>
          </a:p>
          <a:p>
            <a:pPr algn="ctr"/>
            <a:r>
              <a:rPr lang="es-CR" dirty="0"/>
              <a:t>Comportamiento o patrón repetido en una dada (por mes o trimestre) </a:t>
            </a:r>
            <a:r>
              <a:rPr lang="es-CR" b="1" dirty="0"/>
              <a:t> </a:t>
            </a:r>
          </a:p>
          <a:p>
            <a:pPr algn="ctr"/>
            <a:endParaRPr lang="es-CR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60DF529-3AF5-16BA-865C-F666B1097C12}"/>
              </a:ext>
            </a:extLst>
          </p:cNvPr>
          <p:cNvCxnSpPr>
            <a:cxnSpLocks/>
          </p:cNvCxnSpPr>
          <p:nvPr/>
        </p:nvCxnSpPr>
        <p:spPr>
          <a:xfrm>
            <a:off x="7683761" y="2873372"/>
            <a:ext cx="1879055" cy="1075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B4E50D0-19FA-9162-7871-EC6421CB97CC}"/>
              </a:ext>
            </a:extLst>
          </p:cNvPr>
          <p:cNvSpPr txBox="1"/>
          <p:nvPr/>
        </p:nvSpPr>
        <p:spPr>
          <a:xfrm>
            <a:off x="8581362" y="4100689"/>
            <a:ext cx="24018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b="1" dirty="0"/>
              <a:t>Componente ruido blanco</a:t>
            </a:r>
            <a:r>
              <a:rPr lang="en-US" b="1" dirty="0"/>
              <a:t>: </a:t>
            </a:r>
          </a:p>
          <a:p>
            <a:pPr algn="ctr"/>
            <a:r>
              <a:rPr lang="en-US" dirty="0" err="1"/>
              <a:t>Residuo</a:t>
            </a:r>
            <a:r>
              <a:rPr lang="en-US" dirty="0"/>
              <a:t> luego de </a:t>
            </a:r>
            <a:r>
              <a:rPr lang="en-US" dirty="0" err="1"/>
              <a:t>eliminar</a:t>
            </a:r>
            <a:r>
              <a:rPr lang="en-US" dirty="0"/>
              <a:t> los </a:t>
            </a:r>
            <a:r>
              <a:rPr lang="en-US" dirty="0" err="1"/>
              <a:t>otros</a:t>
            </a:r>
            <a:r>
              <a:rPr lang="en-US" dirty="0"/>
              <a:t> </a:t>
            </a:r>
            <a:r>
              <a:rPr lang="en-US" dirty="0" err="1"/>
              <a:t>componentes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330892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9D00E-4949-CC0E-84C2-EA648A39A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Relaci</a:t>
            </a:r>
            <a:r>
              <a:rPr lang="es-CR" dirty="0" err="1"/>
              <a:t>ón</a:t>
            </a:r>
            <a:r>
              <a:rPr lang="es-CR" dirty="0"/>
              <a:t> entre los componentes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DBE352-DC60-5030-E95F-CDC3001ECF2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s-CR" b="1" dirty="0"/>
                  <a:t>Aditiva</a:t>
                </a:r>
              </a:p>
              <a:p>
                <a:pPr marL="0" indent="0">
                  <a:buNone/>
                </a:pPr>
                <a:endParaRPr lang="es-CR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CR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s-C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R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C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CR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C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s-CR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s-CR" sz="2800" dirty="0"/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r>
                  <a:rPr lang="es-CR" sz="2800" dirty="0"/>
                  <a:t>Comportamiento estacional se mantiene constante sin importar el nivel de la serie</a:t>
                </a:r>
              </a:p>
              <a:p>
                <a:endParaRPr lang="es-CR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DBE352-DC60-5030-E95F-CDC3001ECF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71" t="-2610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7948195-A9AC-20E1-2E47-09CF5FC93AE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199" y="2067983"/>
                <a:ext cx="5651205" cy="3735410"/>
              </a:xfrm>
            </p:spPr>
            <p:txBody>
              <a:bodyPr>
                <a:normAutofit fontScale="92500"/>
              </a:bodyPr>
              <a:lstStyle/>
              <a:p>
                <a:r>
                  <a:rPr lang="es-CR" b="1" dirty="0"/>
                  <a:t>Multiplicativa</a:t>
                </a:r>
              </a:p>
              <a:p>
                <a:pPr marL="0" indent="0">
                  <a:buNone/>
                </a:pPr>
                <a:endParaRPr lang="es-CR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CR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s-C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R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s-C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CR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s-C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s-CR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s-CR" sz="2800" dirty="0"/>
              </a:p>
              <a:p>
                <a:endParaRPr lang="es-CR" b="1" dirty="0"/>
              </a:p>
              <a:p>
                <a:r>
                  <a:rPr lang="es-CR" sz="2800" dirty="0"/>
                  <a:t>Comportamiento estacional aumenta, conforme mayor es el nivel de la serie.</a:t>
                </a:r>
              </a:p>
              <a:p>
                <a:pPr marL="0" indent="0">
                  <a:buNone/>
                </a:pPr>
                <a:endParaRPr lang="es-CR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s-C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CR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s-C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R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s-C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CR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s-C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s-CR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R" sz="2800" dirty="0"/>
              </a:p>
              <a:p>
                <a:endParaRPr lang="es-CR" sz="2800" dirty="0"/>
              </a:p>
              <a:p>
                <a:endParaRPr lang="es-CR" b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7948195-A9AC-20E1-2E47-09CF5FC93A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199" y="2067983"/>
                <a:ext cx="5651205" cy="3735410"/>
              </a:xfrm>
              <a:blipFill>
                <a:blip r:embed="rId3"/>
                <a:stretch>
                  <a:fillRect l="-1616" t="-2447" r="-323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5273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D5221-1732-7608-1D8A-AD52DC31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Descomposici</a:t>
            </a:r>
            <a:r>
              <a:rPr lang="es-CR" dirty="0" err="1"/>
              <a:t>ón</a:t>
            </a:r>
            <a:endParaRPr lang="es-C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24AF9-352B-3DB2-873E-F3031E288F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067983"/>
            <a:ext cx="10336877" cy="3735410"/>
          </a:xfrm>
        </p:spPr>
        <p:txBody>
          <a:bodyPr/>
          <a:lstStyle/>
          <a:p>
            <a:r>
              <a:rPr lang="es-CR" dirty="0"/>
              <a:t>Separar los distintos componentes de una serie de tiempo</a:t>
            </a:r>
          </a:p>
          <a:p>
            <a:endParaRPr lang="es-CR" dirty="0"/>
          </a:p>
          <a:p>
            <a:r>
              <a:rPr lang="es-CR" dirty="0"/>
              <a:t>Objetivo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Eliminar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componente</a:t>
            </a:r>
            <a:r>
              <a:rPr lang="en-US" dirty="0"/>
              <a:t> </a:t>
            </a:r>
            <a:r>
              <a:rPr lang="en-US" dirty="0" err="1"/>
              <a:t>tendencia-ciclo</a:t>
            </a:r>
            <a:r>
              <a:rPr lang="en-US" dirty="0"/>
              <a:t>, para </a:t>
            </a:r>
            <a:r>
              <a:rPr lang="en-US" dirty="0" err="1"/>
              <a:t>identificar</a:t>
            </a:r>
            <a:r>
              <a:rPr lang="en-US" dirty="0"/>
              <a:t> </a:t>
            </a:r>
            <a:r>
              <a:rPr lang="en-US" dirty="0" err="1"/>
              <a:t>autocorrelaci</a:t>
            </a:r>
            <a:r>
              <a:rPr lang="es-CR" dirty="0" err="1"/>
              <a:t>ón</a:t>
            </a:r>
            <a:endParaRPr lang="es-CR" dirty="0"/>
          </a:p>
          <a:p>
            <a:pPr lvl="1"/>
            <a:r>
              <a:rPr lang="es-CR" dirty="0"/>
              <a:t>Analizar los componentes de una serie de forma individual</a:t>
            </a:r>
          </a:p>
          <a:p>
            <a:pPr lvl="1"/>
            <a:endParaRPr lang="es-CR" dirty="0"/>
          </a:p>
          <a:p>
            <a:pPr marL="457200" lvl="1" indent="0">
              <a:buNone/>
            </a:pP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972290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D04AA-ACB6-E355-8417-9261A6AEB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10515600" cy="1325880"/>
          </a:xfrm>
        </p:spPr>
        <p:txBody>
          <a:bodyPr anchor="ctr">
            <a:normAutofit/>
          </a:bodyPr>
          <a:lstStyle/>
          <a:p>
            <a:r>
              <a:rPr lang="es-CR" sz="3200" dirty="0"/>
              <a:t>Gráfico del PIB real de Costa Rica (del I trimestre 1991 a IV trimestre 2024)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5FF331-B9BF-DF66-BA37-855C222A3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711" y="1736657"/>
            <a:ext cx="9488578" cy="513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614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8D74B-46BA-55F0-F17D-7A37292ED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sz="4000" dirty="0"/>
              <a:t>Gráfico del PIB real de Costa Rica (del I trimestre 1991 a IV trimestre 2024)</a:t>
            </a:r>
            <a:endParaRPr lang="es-C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6ECD4A-640A-57E3-3E28-8E2DB8BF5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65378"/>
            <a:ext cx="12192000" cy="517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209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5CBBE-ADF4-08DE-C6E8-76E711529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Procedimiento</a:t>
            </a:r>
            <a:r>
              <a:rPr lang="en-US" dirty="0"/>
              <a:t> para </a:t>
            </a:r>
            <a:r>
              <a:rPr lang="en-US" dirty="0" err="1"/>
              <a:t>descomponer</a:t>
            </a:r>
            <a:r>
              <a:rPr lang="en-US" dirty="0"/>
              <a:t> series de </a:t>
            </a:r>
            <a:r>
              <a:rPr lang="en-US" dirty="0" err="1"/>
              <a:t>tiempo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E1BA75-81AB-C181-C50C-E4F2FB3AAF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9464" y="1834062"/>
                <a:ext cx="10676861" cy="491761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14350" indent="-514350">
                  <a:buFont typeface="+mj-lt"/>
                  <a:buAutoNum type="arabicPeriod"/>
                </a:pPr>
                <a:r>
                  <a:rPr lang="en-US" sz="2000" b="1" dirty="0"/>
                  <a:t>Calcular los </a:t>
                </a:r>
                <a:r>
                  <a:rPr lang="en-US" sz="2000" b="1" dirty="0" err="1"/>
                  <a:t>promedios</a:t>
                </a:r>
                <a:r>
                  <a:rPr lang="en-US" sz="2000" b="1" dirty="0"/>
                  <a:t> m</a:t>
                </a:r>
                <a:r>
                  <a:rPr lang="es-CR" sz="2000" b="1" dirty="0" err="1"/>
                  <a:t>óviles</a:t>
                </a:r>
                <a:r>
                  <a:rPr lang="es-CR" sz="2000" b="1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sz="2000" b="1" i="1" smtClean="0">
                            <a:latin typeface="Cambria Math" panose="02040503050406030204" pitchFamily="18" charset="0"/>
                          </a:rPr>
                          <m:t>𝑷𝑴</m:t>
                        </m:r>
                      </m:e>
                      <m:sub>
                        <m:r>
                          <a:rPr lang="es-CR" sz="20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s-CR" sz="2000" b="1" dirty="0"/>
                  <a:t>)</a:t>
                </a:r>
                <a:r>
                  <a:rPr lang="en-US" sz="2000" dirty="0"/>
                  <a:t>:</a:t>
                </a:r>
                <a:r>
                  <a:rPr lang="es-CR" sz="2000" dirty="0"/>
                  <a:t> dependen de la periodicidad de los datos, si son trimestrales se toman 4 periodos, y 12 para mensuales.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s-CR" sz="20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CR" sz="2000" b="1" dirty="0"/>
                  <a:t>Calcular</a:t>
                </a:r>
                <a:r>
                  <a:rPr lang="es-CR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s-CR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s-CR" sz="20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s-CR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s-CR" sz="20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CR" sz="2000" b="1" i="1" smtClean="0">
                            <a:latin typeface="Cambria Math" panose="02040503050406030204" pitchFamily="18" charset="0"/>
                          </a:rPr>
                          <m:t>𝑷𝑴</m:t>
                        </m:r>
                      </m:e>
                      <m:sub>
                        <m:r>
                          <a:rPr lang="es-CR" sz="20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s-CR" sz="2000" dirty="0"/>
                  <a:t>, que corresponde al componente estacional más el componente irregular.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s-CR" sz="20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CR" sz="2000" b="1" dirty="0"/>
                  <a:t>Calcular el componente estacional</a:t>
                </a:r>
                <a:r>
                  <a:rPr lang="en-US" sz="2000" b="1" dirty="0"/>
                  <a:t>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sz="1800" dirty="0" err="1"/>
                  <a:t>Agrupar</a:t>
                </a:r>
                <a:r>
                  <a:rPr lang="en-US" sz="1800" dirty="0"/>
                  <a:t> los </a:t>
                </a:r>
                <a:r>
                  <a:rPr lang="en-US" sz="1800" dirty="0" err="1"/>
                  <a:t>valores</a:t>
                </a:r>
                <a:r>
                  <a:rPr lang="en-US" sz="1800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s-CR" sz="18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s-CR" sz="1800" dirty="0"/>
                  <a:t> con base a la periodicidad de la serie y se calcula un promedio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s-CR" sz="1800" dirty="0"/>
                  <a:t>Se normalizan los promedios (la suma de los promedios de las estaciones deben sumar cero) 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s-CR" sz="22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CR" sz="2200" b="1" dirty="0"/>
                  <a:t>Se obtiene la serie ajustada por estacionalidad: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s-CR" sz="24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C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s-CR" sz="24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s-C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s-CR" sz="24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s-CR" sz="2200" b="1" dirty="0"/>
              </a:p>
              <a:p>
                <a:pPr marL="514350" indent="-514350">
                  <a:buFont typeface="+mj-lt"/>
                  <a:buAutoNum type="arabicPeriod"/>
                </a:pPr>
                <a:endParaRPr lang="es-CR" sz="2200" b="1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CR" sz="2200" b="1" dirty="0"/>
                  <a:t>Se obtiene el residuo:</a:t>
                </a:r>
                <a:r>
                  <a:rPr lang="es-CR" sz="2400" b="1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s-CR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s-C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C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s-C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C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s-C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CR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s-CR" sz="2400" dirty="0"/>
              </a:p>
              <a:p>
                <a:pPr marL="514350" indent="-514350">
                  <a:buFont typeface="+mj-lt"/>
                  <a:buAutoNum type="arabicPeriod"/>
                </a:pPr>
                <a:endParaRPr lang="es-CR" sz="2000" dirty="0"/>
              </a:p>
              <a:p>
                <a:pPr marL="514350" indent="-514350">
                  <a:buFont typeface="+mj-lt"/>
                  <a:buAutoNum type="arabicPeriod"/>
                </a:pPr>
                <a:endParaRPr lang="es-CR" sz="2000" dirty="0"/>
              </a:p>
              <a:p>
                <a:endParaRPr lang="es-CR" sz="2000" dirty="0"/>
              </a:p>
              <a:p>
                <a:endParaRPr lang="es-CR" sz="2000" dirty="0"/>
              </a:p>
              <a:p>
                <a:pPr lvl="1"/>
                <a:endParaRPr lang="es-CR" sz="1800" dirty="0"/>
              </a:p>
              <a:p>
                <a:pPr marL="457200" lvl="1" indent="0">
                  <a:buFont typeface="Arial" panose="020B0604020202020204" pitchFamily="34" charset="0"/>
                  <a:buNone/>
                </a:pPr>
                <a:endParaRPr lang="es-CR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E1BA75-81AB-C181-C50C-E4F2FB3AA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464" y="1834062"/>
                <a:ext cx="10676861" cy="4917612"/>
              </a:xfrm>
              <a:prstGeom prst="rect">
                <a:avLst/>
              </a:prstGeom>
              <a:blipFill>
                <a:blip r:embed="rId2"/>
                <a:stretch>
                  <a:fillRect l="-800" t="-1487" b="-2230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7387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9EC6941-2E6B-4F61-C35A-2A71ED482A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Regresi</a:t>
            </a:r>
            <a:r>
              <a:rPr lang="es-CR" dirty="0" err="1"/>
              <a:t>ón</a:t>
            </a:r>
            <a:r>
              <a:rPr lang="es-CR" dirty="0"/>
              <a:t> Espuria</a:t>
            </a:r>
          </a:p>
        </p:txBody>
      </p:sp>
    </p:spTree>
    <p:extLst>
      <p:ext uri="{BB962C8B-B14F-4D97-AF65-F5344CB8AC3E}">
        <p14:creationId xmlns:p14="http://schemas.microsoft.com/office/powerpoint/2010/main" val="1546410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F16F543-781C-B6EB-376A-42C712CDF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Regresi</a:t>
            </a:r>
            <a:r>
              <a:rPr lang="es-CR" dirty="0" err="1"/>
              <a:t>ón</a:t>
            </a:r>
            <a:r>
              <a:rPr lang="es-CR" dirty="0"/>
              <a:t> Espuria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B01BD6-83B2-DA35-ADB4-D67CC0B23E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067983"/>
            <a:ext cx="10336877" cy="3735410"/>
          </a:xfrm>
        </p:spPr>
        <p:txBody>
          <a:bodyPr/>
          <a:lstStyle/>
          <a:p>
            <a:pPr algn="just"/>
            <a:r>
              <a:rPr lang="es-ES" dirty="0"/>
              <a:t>En presencia de variables que no son estacionarias de orden 0, estimar un modelo lineal puede generar una regresión espuria.</a:t>
            </a:r>
          </a:p>
          <a:p>
            <a:pPr marL="0" indent="0" algn="just">
              <a:buNone/>
            </a:pPr>
            <a:r>
              <a:rPr lang="es-ES" dirty="0"/>
              <a:t> </a:t>
            </a:r>
          </a:p>
          <a:p>
            <a:pPr algn="just"/>
            <a:r>
              <a:rPr lang="es-ES" dirty="0"/>
              <a:t>Estos modelos se caracterizan por altos niveles en los estadísticos t y F que rechazan la hipótesis nula de que los parámetros estimados son diferentes de cero, aún cuando no existe teoría que justifique la asociación entre las variables.</a:t>
            </a:r>
          </a:p>
          <a:p>
            <a:pPr algn="just"/>
            <a:endParaRPr lang="es-ES" dirty="0"/>
          </a:p>
          <a:p>
            <a:pPr algn="just"/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269305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E799BF-B273-26AE-5392-F1EEA77E62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R" dirty="0"/>
              <a:t>LABORATORIO</a:t>
            </a:r>
          </a:p>
        </p:txBody>
      </p:sp>
    </p:spTree>
    <p:extLst>
      <p:ext uri="{BB962C8B-B14F-4D97-AF65-F5344CB8AC3E}">
        <p14:creationId xmlns:p14="http://schemas.microsoft.com/office/powerpoint/2010/main" val="3274490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47963-9847-D956-EC01-6D075D5EF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Bibliografía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C764F-3023-9E9E-4783-CDF2241DDB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055791"/>
            <a:ext cx="10336877" cy="3735410"/>
          </a:xfrm>
        </p:spPr>
        <p:txBody>
          <a:bodyPr>
            <a:normAutofit/>
          </a:bodyPr>
          <a:lstStyle/>
          <a:p>
            <a:endParaRPr lang="en-US" b="0" i="0" dirty="0">
              <a:solidFill>
                <a:srgbClr val="373A3C"/>
              </a:solidFill>
              <a:effectLst/>
              <a:latin typeface="Source Sans Pro" panose="020B0503030403020204" pitchFamily="34" charset="0"/>
            </a:endParaRPr>
          </a:p>
          <a:p>
            <a:r>
              <a:rPr lang="en-US" dirty="0">
                <a:latin typeface="Source Sans Pro" panose="020B0503030403020204" pitchFamily="34" charset="0"/>
              </a:rPr>
              <a:t>Brockwell, P.; Davis, P. 2002. </a:t>
            </a:r>
            <a:r>
              <a:rPr lang="en-US" i="1" dirty="0">
                <a:latin typeface="Source Sans Pro" panose="020B0503030403020204" pitchFamily="34" charset="0"/>
              </a:rPr>
              <a:t>Introduction to Time Series and Forecasting</a:t>
            </a:r>
            <a:r>
              <a:rPr lang="en-US" dirty="0">
                <a:latin typeface="Source Sans Pro" panose="020B0503030403020204" pitchFamily="34" charset="0"/>
              </a:rPr>
              <a:t>. </a:t>
            </a:r>
            <a:r>
              <a:rPr lang="en-US" dirty="0"/>
              <a:t>Springer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904549"/>
      </p:ext>
    </p:extLst>
  </p:cSld>
  <p:clrMapOvr>
    <a:masterClrMapping/>
  </p:clrMapOvr>
</p:sld>
</file>

<file path=ppt/theme/theme1.xml><?xml version="1.0" encoding="utf-8"?>
<a:theme xmlns:a="http://schemas.openxmlformats.org/drawingml/2006/main" name="Fidélitas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21132</TotalTime>
  <Words>401</Words>
  <Application>Microsoft Office PowerPoint</Application>
  <PresentationFormat>Widescreen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Cambria Math</vt:lpstr>
      <vt:lpstr>Source Sans Pro</vt:lpstr>
      <vt:lpstr>Trust Sans</vt:lpstr>
      <vt:lpstr>Trust Sans Black</vt:lpstr>
      <vt:lpstr>Trust Sans Bold</vt:lpstr>
      <vt:lpstr>Fidélitas </vt:lpstr>
      <vt:lpstr>Tema 5: Introducción a las series de tiempo</vt:lpstr>
      <vt:lpstr>Agenda</vt:lpstr>
      <vt:lpstr>Descomposición de series de tiempo</vt:lpstr>
      <vt:lpstr>Componentes de las series de tiempo</vt:lpstr>
      <vt:lpstr>Relación entre los componentes</vt:lpstr>
      <vt:lpstr>Descomposición</vt:lpstr>
      <vt:lpstr>Gráfico del PIB real de Costa Rica (del I trimestre 1991 a IV trimestre 2024)</vt:lpstr>
      <vt:lpstr>Gráfico del PIB real de Costa Rica (del I trimestre 1991 a IV trimestre 2024)</vt:lpstr>
      <vt:lpstr>Procedimiento para descomponer series de tiempo</vt:lpstr>
      <vt:lpstr>Regresión Espuria</vt:lpstr>
      <vt:lpstr>Regresión Espuria</vt:lpstr>
      <vt:lpstr>LABORATORIO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Fiorella Chacón Morales</dc:creator>
  <cp:lastModifiedBy>Fabian Brenes</cp:lastModifiedBy>
  <cp:revision>120</cp:revision>
  <dcterms:created xsi:type="dcterms:W3CDTF">2023-02-23T21:29:48Z</dcterms:created>
  <dcterms:modified xsi:type="dcterms:W3CDTF">2025-11-29T01:32:38Z</dcterms:modified>
</cp:coreProperties>
</file>