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382" r:id="rId3"/>
    <p:sldId id="393" r:id="rId4"/>
    <p:sldId id="392" r:id="rId5"/>
    <p:sldId id="407" r:id="rId6"/>
    <p:sldId id="408" r:id="rId7"/>
    <p:sldId id="417" r:id="rId8"/>
    <p:sldId id="409" r:id="rId9"/>
    <p:sldId id="418" r:id="rId10"/>
    <p:sldId id="406" r:id="rId11"/>
    <p:sldId id="410" r:id="rId12"/>
    <p:sldId id="412" r:id="rId13"/>
    <p:sldId id="411" r:id="rId14"/>
    <p:sldId id="413" r:id="rId15"/>
    <p:sldId id="419" r:id="rId16"/>
    <p:sldId id="420" r:id="rId17"/>
    <p:sldId id="421" r:id="rId18"/>
    <p:sldId id="422" r:id="rId19"/>
  </p:sldIdLst>
  <p:sldSz cx="12192000" cy="6858000"/>
  <p:notesSz cx="6858000" cy="9144000"/>
  <p:defaultTextStyle>
    <a:defPPr>
      <a:defRPr lang="es-C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F9F"/>
    <a:srgbClr val="E31D93"/>
    <a:srgbClr val="FFD600"/>
    <a:srgbClr val="00B2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066C42C-213B-4F90-BA2E-3DC1E7D229E7}" v="3" dt="2026-01-22T16:25:07.7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49"/>
    <p:restoredTop sz="92764" autoAdjust="0"/>
  </p:normalViewPr>
  <p:slideViewPr>
    <p:cSldViewPr snapToGrid="0">
      <p:cViewPr varScale="1">
        <p:scale>
          <a:sx n="57" d="100"/>
          <a:sy n="57" d="100"/>
        </p:scale>
        <p:origin x="288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bian Brenes" userId="0a98a788-2542-4baf-b081-64ee1e965425" providerId="ADAL" clId="{3D44E08D-C675-4D64-922C-0261EF110F0B}"/>
    <pc:docChg chg="addSld delSld modSld">
      <pc:chgData name="Fabian Brenes" userId="0a98a788-2542-4baf-b081-64ee1e965425" providerId="ADAL" clId="{3D44E08D-C675-4D64-922C-0261EF110F0B}" dt="2026-01-22T16:25:49.161" v="34" actId="47"/>
      <pc:docMkLst>
        <pc:docMk/>
      </pc:docMkLst>
      <pc:sldChg chg="modSp mod">
        <pc:chgData name="Fabian Brenes" userId="0a98a788-2542-4baf-b081-64ee1e965425" providerId="ADAL" clId="{3D44E08D-C675-4D64-922C-0261EF110F0B}" dt="2026-01-22T16:23:37.252" v="30" actId="113"/>
        <pc:sldMkLst>
          <pc:docMk/>
          <pc:sldMk cId="0" sldId="256"/>
        </pc:sldMkLst>
        <pc:spChg chg="mod">
          <ac:chgData name="Fabian Brenes" userId="0a98a788-2542-4baf-b081-64ee1e965425" providerId="ADAL" clId="{3D44E08D-C675-4D64-922C-0261EF110F0B}" dt="2026-01-22T16:23:37.252" v="30" actId="113"/>
          <ac:spMkLst>
            <pc:docMk/>
            <pc:sldMk cId="0" sldId="256"/>
            <ac:spMk id="2" creationId="{22B11D00-0642-76C8-3292-F75149E5AADE}"/>
          </ac:spMkLst>
        </pc:spChg>
        <pc:spChg chg="mod">
          <ac:chgData name="Fabian Brenes" userId="0a98a788-2542-4baf-b081-64ee1e965425" providerId="ADAL" clId="{3D44E08D-C675-4D64-922C-0261EF110F0B}" dt="2026-01-22T16:23:25.417" v="28" actId="20577"/>
          <ac:spMkLst>
            <pc:docMk/>
            <pc:sldMk cId="0" sldId="256"/>
            <ac:spMk id="3" creationId="{A37BA2ED-03A6-64B1-A460-86640E3E0D49}"/>
          </ac:spMkLst>
        </pc:spChg>
      </pc:sldChg>
      <pc:sldChg chg="modSp">
        <pc:chgData name="Fabian Brenes" userId="0a98a788-2542-4baf-b081-64ee1e965425" providerId="ADAL" clId="{3D44E08D-C675-4D64-922C-0261EF110F0B}" dt="2026-01-22T16:24:27.392" v="31"/>
        <pc:sldMkLst>
          <pc:docMk/>
          <pc:sldMk cId="900078694" sldId="382"/>
        </pc:sldMkLst>
        <pc:spChg chg="mod">
          <ac:chgData name="Fabian Brenes" userId="0a98a788-2542-4baf-b081-64ee1e965425" providerId="ADAL" clId="{3D44E08D-C675-4D64-922C-0261EF110F0B}" dt="2026-01-22T16:24:27.392" v="31"/>
          <ac:spMkLst>
            <pc:docMk/>
            <pc:sldMk cId="900078694" sldId="382"/>
            <ac:spMk id="5" creationId="{6D542AB4-C6E9-CFD1-1545-A52B284137FA}"/>
          </ac:spMkLst>
        </pc:spChg>
      </pc:sldChg>
      <pc:sldChg chg="del">
        <pc:chgData name="Fabian Brenes" userId="0a98a788-2542-4baf-b081-64ee1e965425" providerId="ADAL" clId="{3D44E08D-C675-4D64-922C-0261EF110F0B}" dt="2026-01-22T16:25:20.156" v="33" actId="47"/>
        <pc:sldMkLst>
          <pc:docMk/>
          <pc:sldMk cId="1049753339" sldId="389"/>
        </pc:sldMkLst>
      </pc:sldChg>
      <pc:sldChg chg="del">
        <pc:chgData name="Fabian Brenes" userId="0a98a788-2542-4baf-b081-64ee1e965425" providerId="ADAL" clId="{3D44E08D-C675-4D64-922C-0261EF110F0B}" dt="2026-01-22T16:25:20.156" v="33" actId="47"/>
        <pc:sldMkLst>
          <pc:docMk/>
          <pc:sldMk cId="290524408" sldId="394"/>
        </pc:sldMkLst>
      </pc:sldChg>
      <pc:sldChg chg="del">
        <pc:chgData name="Fabian Brenes" userId="0a98a788-2542-4baf-b081-64ee1e965425" providerId="ADAL" clId="{3D44E08D-C675-4D64-922C-0261EF110F0B}" dt="2026-01-22T16:25:20.156" v="33" actId="47"/>
        <pc:sldMkLst>
          <pc:docMk/>
          <pc:sldMk cId="3875904549" sldId="395"/>
        </pc:sldMkLst>
      </pc:sldChg>
      <pc:sldChg chg="del">
        <pc:chgData name="Fabian Brenes" userId="0a98a788-2542-4baf-b081-64ee1e965425" providerId="ADAL" clId="{3D44E08D-C675-4D64-922C-0261EF110F0B}" dt="2026-01-22T16:25:20.156" v="33" actId="47"/>
        <pc:sldMkLst>
          <pc:docMk/>
          <pc:sldMk cId="4191823318" sldId="396"/>
        </pc:sldMkLst>
      </pc:sldChg>
      <pc:sldChg chg="del">
        <pc:chgData name="Fabian Brenes" userId="0a98a788-2542-4baf-b081-64ee1e965425" providerId="ADAL" clId="{3D44E08D-C675-4D64-922C-0261EF110F0B}" dt="2026-01-22T16:25:20.156" v="33" actId="47"/>
        <pc:sldMkLst>
          <pc:docMk/>
          <pc:sldMk cId="3701366746" sldId="397"/>
        </pc:sldMkLst>
      </pc:sldChg>
      <pc:sldChg chg="del">
        <pc:chgData name="Fabian Brenes" userId="0a98a788-2542-4baf-b081-64ee1e965425" providerId="ADAL" clId="{3D44E08D-C675-4D64-922C-0261EF110F0B}" dt="2026-01-22T16:25:20.156" v="33" actId="47"/>
        <pc:sldMkLst>
          <pc:docMk/>
          <pc:sldMk cId="377459921" sldId="398"/>
        </pc:sldMkLst>
      </pc:sldChg>
      <pc:sldChg chg="del">
        <pc:chgData name="Fabian Brenes" userId="0a98a788-2542-4baf-b081-64ee1e965425" providerId="ADAL" clId="{3D44E08D-C675-4D64-922C-0261EF110F0B}" dt="2026-01-22T16:25:20.156" v="33" actId="47"/>
        <pc:sldMkLst>
          <pc:docMk/>
          <pc:sldMk cId="1590114068" sldId="399"/>
        </pc:sldMkLst>
      </pc:sldChg>
      <pc:sldChg chg="del">
        <pc:chgData name="Fabian Brenes" userId="0a98a788-2542-4baf-b081-64ee1e965425" providerId="ADAL" clId="{3D44E08D-C675-4D64-922C-0261EF110F0B}" dt="2026-01-22T16:25:20.156" v="33" actId="47"/>
        <pc:sldMkLst>
          <pc:docMk/>
          <pc:sldMk cId="229984834" sldId="400"/>
        </pc:sldMkLst>
      </pc:sldChg>
      <pc:sldChg chg="del">
        <pc:chgData name="Fabian Brenes" userId="0a98a788-2542-4baf-b081-64ee1e965425" providerId="ADAL" clId="{3D44E08D-C675-4D64-922C-0261EF110F0B}" dt="2026-01-22T16:25:20.156" v="33" actId="47"/>
        <pc:sldMkLst>
          <pc:docMk/>
          <pc:sldMk cId="262204842" sldId="401"/>
        </pc:sldMkLst>
      </pc:sldChg>
      <pc:sldChg chg="del">
        <pc:chgData name="Fabian Brenes" userId="0a98a788-2542-4baf-b081-64ee1e965425" providerId="ADAL" clId="{3D44E08D-C675-4D64-922C-0261EF110F0B}" dt="2026-01-22T16:25:20.156" v="33" actId="47"/>
        <pc:sldMkLst>
          <pc:docMk/>
          <pc:sldMk cId="1191204940" sldId="403"/>
        </pc:sldMkLst>
      </pc:sldChg>
      <pc:sldChg chg="del">
        <pc:chgData name="Fabian Brenes" userId="0a98a788-2542-4baf-b081-64ee1e965425" providerId="ADAL" clId="{3D44E08D-C675-4D64-922C-0261EF110F0B}" dt="2026-01-22T16:25:20.156" v="33" actId="47"/>
        <pc:sldMkLst>
          <pc:docMk/>
          <pc:sldMk cId="4071948610" sldId="404"/>
        </pc:sldMkLst>
      </pc:sldChg>
      <pc:sldChg chg="del">
        <pc:chgData name="Fabian Brenes" userId="0a98a788-2542-4baf-b081-64ee1e965425" providerId="ADAL" clId="{3D44E08D-C675-4D64-922C-0261EF110F0B}" dt="2026-01-22T16:25:20.156" v="33" actId="47"/>
        <pc:sldMkLst>
          <pc:docMk/>
          <pc:sldMk cId="13222824" sldId="405"/>
        </pc:sldMkLst>
      </pc:sldChg>
      <pc:sldChg chg="add">
        <pc:chgData name="Fabian Brenes" userId="0a98a788-2542-4baf-b081-64ee1e965425" providerId="ADAL" clId="{3D44E08D-C675-4D64-922C-0261EF110F0B}" dt="2026-01-22T16:25:07.728" v="32"/>
        <pc:sldMkLst>
          <pc:docMk/>
          <pc:sldMk cId="882137179" sldId="406"/>
        </pc:sldMkLst>
      </pc:sldChg>
      <pc:sldChg chg="add">
        <pc:chgData name="Fabian Brenes" userId="0a98a788-2542-4baf-b081-64ee1e965425" providerId="ADAL" clId="{3D44E08D-C675-4D64-922C-0261EF110F0B}" dt="2026-01-22T16:25:07.728" v="32"/>
        <pc:sldMkLst>
          <pc:docMk/>
          <pc:sldMk cId="2928963179" sldId="407"/>
        </pc:sldMkLst>
      </pc:sldChg>
      <pc:sldChg chg="add">
        <pc:chgData name="Fabian Brenes" userId="0a98a788-2542-4baf-b081-64ee1e965425" providerId="ADAL" clId="{3D44E08D-C675-4D64-922C-0261EF110F0B}" dt="2026-01-22T16:25:07.728" v="32"/>
        <pc:sldMkLst>
          <pc:docMk/>
          <pc:sldMk cId="161804836" sldId="408"/>
        </pc:sldMkLst>
      </pc:sldChg>
      <pc:sldChg chg="add">
        <pc:chgData name="Fabian Brenes" userId="0a98a788-2542-4baf-b081-64ee1e965425" providerId="ADAL" clId="{3D44E08D-C675-4D64-922C-0261EF110F0B}" dt="2026-01-22T16:25:07.728" v="32"/>
        <pc:sldMkLst>
          <pc:docMk/>
          <pc:sldMk cId="1621486710" sldId="409"/>
        </pc:sldMkLst>
      </pc:sldChg>
      <pc:sldChg chg="add">
        <pc:chgData name="Fabian Brenes" userId="0a98a788-2542-4baf-b081-64ee1e965425" providerId="ADAL" clId="{3D44E08D-C675-4D64-922C-0261EF110F0B}" dt="2026-01-22T16:25:07.728" v="32"/>
        <pc:sldMkLst>
          <pc:docMk/>
          <pc:sldMk cId="3093896659" sldId="410"/>
        </pc:sldMkLst>
      </pc:sldChg>
      <pc:sldChg chg="add">
        <pc:chgData name="Fabian Brenes" userId="0a98a788-2542-4baf-b081-64ee1e965425" providerId="ADAL" clId="{3D44E08D-C675-4D64-922C-0261EF110F0B}" dt="2026-01-22T16:25:07.728" v="32"/>
        <pc:sldMkLst>
          <pc:docMk/>
          <pc:sldMk cId="2185771482" sldId="411"/>
        </pc:sldMkLst>
      </pc:sldChg>
      <pc:sldChg chg="add">
        <pc:chgData name="Fabian Brenes" userId="0a98a788-2542-4baf-b081-64ee1e965425" providerId="ADAL" clId="{3D44E08D-C675-4D64-922C-0261EF110F0B}" dt="2026-01-22T16:25:07.728" v="32"/>
        <pc:sldMkLst>
          <pc:docMk/>
          <pc:sldMk cId="326119239" sldId="412"/>
        </pc:sldMkLst>
      </pc:sldChg>
      <pc:sldChg chg="add">
        <pc:chgData name="Fabian Brenes" userId="0a98a788-2542-4baf-b081-64ee1e965425" providerId="ADAL" clId="{3D44E08D-C675-4D64-922C-0261EF110F0B}" dt="2026-01-22T16:25:07.728" v="32"/>
        <pc:sldMkLst>
          <pc:docMk/>
          <pc:sldMk cId="2927592210" sldId="413"/>
        </pc:sldMkLst>
      </pc:sldChg>
      <pc:sldChg chg="add del">
        <pc:chgData name="Fabian Brenes" userId="0a98a788-2542-4baf-b081-64ee1e965425" providerId="ADAL" clId="{3D44E08D-C675-4D64-922C-0261EF110F0B}" dt="2026-01-22T16:25:49.161" v="34" actId="47"/>
        <pc:sldMkLst>
          <pc:docMk/>
          <pc:sldMk cId="971180572" sldId="414"/>
        </pc:sldMkLst>
      </pc:sldChg>
      <pc:sldChg chg="add">
        <pc:chgData name="Fabian Brenes" userId="0a98a788-2542-4baf-b081-64ee1e965425" providerId="ADAL" clId="{3D44E08D-C675-4D64-922C-0261EF110F0B}" dt="2026-01-22T16:25:07.728" v="32"/>
        <pc:sldMkLst>
          <pc:docMk/>
          <pc:sldMk cId="3536383158" sldId="417"/>
        </pc:sldMkLst>
      </pc:sldChg>
      <pc:sldChg chg="add">
        <pc:chgData name="Fabian Brenes" userId="0a98a788-2542-4baf-b081-64ee1e965425" providerId="ADAL" clId="{3D44E08D-C675-4D64-922C-0261EF110F0B}" dt="2026-01-22T16:25:07.728" v="32"/>
        <pc:sldMkLst>
          <pc:docMk/>
          <pc:sldMk cId="606184766" sldId="418"/>
        </pc:sldMkLst>
      </pc:sldChg>
      <pc:sldChg chg="add">
        <pc:chgData name="Fabian Brenes" userId="0a98a788-2542-4baf-b081-64ee1e965425" providerId="ADAL" clId="{3D44E08D-C675-4D64-922C-0261EF110F0B}" dt="2026-01-22T16:25:07.728" v="32"/>
        <pc:sldMkLst>
          <pc:docMk/>
          <pc:sldMk cId="1906073278" sldId="419"/>
        </pc:sldMkLst>
      </pc:sldChg>
      <pc:sldChg chg="add">
        <pc:chgData name="Fabian Brenes" userId="0a98a788-2542-4baf-b081-64ee1e965425" providerId="ADAL" clId="{3D44E08D-C675-4D64-922C-0261EF110F0B}" dt="2026-01-22T16:25:07.728" v="32"/>
        <pc:sldMkLst>
          <pc:docMk/>
          <pc:sldMk cId="607600380" sldId="420"/>
        </pc:sldMkLst>
      </pc:sldChg>
      <pc:sldChg chg="add">
        <pc:chgData name="Fabian Brenes" userId="0a98a788-2542-4baf-b081-64ee1e965425" providerId="ADAL" clId="{3D44E08D-C675-4D64-922C-0261EF110F0B}" dt="2026-01-22T16:25:07.728" v="32"/>
        <pc:sldMkLst>
          <pc:docMk/>
          <pc:sldMk cId="3522688751" sldId="421"/>
        </pc:sldMkLst>
      </pc:sldChg>
      <pc:sldChg chg="add">
        <pc:chgData name="Fabian Brenes" userId="0a98a788-2542-4baf-b081-64ee1e965425" providerId="ADAL" clId="{3D44E08D-C675-4D64-922C-0261EF110F0B}" dt="2026-01-22T16:25:07.728" v="32"/>
        <pc:sldMkLst>
          <pc:docMk/>
          <pc:sldMk cId="2728612513" sldId="42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690E02-228F-4EE4-B8DB-40CD5C605F12}" type="datetimeFigureOut">
              <a:rPr lang="es-CR" smtClean="0"/>
              <a:t>22/1/2026</a:t>
            </a:fld>
            <a:endParaRPr lang="es-C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678745-B1E6-4434-BB1A-E7B3F7352ADB}" type="slidenum">
              <a:rPr lang="es-CR" smtClean="0"/>
              <a:t>‹#›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853189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sv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sv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75F2A3D7-D255-7DCD-6AEE-4A3CB82FF3F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6435" t="3287" b="3287"/>
          <a:stretch/>
        </p:blipFill>
        <p:spPr>
          <a:xfrm>
            <a:off x="0" y="2494722"/>
            <a:ext cx="2600946" cy="956818"/>
          </a:xfrm>
          <a:prstGeom prst="rect">
            <a:avLst/>
          </a:prstGeom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05F754BB-255D-0FE5-FB11-2E7D44DB33D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926443" y="1176898"/>
            <a:ext cx="7794913" cy="2252102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6000" b="1" i="0">
                <a:solidFill>
                  <a:schemeClr val="bg1"/>
                </a:solidFill>
                <a:latin typeface="Trust Sans Black" pitchFamily="2" charset="77"/>
              </a:defRPr>
            </a:lvl1pPr>
          </a:lstStyle>
          <a:p>
            <a:r>
              <a:rPr lang="es-MX" dirty="0"/>
              <a:t>CLICK TO ADD TITLE</a:t>
            </a:r>
            <a:endParaRPr lang="es-CR" dirty="0"/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8FFE5A59-DA03-60BF-23E2-491F1C0AB5C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26444" y="4165636"/>
            <a:ext cx="7794912" cy="957689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Trust Sans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 dirty="0"/>
              <a:t>Click to add subtitle</a:t>
            </a:r>
            <a:endParaRPr lang="es-CR" dirty="0"/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4942F5F3-D9C5-32A4-1D88-43EF7BE18CE7}"/>
              </a:ext>
            </a:extLst>
          </p:cNvPr>
          <p:cNvCxnSpPr>
            <a:cxnSpLocks/>
          </p:cNvCxnSpPr>
          <p:nvPr userDrawn="1"/>
        </p:nvCxnSpPr>
        <p:spPr>
          <a:xfrm>
            <a:off x="2926444" y="3741684"/>
            <a:ext cx="7794913" cy="0"/>
          </a:xfrm>
          <a:prstGeom prst="line">
            <a:avLst/>
          </a:prstGeom>
          <a:ln w="76200" cap="rnd">
            <a:solidFill>
              <a:srgbClr val="FFD600"/>
            </a:solidFill>
            <a:beve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4197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portada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43BE044-ED31-3F60-3A2F-7E880992B3D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838200" y="2735376"/>
            <a:ext cx="1139757" cy="71234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A441604-9A2B-F58B-7730-B0BA9FF9D2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54452" y="2454966"/>
            <a:ext cx="7077635" cy="20574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6600" b="1" i="0">
                <a:solidFill>
                  <a:schemeClr val="bg1"/>
                </a:solidFill>
                <a:latin typeface="Trust Sans Bold" pitchFamily="2" charset="77"/>
              </a:defRPr>
            </a:lvl1pPr>
          </a:lstStyle>
          <a:p>
            <a:r>
              <a:rPr lang="es-MX" dirty="0"/>
              <a:t>CLICK TO ADD TITLE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1800499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portada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F5D7F6B5-6E7F-9DFE-350A-5B76D265B4F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833814" y="2735376"/>
            <a:ext cx="1139757" cy="712348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93C3988A-175F-3624-D13A-0B7D7469B58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54452" y="2454966"/>
            <a:ext cx="7077635" cy="20574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6600" b="1" i="0">
                <a:solidFill>
                  <a:srgbClr val="000F9F"/>
                </a:solidFill>
                <a:latin typeface="Trust Sans Bold" pitchFamily="2" charset="77"/>
              </a:defRPr>
            </a:lvl1pPr>
          </a:lstStyle>
          <a:p>
            <a:r>
              <a:rPr lang="es-MX" dirty="0"/>
              <a:t>CLICK TO ADD TITLE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1325400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590F0828-C61C-4406-DC2A-08D1B900E8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7444" y="585169"/>
            <a:ext cx="9807633" cy="87179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 b="1" i="0">
                <a:solidFill>
                  <a:srgbClr val="000F9F"/>
                </a:solidFill>
                <a:latin typeface="Trust Sans Bold" pitchFamily="2" charset="77"/>
              </a:defRPr>
            </a:lvl1pPr>
          </a:lstStyle>
          <a:p>
            <a:r>
              <a:rPr lang="es-MX" dirty="0"/>
              <a:t>CLICK TO ADD TITLE</a:t>
            </a:r>
            <a:endParaRPr lang="es-CR" dirty="0"/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3C64957B-02E4-9B5C-8E18-E36EA9BA263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2067983"/>
            <a:ext cx="5181600" cy="3735410"/>
          </a:xfrm>
        </p:spPr>
        <p:txBody>
          <a:bodyPr/>
          <a:lstStyle>
            <a:lvl1pPr>
              <a:defRPr>
                <a:latin typeface="Trust Sans" pitchFamily="2" charset="77"/>
              </a:defRPr>
            </a:lvl1pPr>
            <a:lvl2pPr>
              <a:defRPr>
                <a:latin typeface="Trust Sans" pitchFamily="2" charset="77"/>
              </a:defRPr>
            </a:lvl2pPr>
            <a:lvl3pPr>
              <a:defRPr>
                <a:latin typeface="Trust Sans" pitchFamily="2" charset="77"/>
              </a:defRPr>
            </a:lvl3pPr>
            <a:lvl4pPr>
              <a:defRPr>
                <a:latin typeface="Trust Sans" pitchFamily="2" charset="77"/>
              </a:defRPr>
            </a:lvl4pPr>
            <a:lvl5pPr>
              <a:defRPr>
                <a:latin typeface="Trust Sans" pitchFamily="2" charset="77"/>
              </a:defRPr>
            </a:lvl5pPr>
          </a:lstStyle>
          <a:p>
            <a:pPr lvl="0"/>
            <a:r>
              <a:rPr lang="es-MX" dirty="0"/>
              <a:t>Click to add text</a:t>
            </a:r>
            <a:endParaRPr lang="es-CR" dirty="0"/>
          </a:p>
        </p:txBody>
      </p:sp>
      <p:sp>
        <p:nvSpPr>
          <p:cNvPr id="7" name="Marcador de contenido 3">
            <a:extLst>
              <a:ext uri="{FF2B5EF4-FFF2-40B4-BE49-F238E27FC236}">
                <a16:creationId xmlns:a16="http://schemas.microsoft.com/office/drawing/2014/main" id="{C6D7E9F4-35B6-1C90-CF52-751FB46A862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2067983"/>
            <a:ext cx="5181600" cy="3735410"/>
          </a:xfrm>
        </p:spPr>
        <p:txBody>
          <a:bodyPr/>
          <a:lstStyle>
            <a:lvl1pPr>
              <a:defRPr>
                <a:latin typeface="Trust Sans" pitchFamily="2" charset="77"/>
              </a:defRPr>
            </a:lvl1pPr>
            <a:lvl2pPr>
              <a:defRPr>
                <a:latin typeface="Trust Sans" pitchFamily="2" charset="77"/>
              </a:defRPr>
            </a:lvl2pPr>
            <a:lvl3pPr>
              <a:defRPr>
                <a:latin typeface="Trust Sans" pitchFamily="2" charset="77"/>
              </a:defRPr>
            </a:lvl3pPr>
            <a:lvl4pPr>
              <a:defRPr>
                <a:latin typeface="Trust Sans" pitchFamily="2" charset="77"/>
              </a:defRPr>
            </a:lvl4pPr>
            <a:lvl5pPr>
              <a:defRPr>
                <a:latin typeface="Trust Sans" pitchFamily="2" charset="77"/>
              </a:defRPr>
            </a:lvl5pPr>
          </a:lstStyle>
          <a:p>
            <a:pPr lvl="0"/>
            <a:r>
              <a:rPr lang="es-MX" dirty="0"/>
              <a:t>Click to add text</a:t>
            </a:r>
            <a:endParaRPr lang="es-CR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E37BC75-F084-050C-B722-406BB5C8011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86394" y="655266"/>
            <a:ext cx="781050" cy="488156"/>
          </a:xfrm>
          <a:prstGeom prst="rect">
            <a:avLst/>
          </a:prstGeom>
        </p:spPr>
      </p:pic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278A961E-E13E-27B7-195D-9EA2B5A9AFBA}"/>
              </a:ext>
            </a:extLst>
          </p:cNvPr>
          <p:cNvCxnSpPr>
            <a:cxnSpLocks/>
          </p:cNvCxnSpPr>
          <p:nvPr userDrawn="1"/>
        </p:nvCxnSpPr>
        <p:spPr>
          <a:xfrm>
            <a:off x="586394" y="1677007"/>
            <a:ext cx="10192442" cy="0"/>
          </a:xfrm>
          <a:prstGeom prst="line">
            <a:avLst/>
          </a:prstGeom>
          <a:ln w="38100" cap="rnd">
            <a:solidFill>
              <a:srgbClr val="00B2E3"/>
            </a:solidFill>
            <a:beve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39495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7822B41A-10D2-12DC-7415-C3DFB5FFA59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94509" y="2526894"/>
            <a:ext cx="4420710" cy="2688945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  <a:latin typeface="Trust Sans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 dirty="0"/>
              <a:t>Click to add text </a:t>
            </a:r>
            <a:endParaRPr lang="es-CR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DEE44A15-0D2B-2A97-C607-CF9797EB13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4509" y="771305"/>
            <a:ext cx="4420710" cy="1520719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3600" b="1" i="0">
                <a:solidFill>
                  <a:srgbClr val="000F9F"/>
                </a:solidFill>
                <a:latin typeface="Trust Sans Bold" pitchFamily="2" charset="77"/>
              </a:defRPr>
            </a:lvl1pPr>
          </a:lstStyle>
          <a:p>
            <a:r>
              <a:rPr lang="es-MX" dirty="0"/>
              <a:t>Click to add title</a:t>
            </a:r>
            <a:endParaRPr lang="es-CR" dirty="0"/>
          </a:p>
        </p:txBody>
      </p:sp>
      <p:sp>
        <p:nvSpPr>
          <p:cNvPr id="5" name="Marcador de posición de imagen 2">
            <a:extLst>
              <a:ext uri="{FF2B5EF4-FFF2-40B4-BE49-F238E27FC236}">
                <a16:creationId xmlns:a16="http://schemas.microsoft.com/office/drawing/2014/main" id="{740D23F4-F7F1-B2AC-63CE-98E96B87EDA7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5902036" y="771306"/>
            <a:ext cx="5453352" cy="4444534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latin typeface="Trust Sans" pitchFamily="2" charset="77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CR" dirty="0" err="1"/>
              <a:t>Click</a:t>
            </a:r>
            <a:r>
              <a:rPr lang="es-CR" dirty="0"/>
              <a:t> </a:t>
            </a:r>
            <a:r>
              <a:rPr lang="es-CR" dirty="0" err="1"/>
              <a:t>to</a:t>
            </a:r>
            <a:r>
              <a:rPr lang="es-CR" dirty="0"/>
              <a:t> </a:t>
            </a:r>
            <a:r>
              <a:rPr lang="es-CR" dirty="0" err="1"/>
              <a:t>add</a:t>
            </a:r>
            <a:r>
              <a:rPr lang="es-CR" dirty="0"/>
              <a:t> a </a:t>
            </a:r>
            <a:r>
              <a:rPr lang="es-CR" dirty="0" err="1"/>
              <a:t>image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2082352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ítulo 2">
            <a:extLst>
              <a:ext uri="{FF2B5EF4-FFF2-40B4-BE49-F238E27FC236}">
                <a16:creationId xmlns:a16="http://schemas.microsoft.com/office/drawing/2014/main" id="{C70069F9-4D6A-A47A-AF4F-EED984AE3C8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328928" y="2511123"/>
            <a:ext cx="4420710" cy="2688945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  <a:latin typeface="Trust Sans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 dirty="0"/>
              <a:t>Click to add text </a:t>
            </a:r>
            <a:endParaRPr lang="es-CR" dirty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52FB0BBF-334E-02E6-E3B0-595FF2DA84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8928" y="755534"/>
            <a:ext cx="4420710" cy="1520719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3600" b="1" i="0">
                <a:solidFill>
                  <a:srgbClr val="000F9F"/>
                </a:solidFill>
                <a:latin typeface="Trust Sans Bold" pitchFamily="2" charset="77"/>
              </a:defRPr>
            </a:lvl1pPr>
          </a:lstStyle>
          <a:p>
            <a:r>
              <a:rPr lang="es-MX" dirty="0"/>
              <a:t>Click to add title</a:t>
            </a:r>
            <a:endParaRPr lang="es-CR" dirty="0"/>
          </a:p>
        </p:txBody>
      </p:sp>
      <p:sp>
        <p:nvSpPr>
          <p:cNvPr id="7" name="Marcador de contenido 3">
            <a:extLst>
              <a:ext uri="{FF2B5EF4-FFF2-40B4-BE49-F238E27FC236}">
                <a16:creationId xmlns:a16="http://schemas.microsoft.com/office/drawing/2014/main" id="{9719F092-9774-93FA-2C6C-7F477253B249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442363" y="698733"/>
            <a:ext cx="4918364" cy="4444534"/>
          </a:xfrm>
        </p:spPr>
        <p:txBody>
          <a:bodyPr/>
          <a:lstStyle>
            <a:lvl1pPr>
              <a:defRPr>
                <a:latin typeface="Trust Sans" pitchFamily="2" charset="77"/>
              </a:defRPr>
            </a:lvl1pPr>
            <a:lvl2pPr>
              <a:defRPr>
                <a:latin typeface="Trust Sans" pitchFamily="2" charset="77"/>
              </a:defRPr>
            </a:lvl2pPr>
            <a:lvl3pPr>
              <a:defRPr>
                <a:latin typeface="Trust Sans" pitchFamily="2" charset="77"/>
              </a:defRPr>
            </a:lvl3pPr>
            <a:lvl4pPr>
              <a:defRPr>
                <a:latin typeface="Trust Sans" pitchFamily="2" charset="77"/>
              </a:defRPr>
            </a:lvl4pPr>
            <a:lvl5pPr>
              <a:defRPr>
                <a:latin typeface="Trust Sans" pitchFamily="2" charset="77"/>
              </a:defRPr>
            </a:lvl5pPr>
          </a:lstStyle>
          <a:p>
            <a:pPr lvl="0"/>
            <a:r>
              <a:rPr lang="es-MX" dirty="0"/>
              <a:t>Click to add text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1588962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ndo liso + Log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3588C353-EDDC-B884-9CAB-022D5154F4EF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2067983"/>
            <a:ext cx="5181600" cy="3735410"/>
          </a:xfrm>
        </p:spPr>
        <p:txBody>
          <a:bodyPr/>
          <a:lstStyle>
            <a:lvl1pPr>
              <a:defRPr>
                <a:latin typeface="Trust Sans" pitchFamily="2" charset="77"/>
              </a:defRPr>
            </a:lvl1pPr>
            <a:lvl2pPr>
              <a:defRPr>
                <a:latin typeface="Trust Sans" pitchFamily="2" charset="77"/>
              </a:defRPr>
            </a:lvl2pPr>
            <a:lvl3pPr>
              <a:defRPr>
                <a:latin typeface="Trust Sans" pitchFamily="2" charset="77"/>
              </a:defRPr>
            </a:lvl3pPr>
            <a:lvl4pPr>
              <a:defRPr>
                <a:latin typeface="Trust Sans" pitchFamily="2" charset="77"/>
              </a:defRPr>
            </a:lvl4pPr>
            <a:lvl5pPr>
              <a:defRPr>
                <a:latin typeface="Trust Sans" pitchFamily="2" charset="77"/>
              </a:defRPr>
            </a:lvl5pPr>
          </a:lstStyle>
          <a:p>
            <a:pPr lvl="0"/>
            <a:r>
              <a:rPr lang="es-MX" dirty="0"/>
              <a:t>Click to add text</a:t>
            </a:r>
            <a:endParaRPr lang="es-CR" dirty="0"/>
          </a:p>
        </p:txBody>
      </p:sp>
      <p:sp>
        <p:nvSpPr>
          <p:cNvPr id="6" name="Marcador de contenido 3">
            <a:extLst>
              <a:ext uri="{FF2B5EF4-FFF2-40B4-BE49-F238E27FC236}">
                <a16:creationId xmlns:a16="http://schemas.microsoft.com/office/drawing/2014/main" id="{5E2DD159-D272-5B1F-5E0C-14A3DC6252E6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2067983"/>
            <a:ext cx="5181600" cy="3735410"/>
          </a:xfrm>
        </p:spPr>
        <p:txBody>
          <a:bodyPr/>
          <a:lstStyle>
            <a:lvl1pPr>
              <a:defRPr>
                <a:latin typeface="Trust Sans" pitchFamily="2" charset="77"/>
              </a:defRPr>
            </a:lvl1pPr>
            <a:lvl2pPr>
              <a:defRPr>
                <a:latin typeface="Trust Sans" pitchFamily="2" charset="77"/>
              </a:defRPr>
            </a:lvl2pPr>
            <a:lvl3pPr>
              <a:defRPr>
                <a:latin typeface="Trust Sans" pitchFamily="2" charset="77"/>
              </a:defRPr>
            </a:lvl3pPr>
            <a:lvl4pPr>
              <a:defRPr>
                <a:latin typeface="Trust Sans" pitchFamily="2" charset="77"/>
              </a:defRPr>
            </a:lvl4pPr>
            <a:lvl5pPr>
              <a:defRPr>
                <a:latin typeface="Trust Sans" pitchFamily="2" charset="77"/>
              </a:defRPr>
            </a:lvl5pPr>
          </a:lstStyle>
          <a:p>
            <a:pPr lvl="0"/>
            <a:r>
              <a:rPr lang="es-MX" dirty="0"/>
              <a:t>Click to add text</a:t>
            </a:r>
            <a:endParaRPr lang="es-CR" dirty="0"/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7757F612-090F-A7EF-4E70-7AAD35CF72DC}"/>
              </a:ext>
            </a:extLst>
          </p:cNvPr>
          <p:cNvCxnSpPr>
            <a:cxnSpLocks/>
          </p:cNvCxnSpPr>
          <p:nvPr userDrawn="1"/>
        </p:nvCxnSpPr>
        <p:spPr>
          <a:xfrm>
            <a:off x="586394" y="1677007"/>
            <a:ext cx="10192442" cy="0"/>
          </a:xfrm>
          <a:prstGeom prst="line">
            <a:avLst/>
          </a:prstGeom>
          <a:ln w="38100" cap="rnd">
            <a:solidFill>
              <a:srgbClr val="00B2E3"/>
            </a:solidFill>
            <a:beve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ítulo 1">
            <a:extLst>
              <a:ext uri="{FF2B5EF4-FFF2-40B4-BE49-F238E27FC236}">
                <a16:creationId xmlns:a16="http://schemas.microsoft.com/office/drawing/2014/main" id="{FC846CE2-3AED-AB04-9835-976A0147B7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7444" y="585169"/>
            <a:ext cx="9807633" cy="87179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 b="1" i="0">
                <a:solidFill>
                  <a:srgbClr val="000F9F"/>
                </a:solidFill>
                <a:latin typeface="Trust Sans Bold" pitchFamily="2" charset="77"/>
              </a:defRPr>
            </a:lvl1pPr>
          </a:lstStyle>
          <a:p>
            <a:r>
              <a:rPr lang="es-MX" dirty="0"/>
              <a:t>CLICK TO ADD TITLE</a:t>
            </a:r>
            <a:endParaRPr lang="es-CR" dirty="0"/>
          </a:p>
        </p:txBody>
      </p:sp>
      <p:pic>
        <p:nvPicPr>
          <p:cNvPr id="11" name="Imagen 7">
            <a:extLst>
              <a:ext uri="{FF2B5EF4-FFF2-40B4-BE49-F238E27FC236}">
                <a16:creationId xmlns:a16="http://schemas.microsoft.com/office/drawing/2014/main" id="{A5B6BF07-8364-9FED-F612-95E99DC32A8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86394" y="655266"/>
            <a:ext cx="781050" cy="488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565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ssets (NO USA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0F7BE623-D05C-AB7B-74E9-BF7866F7D4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2183" y="365125"/>
            <a:ext cx="9807633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4000" b="1" i="0">
                <a:solidFill>
                  <a:srgbClr val="000F9F"/>
                </a:solidFill>
                <a:latin typeface="Trust Sans Bold" pitchFamily="2" charset="77"/>
              </a:defRPr>
            </a:lvl1pPr>
          </a:lstStyle>
          <a:p>
            <a:r>
              <a:rPr lang="es-MX" dirty="0"/>
              <a:t>CLICK TO ADD TITLE</a:t>
            </a:r>
            <a:endParaRPr lang="es-CR" dirty="0"/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F3F1B8A1-C662-D115-0579-1F78DFAED100}"/>
              </a:ext>
            </a:extLst>
          </p:cNvPr>
          <p:cNvCxnSpPr>
            <a:cxnSpLocks/>
          </p:cNvCxnSpPr>
          <p:nvPr userDrawn="1"/>
        </p:nvCxnSpPr>
        <p:spPr>
          <a:xfrm>
            <a:off x="999779" y="1677007"/>
            <a:ext cx="10192442" cy="0"/>
          </a:xfrm>
          <a:prstGeom prst="line">
            <a:avLst/>
          </a:prstGeom>
          <a:ln w="38100" cap="rnd">
            <a:solidFill>
              <a:srgbClr val="00B2E3"/>
            </a:solidFill>
            <a:beve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8011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ubportada1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0">
            <a:extLst>
              <a:ext uri="{FF2B5EF4-FFF2-40B4-BE49-F238E27FC236}">
                <a16:creationId xmlns:a16="http://schemas.microsoft.com/office/drawing/2014/main" id="{5250FC87-7BE0-64CD-5A1C-F02DACE6C0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38200" y="2686050"/>
            <a:ext cx="1139825" cy="711200"/>
          </a:xfrm>
          <a:prstGeom prst="rect">
            <a:avLst/>
          </a:prstGeom>
        </p:spPr>
      </p:pic>
      <p:pic>
        <p:nvPicPr>
          <p:cNvPr id="3" name="Imagen 13">
            <a:extLst>
              <a:ext uri="{FF2B5EF4-FFF2-40B4-BE49-F238E27FC236}">
                <a16:creationId xmlns:a16="http://schemas.microsoft.com/office/drawing/2014/main" id="{57B46863-8923-8669-6050-FFC1273C50C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961563" y="5749925"/>
            <a:ext cx="1814512" cy="871538"/>
          </a:xfrm>
          <a:prstGeom prst="rect">
            <a:avLst/>
          </a:prstGeom>
        </p:spPr>
      </p:pic>
      <p:sp>
        <p:nvSpPr>
          <p:cNvPr id="9" name="Título 1"/>
          <p:cNvSpPr>
            <a:spLocks noGrp="1"/>
          </p:cNvSpPr>
          <p:nvPr>
            <p:ph type="ctrTitle"/>
          </p:nvPr>
        </p:nvSpPr>
        <p:spPr>
          <a:xfrm>
            <a:off x="2353235" y="2393265"/>
            <a:ext cx="7077635" cy="2393889"/>
          </a:xfrm>
        </p:spPr>
        <p:txBody>
          <a:bodyPr anchor="b">
            <a:normAutofit/>
          </a:bodyPr>
          <a:lstStyle>
            <a:lvl1pPr algn="l">
              <a:defRPr sz="8000" b="1" i="0">
                <a:solidFill>
                  <a:schemeClr val="bg1"/>
                </a:solidFill>
                <a:latin typeface="Trust Sans Bold" pitchFamily="2" charset="77"/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662436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E659041-7ADC-62BC-6910-5620613E9E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40333AB-DD6B-8268-4367-48E8155074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A3ADE5-809A-F847-849A-CF38205A1D8E}" type="datetimeFigureOut">
              <a:rPr lang="es-CR" smtClean="0"/>
              <a:t>22/1/2026</a:t>
            </a:fld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B71165C-2410-72E9-B41A-2B2E95CD3D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356CB7-7D20-A748-9388-BFDA1817F9B8}" type="slidenum">
              <a:rPr lang="es-CR" smtClean="0"/>
              <a:t>‹#›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563156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51" r:id="rId3"/>
    <p:sldLayoutId id="2147483652" r:id="rId4"/>
    <p:sldLayoutId id="2147483653" r:id="rId5"/>
    <p:sldLayoutId id="2147483659" r:id="rId6"/>
    <p:sldLayoutId id="2147483656" r:id="rId7"/>
    <p:sldLayoutId id="2147483657" r:id="rId8"/>
    <p:sldLayoutId id="2147483660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repositorioinvestigaciones.bccr.fi.cr/server/api/core/bitstreams/47d6b039-1fad-442f-bcc6-6ecf9aac28db/content" TargetMode="Externa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1007/978-3-031-37865-2" TargetMode="Externa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A37BA2ED-03A6-64B1-A460-86640E3E0D4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s-CR" sz="4800" dirty="0">
                <a:solidFill>
                  <a:schemeClr val="bg1"/>
                </a:solidFill>
              </a:rPr>
              <a:t>Teoría Estadística y Métodos Cuantitativos</a:t>
            </a:r>
            <a:endParaRPr lang="es-CR" sz="4800" dirty="0"/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22B11D00-0642-76C8-3292-F75149E5AAD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R" dirty="0"/>
              <a:t>Unidad 1. Descripción de datos</a:t>
            </a:r>
          </a:p>
          <a:p>
            <a:r>
              <a:rPr lang="es-CR" dirty="0"/>
              <a:t>Profesor: Fabián Brenes Trejos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61C7B05-9423-80AD-ABDC-E6E927A0E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Contenido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542AB4-C6E9-CFD1-1545-A52B284137FA}"/>
              </a:ext>
            </a:extLst>
          </p:cNvPr>
          <p:cNvSpPr txBox="1"/>
          <p:nvPr/>
        </p:nvSpPr>
        <p:spPr>
          <a:xfrm>
            <a:off x="932688" y="1792224"/>
            <a:ext cx="10326624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CR" sz="2000" dirty="0"/>
              <a:t>Tipos de datos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R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R" sz="2000" dirty="0"/>
              <a:t>Medidas de tendencia Central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CR" sz="2000" dirty="0"/>
              <a:t>Media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CR" sz="2000" dirty="0"/>
              <a:t>Mediana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R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R" sz="2000" dirty="0"/>
              <a:t>Medidas de dispersión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CR" sz="2000" dirty="0"/>
              <a:t>Varianza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CR" sz="2000" dirty="0"/>
              <a:t>Desviación Estándar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CR" sz="2000" dirty="0"/>
              <a:t>Coeficiente de Variación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R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R" sz="2000" dirty="0"/>
              <a:t>Medidas de Asociación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CR" sz="2000" dirty="0"/>
              <a:t>Covarianza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CR" sz="2000" dirty="0"/>
              <a:t>Coeficiente de Correlación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R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R" sz="2000" dirty="0"/>
              <a:t>Laboratorio en R</a:t>
            </a:r>
          </a:p>
        </p:txBody>
      </p:sp>
    </p:spTree>
    <p:extLst>
      <p:ext uri="{BB962C8B-B14F-4D97-AF65-F5344CB8AC3E}">
        <p14:creationId xmlns:p14="http://schemas.microsoft.com/office/powerpoint/2010/main" val="900078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DF6F5A9-F4B9-A828-47F6-7B798DBB65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32" t="4474" r="3464" b="4875"/>
          <a:stretch/>
        </p:blipFill>
        <p:spPr>
          <a:xfrm>
            <a:off x="2889503" y="1731264"/>
            <a:ext cx="6588748" cy="4876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5F6562E-530D-25CB-9D81-FADA25723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Tipos de Datos</a:t>
            </a:r>
          </a:p>
        </p:txBody>
      </p:sp>
    </p:spTree>
    <p:extLst>
      <p:ext uri="{BB962C8B-B14F-4D97-AF65-F5344CB8AC3E}">
        <p14:creationId xmlns:p14="http://schemas.microsoft.com/office/powerpoint/2010/main" val="2843089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94CE5-05FD-D6AC-578C-284D03249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Variable Aleatoria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690C4E5-81BA-2A8B-F7A4-A0DC2807B8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0611"/>
          <a:stretch/>
        </p:blipFill>
        <p:spPr>
          <a:xfrm>
            <a:off x="281906" y="2249899"/>
            <a:ext cx="11628188" cy="3334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4631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EFCA79D-595F-F16D-DC91-BF554148B3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R" dirty="0"/>
              <a:t>Medidas de tendencia Central</a:t>
            </a:r>
          </a:p>
        </p:txBody>
      </p:sp>
    </p:spTree>
    <p:extLst>
      <p:ext uri="{BB962C8B-B14F-4D97-AF65-F5344CB8AC3E}">
        <p14:creationId xmlns:p14="http://schemas.microsoft.com/office/powerpoint/2010/main" val="29289631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C7106-FCC4-5A9F-5A58-C3A4B3780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Media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E513D35-6319-4807-0E64-4955F1D31732}"/>
                  </a:ext>
                </a:extLst>
              </p:cNvPr>
              <p:cNvSpPr txBox="1"/>
              <p:nvPr/>
            </p:nvSpPr>
            <p:spPr>
              <a:xfrm>
                <a:off x="925033" y="2186678"/>
                <a:ext cx="10239153" cy="32666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endParaRPr lang="es-CR" sz="36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𝑚𝑒𝑑𝑖𝑎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R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R" sz="3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s-CR" sz="3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CR" sz="3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CR" sz="36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s-CR" sz="36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s-CR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R" sz="3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CR" sz="3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s-CR" sz="3600" dirty="0"/>
              </a:p>
              <a:p>
                <a:r>
                  <a:rPr lang="es-CR" sz="3600" b="0" dirty="0"/>
                  <a:t> </a:t>
                </a:r>
              </a:p>
              <a:p>
                <a:endParaRPr lang="es-CR" sz="36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E513D35-6319-4807-0E64-4955F1D317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033" y="2186678"/>
                <a:ext cx="10239153" cy="32666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8048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12894-DD01-73A7-3244-370A86168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70234-2ACB-5F78-F63B-8AA0BFCF5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Mediana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DD2698B-4ADF-932D-DBD5-245C50DC09F7}"/>
                  </a:ext>
                </a:extLst>
              </p:cNvPr>
              <p:cNvSpPr txBox="1"/>
              <p:nvPr/>
            </p:nvSpPr>
            <p:spPr>
              <a:xfrm>
                <a:off x="1597152" y="2186678"/>
                <a:ext cx="9692640" cy="34076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R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R" sz="3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CR" sz="3600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b>
                      </m:sSub>
                      <m:r>
                        <a:rPr lang="es-CR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s-CR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R" sz="3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d>
                            <m:dPr>
                              <m:ctrlPr>
                                <a:rPr lang="es-CR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R" sz="3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b>
                      </m:sSub>
                      <m:r>
                        <a:rPr lang="es-CR" sz="3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s-CR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…</m:t>
                      </m:r>
                      <m:sSub>
                        <m:sSubPr>
                          <m:ctrlPr>
                            <a:rPr lang="es-CR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R" sz="3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s-CR" sz="3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d>
                            <m:dPr>
                              <m:ctrlPr>
                                <a:rPr lang="es-CR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R" sz="36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</m:sub>
                      </m:sSub>
                      <m:r>
                        <a:rPr lang="es-CR" sz="36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s-CR" sz="3600" b="0" dirty="0"/>
              </a:p>
              <a:p>
                <a:endParaRPr lang="es-CR" sz="3600" b="0" dirty="0"/>
              </a:p>
              <a:p>
                <a:r>
                  <a:rPr lang="es-CR" sz="3600" b="0" dirty="0"/>
                  <a:t>Si </a:t>
                </a:r>
                <a14:m>
                  <m:oMath xmlns:m="http://schemas.openxmlformats.org/officeDocument/2006/math">
                    <m:r>
                      <a:rPr lang="es-CR" sz="36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s-CR" sz="3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CR" sz="3600" b="0" i="1" smtClean="0">
                        <a:latin typeface="Cambria Math" panose="02040503050406030204" pitchFamily="18" charset="0"/>
                      </a:rPr>
                      <m:t>𝑒𝑠</m:t>
                    </m:r>
                    <m:r>
                      <a:rPr lang="es-CR" sz="3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CR" sz="3600" b="0" i="1" smtClean="0">
                        <a:latin typeface="Cambria Math" panose="02040503050406030204" pitchFamily="18" charset="0"/>
                      </a:rPr>
                      <m:t>𝑖𝑚𝑝𝑎𝑟</m:t>
                    </m:r>
                    <m:r>
                      <a:rPr lang="es-CR" sz="36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s-CR" sz="3600" b="0" i="1" smtClean="0">
                        <a:latin typeface="Cambria Math" panose="02040503050406030204" pitchFamily="18" charset="0"/>
                      </a:rPr>
                      <m:t>𝑙𝑎</m:t>
                    </m:r>
                    <m:r>
                      <a:rPr lang="es-CR" sz="3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CR" sz="3600" b="0" i="1" smtClean="0">
                        <a:latin typeface="Cambria Math" panose="02040503050406030204" pitchFamily="18" charset="0"/>
                      </a:rPr>
                      <m:t>𝑚𝑒𝑑𝑖𝑎𝑛𝑎</m:t>
                    </m:r>
                    <m:r>
                      <a:rPr lang="es-CR" sz="3600" b="0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s-CR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R" sz="3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s-CR" sz="3600" i="1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s-CR" sz="36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CR" sz="3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s-CR" sz="36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num>
                          <m:den>
                            <m:r>
                              <a:rPr lang="es-CR" sz="3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s-CR" sz="3600" i="1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</m:oMath>
                </a14:m>
                <a:endParaRPr lang="es-CR" sz="3600" dirty="0"/>
              </a:p>
              <a:p>
                <a:r>
                  <a:rPr lang="es-CR" sz="3600" b="0" dirty="0"/>
                  <a:t> </a:t>
                </a:r>
              </a:p>
              <a:p>
                <a:r>
                  <a:rPr lang="es-CR" sz="3600" b="0" dirty="0"/>
                  <a:t>Si </a:t>
                </a:r>
                <a14:m>
                  <m:oMath xmlns:m="http://schemas.openxmlformats.org/officeDocument/2006/math">
                    <m:r>
                      <a:rPr lang="es-CR" sz="36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s-CR" sz="3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CR" sz="3600" b="0" i="1" smtClean="0">
                        <a:latin typeface="Cambria Math" panose="02040503050406030204" pitchFamily="18" charset="0"/>
                      </a:rPr>
                      <m:t>𝑒𝑠</m:t>
                    </m:r>
                    <m:r>
                      <a:rPr lang="es-CR" sz="3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CR" sz="3600" b="0" i="1" smtClean="0">
                        <a:latin typeface="Cambria Math" panose="02040503050406030204" pitchFamily="18" charset="0"/>
                      </a:rPr>
                      <m:t>𝑝𝑎𝑟</m:t>
                    </m:r>
                    <m:r>
                      <a:rPr lang="es-CR" sz="36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s-CR" sz="3600" b="0" i="1" smtClean="0">
                        <a:latin typeface="Cambria Math" panose="02040503050406030204" pitchFamily="18" charset="0"/>
                      </a:rPr>
                      <m:t>𝑙𝑎</m:t>
                    </m:r>
                    <m:r>
                      <a:rPr lang="es-CR" sz="3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CR" sz="3600" b="0" i="1" smtClean="0">
                        <a:latin typeface="Cambria Math" panose="02040503050406030204" pitchFamily="18" charset="0"/>
                      </a:rPr>
                      <m:t>𝑚𝑒𝑑𝑖𝑎𝑛𝑎</m:t>
                    </m:r>
                    <m:r>
                      <a:rPr lang="es-CR" sz="3600" b="0" i="1" smtClean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ctrlPr>
                          <a:rPr lang="es-CR" sz="3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CR" sz="3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R" sz="3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CR" sz="36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f>
                              <m:fPr>
                                <m:ctrlPr>
                                  <a:rPr lang="es-CR" sz="36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s-CR" sz="3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s-CR" sz="3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s-CR" sz="36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sub>
                        </m:sSub>
                        <m:r>
                          <a:rPr lang="es-CR" sz="36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s-CR" sz="3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R" sz="36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s-CR" sz="3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d>
                              <m:dPr>
                                <m:ctrlPr>
                                  <a:rPr lang="es-CR" sz="360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s-CR" sz="36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s-CR" sz="36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r>
                                      <a:rPr lang="es-CR" sz="36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s-CR" sz="3600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</m:sub>
                        </m:sSub>
                      </m:e>
                    </m:d>
                  </m:oMath>
                </a14:m>
                <a:endParaRPr lang="es-CR" sz="36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E513D35-6319-4807-0E64-4955F1D317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7152" y="2186678"/>
                <a:ext cx="9692640" cy="3407664"/>
              </a:xfrm>
              <a:prstGeom prst="rect">
                <a:avLst/>
              </a:prstGeom>
              <a:blipFill>
                <a:blip r:embed="rId2"/>
                <a:stretch>
                  <a:fillRect l="-1887"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63831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5BD09-C1A3-0553-BF7E-8A0C74E2F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Para datos económicos ¿cuál es de estos dos es mejor utilizar?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5FE805BF-EC39-20A1-7321-D682AC88C34D}"/>
              </a:ext>
            </a:extLst>
          </p:cNvPr>
          <p:cNvSpPr txBox="1">
            <a:spLocks/>
          </p:cNvSpPr>
          <p:nvPr/>
        </p:nvSpPr>
        <p:spPr>
          <a:xfrm>
            <a:off x="531628" y="2414015"/>
            <a:ext cx="10398642" cy="3389377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Del </a:t>
            </a:r>
            <a:r>
              <a:rPr lang="en-US" dirty="0" err="1"/>
              <a:t>objetivo</a:t>
            </a:r>
            <a:r>
              <a:rPr lang="en-US" dirty="0"/>
              <a:t> del </a:t>
            </a:r>
            <a:r>
              <a:rPr lang="en-US" dirty="0" err="1"/>
              <a:t>análisis</a:t>
            </a:r>
            <a:endParaRPr lang="en-US" dirty="0"/>
          </a:p>
          <a:p>
            <a:endParaRPr lang="en-US" dirty="0"/>
          </a:p>
          <a:p>
            <a:r>
              <a:rPr lang="en-US" dirty="0"/>
              <a:t>De la </a:t>
            </a:r>
            <a:r>
              <a:rPr lang="en-US" dirty="0" err="1"/>
              <a:t>distribución</a:t>
            </a:r>
            <a:r>
              <a:rPr lang="en-US" dirty="0"/>
              <a:t> de los </a:t>
            </a:r>
            <a:r>
              <a:rPr lang="en-US" dirty="0" err="1"/>
              <a:t>datos</a:t>
            </a:r>
            <a:endParaRPr lang="en-US" dirty="0"/>
          </a:p>
          <a:p>
            <a:endParaRPr lang="en-US" dirty="0"/>
          </a:p>
          <a:p>
            <a:r>
              <a:rPr lang="en-US" dirty="0"/>
              <a:t>Del </a:t>
            </a:r>
            <a:r>
              <a:rPr lang="en-US" dirty="0" err="1"/>
              <a:t>público</a:t>
            </a:r>
            <a:r>
              <a:rPr lang="en-US" dirty="0"/>
              <a:t> con </a:t>
            </a:r>
            <a:r>
              <a:rPr lang="en-US" dirty="0" err="1"/>
              <a:t>el</a:t>
            </a:r>
            <a:r>
              <a:rPr lang="en-US" dirty="0"/>
              <a:t> que se </a:t>
            </a:r>
            <a:r>
              <a:rPr lang="en-US" dirty="0" err="1"/>
              <a:t>está</a:t>
            </a:r>
            <a:r>
              <a:rPr lang="en-US" dirty="0"/>
              <a:t> </a:t>
            </a:r>
            <a:r>
              <a:rPr lang="en-US" dirty="0" err="1"/>
              <a:t>interactuando</a:t>
            </a:r>
            <a:endParaRPr lang="en-US" dirty="0"/>
          </a:p>
          <a:p>
            <a:endParaRPr lang="en-US" dirty="0"/>
          </a:p>
          <a:p>
            <a:r>
              <a:rPr lang="en-US" dirty="0"/>
              <a:t>Del </a:t>
            </a:r>
            <a:r>
              <a:rPr lang="en-US" dirty="0" err="1"/>
              <a:t>tipo</a:t>
            </a:r>
            <a:r>
              <a:rPr lang="en-US" dirty="0"/>
              <a:t> de </a:t>
            </a:r>
            <a:r>
              <a:rPr lang="en-US" dirty="0" err="1"/>
              <a:t>datos</a:t>
            </a:r>
            <a:r>
              <a:rPr lang="en-US" dirty="0"/>
              <a:t> que se </a:t>
            </a:r>
            <a:r>
              <a:rPr lang="en-US" dirty="0" err="1"/>
              <a:t>está</a:t>
            </a:r>
            <a:r>
              <a:rPr lang="en-US" dirty="0"/>
              <a:t> </a:t>
            </a:r>
            <a:r>
              <a:rPr lang="en-US" dirty="0" err="1"/>
              <a:t>analizando</a:t>
            </a:r>
            <a:endParaRPr lang="en-US" dirty="0"/>
          </a:p>
          <a:p>
            <a:pPr marL="0" indent="0">
              <a:buNone/>
            </a:pPr>
            <a:endParaRPr lang="es-CR" dirty="0"/>
          </a:p>
          <a:p>
            <a:pPr marL="457200" lvl="1" indent="0">
              <a:buFont typeface="Arial" panose="020B0604020202020204" pitchFamily="34" charset="0"/>
              <a:buNone/>
            </a:pP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1621486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1AB519F-F87F-2A31-EBC1-5A34A1ED9E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R" dirty="0"/>
              <a:t>Medidas de Dispersión</a:t>
            </a:r>
          </a:p>
        </p:txBody>
      </p:sp>
    </p:spTree>
    <p:extLst>
      <p:ext uri="{BB962C8B-B14F-4D97-AF65-F5344CB8AC3E}">
        <p14:creationId xmlns:p14="http://schemas.microsoft.com/office/powerpoint/2010/main" val="6061847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E1BDF20-C539-9F00-7CA4-212EE13F7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Varianza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3EF4F5B-7A18-BEDB-5DCB-C1CD995B277D}"/>
                  </a:ext>
                </a:extLst>
              </p:cNvPr>
              <p:cNvSpPr txBox="1"/>
              <p:nvPr/>
            </p:nvSpPr>
            <p:spPr>
              <a:xfrm>
                <a:off x="1389746" y="2279199"/>
                <a:ext cx="9083324" cy="19407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R" sz="4400" b="0" i="1" smtClean="0">
                          <a:latin typeface="Cambria Math" panose="02040503050406030204" pitchFamily="18" charset="0"/>
                        </a:rPr>
                        <m:t>𝑣𝑎𝑟</m:t>
                      </m:r>
                      <m:d>
                        <m:dPr>
                          <m:ctrlPr>
                            <a:rPr lang="es-CR" sz="4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R" sz="4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CR" sz="4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CR" sz="4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R" sz="4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s-CR" sz="4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CR" sz="4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R" sz="4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R" sz="4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CR" sz="4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s-CR" sz="4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s-CR" sz="4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CR" sz="4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CR" sz="4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s-CR" sz="4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s-CR" sz="4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CR" sz="4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CR" sz="4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R" sz="4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s-CR" sz="4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s-CR" sz="44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s-CR" sz="4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s-CR" sz="44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s-CR" sz="4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s-CR" sz="4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3EF4F5B-7A18-BEDB-5DCB-C1CD995B27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9746" y="2279199"/>
                <a:ext cx="9083324" cy="194072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21371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22E21-E56F-7726-9462-3E00966F7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Otras medidas de Dispersión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90671C5-C8BE-53E2-EA17-9F9349CE4943}"/>
                  </a:ext>
                </a:extLst>
              </p:cNvPr>
              <p:cNvSpPr txBox="1"/>
              <p:nvPr/>
            </p:nvSpPr>
            <p:spPr>
              <a:xfrm>
                <a:off x="847343" y="2239328"/>
                <a:ext cx="10497312" cy="33438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R" sz="3200" b="0" i="1" smtClean="0">
                          <a:latin typeface="Cambria Math" panose="02040503050406030204" pitchFamily="18" charset="0"/>
                        </a:rPr>
                        <m:t>𝐷𝑒𝑠𝑣𝑖𝑎𝑐𝑖</m:t>
                      </m:r>
                      <m:r>
                        <a:rPr lang="es-CR" sz="3200" b="0" i="1" smtClean="0">
                          <a:latin typeface="Cambria Math" panose="02040503050406030204" pitchFamily="18" charset="0"/>
                        </a:rPr>
                        <m:t>ó</m:t>
                      </m:r>
                      <m:r>
                        <a:rPr lang="es-CR" sz="32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s-CR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CR" sz="3200" b="0" i="1" smtClean="0">
                          <a:latin typeface="Cambria Math" panose="02040503050406030204" pitchFamily="18" charset="0"/>
                        </a:rPr>
                        <m:t>𝐸𝑠𝑡</m:t>
                      </m:r>
                      <m:r>
                        <a:rPr lang="es-CR" sz="3200" b="0" i="1" smtClean="0">
                          <a:latin typeface="Cambria Math" panose="02040503050406030204" pitchFamily="18" charset="0"/>
                        </a:rPr>
                        <m:t>á</m:t>
                      </m:r>
                      <m:r>
                        <a:rPr lang="es-CR" sz="3200" b="0" i="1" smtClean="0">
                          <a:latin typeface="Cambria Math" panose="02040503050406030204" pitchFamily="18" charset="0"/>
                        </a:rPr>
                        <m:t>𝑛𝑑𝑎𝑟</m:t>
                      </m:r>
                      <m:r>
                        <a:rPr lang="es-CR" sz="3200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s-CR" sz="3200" b="0" i="1" smtClean="0">
                          <a:latin typeface="Cambria Math" panose="02040503050406030204" pitchFamily="18" charset="0"/>
                        </a:rPr>
                        <m:t>𝑠𝑑</m:t>
                      </m:r>
                      <m:d>
                        <m:dPr>
                          <m:ctrlPr>
                            <a:rPr lang="es-CR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R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s-CR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R" sz="32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s-CR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CR" sz="32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s-CR" sz="3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CR" sz="3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s-CR" sz="3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s-CR" sz="32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s-CR" sz="3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s-CR" sz="3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s-CR" sz="32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s-CR" sz="3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s-CR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s-CR" sz="3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s-CR" sz="3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CR" sz="32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s-CR" sz="32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s-CR" sz="32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s-CR" sz="3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s-CR" sz="32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s-CR" sz="3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rad>
                    </m:oMath>
                  </m:oMathPara>
                </a14:m>
                <a:endParaRPr lang="es-CR" sz="3200" dirty="0"/>
              </a:p>
              <a:p>
                <a:endParaRPr lang="es-CR" sz="3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R" sz="3200" b="0" i="1" smtClean="0">
                          <a:latin typeface="Cambria Math" panose="02040503050406030204" pitchFamily="18" charset="0"/>
                        </a:rPr>
                        <m:t>𝐶𝑜𝑒𝑓𝑖𝑐𝑖𝑒𝑛𝑡𝑒</m:t>
                      </m:r>
                      <m:r>
                        <a:rPr lang="es-CR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CR" sz="3200" b="0" i="1" smtClean="0">
                          <a:latin typeface="Cambria Math" panose="02040503050406030204" pitchFamily="18" charset="0"/>
                        </a:rPr>
                        <m:t>𝑑𝑒</m:t>
                      </m:r>
                      <m:r>
                        <a:rPr lang="es-CR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CR" sz="3200" b="0" i="1" smtClean="0">
                          <a:latin typeface="Cambria Math" panose="02040503050406030204" pitchFamily="18" charset="0"/>
                        </a:rPr>
                        <m:t>𝑉𝑎𝑟𝑖𝑎𝑐𝑖</m:t>
                      </m:r>
                      <m:r>
                        <a:rPr lang="es-CR" sz="3200" b="0" i="1" smtClean="0">
                          <a:latin typeface="Cambria Math" panose="02040503050406030204" pitchFamily="18" charset="0"/>
                        </a:rPr>
                        <m:t>ó</m:t>
                      </m:r>
                      <m:r>
                        <a:rPr lang="es-CR" sz="32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s-CR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R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R" sz="32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num>
                        <m:den>
                          <m:acc>
                            <m:accPr>
                              <m:chr m:val="̅"/>
                              <m:ctrlPr>
                                <a:rPr lang="es-CR" sz="3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CR" sz="3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den>
                      </m:f>
                    </m:oMath>
                  </m:oMathPara>
                </a14:m>
                <a:endParaRPr lang="es-CR" sz="32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90671C5-C8BE-53E2-EA17-9F9349CE49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343" y="2239328"/>
                <a:ext cx="10497312" cy="334386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38966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ABB49-D599-7EE1-619D-05D5DA02C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87AFFC1-E2FC-89F7-B514-82BE053890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R" dirty="0"/>
              <a:t>Medidas de Asociación</a:t>
            </a:r>
          </a:p>
        </p:txBody>
      </p:sp>
    </p:spTree>
    <p:extLst>
      <p:ext uri="{BB962C8B-B14F-4D97-AF65-F5344CB8AC3E}">
        <p14:creationId xmlns:p14="http://schemas.microsoft.com/office/powerpoint/2010/main" val="3261192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0888D-7ED0-165B-D78F-488387C50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Covarianza</a:t>
            </a:r>
            <a:endParaRPr lang="es-C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7DA087D-B291-505D-2FE3-072751D0DBCC}"/>
                  </a:ext>
                </a:extLst>
              </p:cNvPr>
              <p:cNvSpPr txBox="1"/>
              <p:nvPr/>
            </p:nvSpPr>
            <p:spPr>
              <a:xfrm>
                <a:off x="1389746" y="2279199"/>
                <a:ext cx="9083324" cy="19407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R" sz="4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R" sz="4400" i="1">
                              <a:latin typeface="Cambria Math" panose="02040503050406030204" pitchFamily="18" charset="0"/>
                            </a:rPr>
                            <m:t>𝑐𝑜𝑣𝑎𝑟</m:t>
                          </m:r>
                        </m:e>
                        <m:sub>
                          <m:r>
                            <a:rPr lang="es-CR" sz="4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CR" sz="4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CR" sz="4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s-CR" sz="4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R" sz="4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R" sz="4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s-CR" sz="4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s-CR" sz="4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s-CR" sz="4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CR" sz="4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CR" sz="4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s-CR" sz="4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es-CR" sz="4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CR" sz="4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CR" sz="4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s-CR" sz="4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s-CR" sz="4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s-CR" sz="4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CR" sz="4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</m:d>
                          <m:d>
                            <m:dPr>
                              <m:ctrlPr>
                                <a:rPr lang="es-CR" sz="4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CR" sz="4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CR" sz="4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s-CR" sz="4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s-CR" sz="4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s-CR" sz="4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CR" sz="4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</m:d>
                        </m:e>
                      </m:nary>
                    </m:oMath>
                  </m:oMathPara>
                </a14:m>
                <a:endParaRPr lang="es-CR" sz="4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7DA087D-B291-505D-2FE3-072751D0DB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9746" y="2279199"/>
                <a:ext cx="9083324" cy="194072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57714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C1042-DAF2-5E13-62D2-FB1264D8A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Coeficiente de Correlación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1C2C8F7-9197-2EA1-7203-0596AF39839A}"/>
                  </a:ext>
                </a:extLst>
              </p:cNvPr>
              <p:cNvSpPr txBox="1"/>
              <p:nvPr/>
            </p:nvSpPr>
            <p:spPr>
              <a:xfrm>
                <a:off x="632666" y="2658074"/>
                <a:ext cx="10693702" cy="12682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𝑜</m:t>
                      </m:r>
                      <m:r>
                        <a:rPr lang="es-CR" sz="3200" b="0" i="1" smtClean="0">
                          <a:latin typeface="Cambria Math" panose="02040503050406030204" pitchFamily="18" charset="0"/>
                        </a:rPr>
                        <m:t>𝑟𝑟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s-CR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R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es-CR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R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R" sz="3200" b="0" i="1" smtClean="0">
                              <a:latin typeface="Cambria Math" panose="02040503050406030204" pitchFamily="18" charset="0"/>
                            </a:rPr>
                            <m:t>𝐶𝑜𝑣</m:t>
                          </m:r>
                          <m:d>
                            <m:dPr>
                              <m:ctrlPr>
                                <a:rPr lang="es-CR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R" sz="32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s-CR" sz="3200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s-CR" sz="32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s-CR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s-CR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𝑉𝑎𝑟</m:t>
                              </m:r>
                              <m:d>
                                <m:dPr>
                                  <m:ctrlPr>
                                    <a:rPr lang="es-CR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CR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  <m:r>
                                <a:rPr lang="es-CR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𝑉𝑎𝑟</m:t>
                              </m:r>
                              <m:r>
                                <a:rPr lang="es-CR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s-CR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s-CR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s-CR" sz="32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1C2C8F7-9197-2EA1-7203-0596AF3983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666" y="2658074"/>
                <a:ext cx="10693702" cy="126829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7592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D71DA61-1749-C9E7-0EBC-7568010B35C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R" dirty="0"/>
              <a:t>Vamos a R….</a:t>
            </a:r>
          </a:p>
        </p:txBody>
      </p:sp>
    </p:spTree>
    <p:extLst>
      <p:ext uri="{BB962C8B-B14F-4D97-AF65-F5344CB8AC3E}">
        <p14:creationId xmlns:p14="http://schemas.microsoft.com/office/powerpoint/2010/main" val="19060732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1855D89-8E7A-CA24-4805-03392C913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R" dirty="0"/>
              <a:t>Transmisión de la tasa de política monetaria al mercado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F0ED2F-8382-6BBD-7399-A6E2FC196E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1628" y="1818167"/>
            <a:ext cx="10398642" cy="3985226"/>
          </a:xfrm>
        </p:spPr>
        <p:txBody>
          <a:bodyPr>
            <a:normAutofit fontScale="70000" lnSpcReduction="20000"/>
          </a:bodyPr>
          <a:lstStyle/>
          <a:p>
            <a:r>
              <a:rPr lang="es-CR" dirty="0"/>
              <a:t>Tasa de política monetaria es el principal instrumento del BCCR</a:t>
            </a:r>
          </a:p>
          <a:p>
            <a:endParaRPr lang="es-CR" dirty="0"/>
          </a:p>
          <a:p>
            <a:r>
              <a:rPr lang="es-CR" dirty="0"/>
              <a:t>Estudios demuestran que los movimientos de esta tasa, no son completos y tienen un rezago en las tasas de mercado</a:t>
            </a:r>
          </a:p>
          <a:p>
            <a:endParaRPr lang="es-CR" dirty="0"/>
          </a:p>
          <a:p>
            <a:r>
              <a:rPr lang="es-CR" dirty="0"/>
              <a:t>Factores que influyen en este comportamiento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Dolarizaci</a:t>
            </a:r>
            <a:r>
              <a:rPr lang="es-CR" dirty="0" err="1"/>
              <a:t>ón</a:t>
            </a:r>
            <a:r>
              <a:rPr lang="es-CR" dirty="0"/>
              <a:t> de la economía </a:t>
            </a:r>
          </a:p>
          <a:p>
            <a:pPr lvl="1"/>
            <a:r>
              <a:rPr lang="es-CR" dirty="0"/>
              <a:t>Nivel de competencia en el mercado de mercado</a:t>
            </a:r>
          </a:p>
          <a:p>
            <a:pPr lvl="1"/>
            <a:r>
              <a:rPr lang="es-CR" dirty="0"/>
              <a:t>Nivel de endeudamiento público</a:t>
            </a:r>
          </a:p>
          <a:p>
            <a:pPr lvl="1"/>
            <a:r>
              <a:rPr lang="es-CR" dirty="0"/>
              <a:t>Déficit del BCCR</a:t>
            </a:r>
          </a:p>
          <a:p>
            <a:endParaRPr lang="es-CR" dirty="0"/>
          </a:p>
          <a:p>
            <a:r>
              <a:rPr lang="es-CR" dirty="0"/>
              <a:t>Mayor información en este enlace</a:t>
            </a:r>
            <a:r>
              <a:rPr lang="en-US" dirty="0"/>
              <a:t>: </a:t>
            </a:r>
            <a:r>
              <a:rPr lang="en-US" dirty="0">
                <a:hlinkClick r:id="rId2"/>
              </a:rPr>
              <a:t>https://repositorioinvestigaciones.bccr.fi.cr/server/api/core/bitstreams/47d6b039-1fad-442f-bcc6-6ecf9aac28db/content</a:t>
            </a:r>
            <a:endParaRPr lang="en-US" dirty="0"/>
          </a:p>
          <a:p>
            <a:endParaRPr lang="es-CR" dirty="0"/>
          </a:p>
          <a:p>
            <a:pPr marL="457200" lvl="1" indent="0">
              <a:buNone/>
            </a:pP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6076003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EC8D5-5DA1-6272-AD6B-F372D3C639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Ejercicio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35226887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47963-9847-D956-EC01-6D075D5EF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R" dirty="0"/>
              <a:t>Bibliografía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1C764F-3023-9E9E-4783-CDF2241DDB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2067983"/>
            <a:ext cx="10336877" cy="3735410"/>
          </a:xfrm>
        </p:spPr>
        <p:txBody>
          <a:bodyPr/>
          <a:lstStyle/>
          <a:p>
            <a:r>
              <a:rPr lang="en-US" b="0" i="0" dirty="0">
                <a:solidFill>
                  <a:srgbClr val="373A3C"/>
                </a:solidFill>
                <a:effectLst/>
                <a:latin typeface="Source Sans Pro" panose="020B0503030403020204" pitchFamily="34" charset="0"/>
              </a:rPr>
              <a:t>Hogg, Robert V.., Elliot A.. Tanis, and Dale L.. Zimmerman. 2015. </a:t>
            </a:r>
            <a:r>
              <a:rPr lang="en-US" b="0" i="1" dirty="0">
                <a:solidFill>
                  <a:srgbClr val="373A3C"/>
                </a:solidFill>
                <a:effectLst/>
                <a:latin typeface="Source Sans Pro" panose="020B0503030403020204" pitchFamily="34" charset="0"/>
              </a:rPr>
              <a:t>Probability and Statistical Inference</a:t>
            </a:r>
            <a:r>
              <a:rPr lang="en-US" b="0" i="0" dirty="0">
                <a:solidFill>
                  <a:srgbClr val="373A3C"/>
                </a:solidFill>
                <a:effectLst/>
                <a:latin typeface="Source Sans Pro" panose="020B0503030403020204" pitchFamily="34" charset="0"/>
              </a:rPr>
              <a:t>. Pearson</a:t>
            </a:r>
          </a:p>
          <a:p>
            <a:endParaRPr lang="en-US" dirty="0">
              <a:solidFill>
                <a:srgbClr val="373A3C"/>
              </a:solidFill>
              <a:latin typeface="Source Sans Pro" panose="020B0503030403020204" pitchFamily="34" charset="0"/>
            </a:endParaRPr>
          </a:p>
          <a:p>
            <a:r>
              <a:rPr lang="en-US" b="0" i="0" dirty="0">
                <a:solidFill>
                  <a:srgbClr val="373A3C"/>
                </a:solidFill>
                <a:effectLst/>
                <a:latin typeface="Source Sans Pro" panose="020B0503030403020204" pitchFamily="34" charset="0"/>
              </a:rPr>
              <a:t>Sahu, Sujit K. 2024. </a:t>
            </a:r>
            <a:r>
              <a:rPr lang="en-US" b="0" i="1" dirty="0">
                <a:solidFill>
                  <a:srgbClr val="373A3C"/>
                </a:solidFill>
                <a:effectLst/>
                <a:latin typeface="Source Sans Pro" panose="020B0503030403020204" pitchFamily="34" charset="0"/>
              </a:rPr>
              <a:t>Introduction to Probability, Statistics &amp; r</a:t>
            </a:r>
            <a:r>
              <a:rPr lang="en-US" b="0" i="0" dirty="0">
                <a:solidFill>
                  <a:srgbClr val="373A3C"/>
                </a:solidFill>
                <a:effectLst/>
                <a:latin typeface="Source Sans Pro" panose="020B0503030403020204" pitchFamily="34" charset="0"/>
              </a:rPr>
              <a:t>. </a:t>
            </a:r>
            <a:r>
              <a:rPr lang="en-US" b="0" i="1" dirty="0">
                <a:solidFill>
                  <a:srgbClr val="373A3C"/>
                </a:solidFill>
                <a:effectLst/>
                <a:latin typeface="Source Sans Pro" panose="020B0503030403020204" pitchFamily="34" charset="0"/>
              </a:rPr>
              <a:t>Introduction to Probability, Statistics &amp; R</a:t>
            </a:r>
            <a:r>
              <a:rPr lang="en-US" b="0" i="0" dirty="0">
                <a:solidFill>
                  <a:srgbClr val="373A3C"/>
                </a:solidFill>
                <a:effectLst/>
                <a:latin typeface="Source Sans Pro" panose="020B0503030403020204" pitchFamily="34" charset="0"/>
              </a:rPr>
              <a:t>. Springer International Publishing. </a:t>
            </a:r>
            <a:r>
              <a:rPr lang="en-US" b="0" i="0" u="sng" dirty="0">
                <a:effectLst/>
                <a:latin typeface="Source Sans Pro" panose="020B0503030403020204" pitchFamily="34" charset="0"/>
                <a:hlinkClick r:id="rId2"/>
              </a:rPr>
              <a:t>https://doi.org/10.1007/978-3-031-37865-2</a:t>
            </a:r>
            <a:r>
              <a:rPr lang="en-US" b="0" i="0" dirty="0">
                <a:solidFill>
                  <a:srgbClr val="373A3C"/>
                </a:solidFill>
                <a:effectLst/>
                <a:latin typeface="Source Sans Pro" panose="020B0503030403020204" pitchFamily="34" charset="0"/>
              </a:rPr>
              <a:t>.</a:t>
            </a:r>
            <a:endParaRPr lang="es-CR" dirty="0"/>
          </a:p>
        </p:txBody>
      </p:sp>
    </p:spTree>
    <p:extLst>
      <p:ext uri="{BB962C8B-B14F-4D97-AF65-F5344CB8AC3E}">
        <p14:creationId xmlns:p14="http://schemas.microsoft.com/office/powerpoint/2010/main" val="2728612513"/>
      </p:ext>
    </p:extLst>
  </p:cSld>
  <p:clrMapOvr>
    <a:masterClrMapping/>
  </p:clrMapOvr>
</p:sld>
</file>

<file path=ppt/theme/theme1.xml><?xml version="1.0" encoding="utf-8"?>
<a:theme xmlns:a="http://schemas.openxmlformats.org/drawingml/2006/main" name="Fidélitas 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5925</TotalTime>
  <Words>340</Words>
  <Application>Microsoft Office PowerPoint</Application>
  <PresentationFormat>Widescreen</PresentationFormat>
  <Paragraphs>71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Calibri</vt:lpstr>
      <vt:lpstr>Cambria Math</vt:lpstr>
      <vt:lpstr>Source Sans Pro</vt:lpstr>
      <vt:lpstr>Trust Sans</vt:lpstr>
      <vt:lpstr>Trust Sans Black</vt:lpstr>
      <vt:lpstr>Trust Sans Bold</vt:lpstr>
      <vt:lpstr>Fidélitas </vt:lpstr>
      <vt:lpstr>Teoría Estadística y Métodos Cuantitativos</vt:lpstr>
      <vt:lpstr>Contenido</vt:lpstr>
      <vt:lpstr>Tipos de Datos</vt:lpstr>
      <vt:lpstr>Variable Aleatoria</vt:lpstr>
      <vt:lpstr>Medidas de tendencia Central</vt:lpstr>
      <vt:lpstr>Media</vt:lpstr>
      <vt:lpstr>Mediana</vt:lpstr>
      <vt:lpstr>Para datos económicos ¿cuál es de estos dos es mejor utilizar?</vt:lpstr>
      <vt:lpstr>Medidas de Dispersión</vt:lpstr>
      <vt:lpstr>Varianza</vt:lpstr>
      <vt:lpstr>Otras medidas de Dispersión</vt:lpstr>
      <vt:lpstr>Medidas de Asociación</vt:lpstr>
      <vt:lpstr>Covarianza</vt:lpstr>
      <vt:lpstr>Coeficiente de Correlación</vt:lpstr>
      <vt:lpstr>Vamos a R….</vt:lpstr>
      <vt:lpstr>Transmisión de la tasa de política monetaria al mercado</vt:lpstr>
      <vt:lpstr>Ejercicio</vt:lpstr>
      <vt:lpstr>Bibliografía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</dc:title>
  <dc:creator>Fiorella Chacón Morales</dc:creator>
  <cp:lastModifiedBy>Fabian Brenes</cp:lastModifiedBy>
  <cp:revision>23</cp:revision>
  <dcterms:created xsi:type="dcterms:W3CDTF">2023-02-23T21:29:48Z</dcterms:created>
  <dcterms:modified xsi:type="dcterms:W3CDTF">2026-01-22T16:25:58Z</dcterms:modified>
</cp:coreProperties>
</file>