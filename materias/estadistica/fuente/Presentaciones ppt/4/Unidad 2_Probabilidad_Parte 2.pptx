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notesSlides/notesSlide1.xml" ContentType="application/vnd.openxmlformats-officedocument.presentationml.notesSlide+xml"/>
  <Override PartName="/ppt/webextensions/webextension6.xml" ContentType="application/vnd.ms-office.webextension+xml"/>
  <Override PartName="/ppt/webextensions/webextension7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382" r:id="rId3"/>
    <p:sldId id="425" r:id="rId4"/>
    <p:sldId id="426" r:id="rId5"/>
    <p:sldId id="446" r:id="rId6"/>
    <p:sldId id="447" r:id="rId7"/>
    <p:sldId id="448" r:id="rId8"/>
    <p:sldId id="432" r:id="rId9"/>
    <p:sldId id="433" r:id="rId10"/>
    <p:sldId id="435" r:id="rId11"/>
    <p:sldId id="449" r:id="rId12"/>
    <p:sldId id="436" r:id="rId13"/>
    <p:sldId id="437" r:id="rId14"/>
    <p:sldId id="438" r:id="rId15"/>
    <p:sldId id="450" r:id="rId16"/>
    <p:sldId id="440" r:id="rId17"/>
    <p:sldId id="451" r:id="rId18"/>
    <p:sldId id="452" r:id="rId19"/>
    <p:sldId id="439" r:id="rId20"/>
    <p:sldId id="455" r:id="rId21"/>
    <p:sldId id="453" r:id="rId22"/>
    <p:sldId id="456" r:id="rId23"/>
    <p:sldId id="454" r:id="rId24"/>
    <p:sldId id="457" r:id="rId25"/>
    <p:sldId id="458" r:id="rId26"/>
    <p:sldId id="459" r:id="rId27"/>
    <p:sldId id="460" r:id="rId28"/>
    <p:sldId id="461" r:id="rId29"/>
    <p:sldId id="462" r:id="rId30"/>
    <p:sldId id="463" r:id="rId31"/>
    <p:sldId id="464" r:id="rId32"/>
    <p:sldId id="422" r:id="rId33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9F"/>
    <a:srgbClr val="000000"/>
    <a:srgbClr val="E31D93"/>
    <a:srgbClr val="FFD600"/>
    <a:srgbClr val="00B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2E11A9-C6E4-44D9-8142-A1B6CE877876}" v="1928" dt="2026-06-06T02:25:35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9"/>
    <p:restoredTop sz="92218" autoAdjust="0"/>
  </p:normalViewPr>
  <p:slideViewPr>
    <p:cSldViewPr snapToGrid="0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Brenes" userId="0a98a788-2542-4baf-b081-64ee1e965425" providerId="ADAL" clId="{3D44E08D-C675-4D64-922C-0261EF110F0B}"/>
    <pc:docChg chg="delSld modSld">
      <pc:chgData name="Fabian Brenes" userId="0a98a788-2542-4baf-b081-64ee1e965425" providerId="ADAL" clId="{3D44E08D-C675-4D64-922C-0261EF110F0B}" dt="2026-06-06T00:02:58.623" v="3" actId="47"/>
      <pc:docMkLst>
        <pc:docMk/>
      </pc:docMkLst>
      <pc:sldChg chg="modSp mod">
        <pc:chgData name="Fabian Brenes" userId="0a98a788-2542-4baf-b081-64ee1e965425" providerId="ADAL" clId="{3D44E08D-C675-4D64-922C-0261EF110F0B}" dt="2026-06-06T00:02:55.672" v="2" actId="5793"/>
        <pc:sldMkLst>
          <pc:docMk/>
          <pc:sldMk cId="900078694" sldId="382"/>
        </pc:sldMkLst>
        <pc:spChg chg="mod">
          <ac:chgData name="Fabian Brenes" userId="0a98a788-2542-4baf-b081-64ee1e965425" providerId="ADAL" clId="{3D44E08D-C675-4D64-922C-0261EF110F0B}" dt="2026-06-06T00:02:55.672" v="2" actId="5793"/>
          <ac:spMkLst>
            <pc:docMk/>
            <pc:sldMk cId="900078694" sldId="382"/>
            <ac:spMk id="5" creationId="{6D542AB4-C6E9-CFD1-1545-A52B284137FA}"/>
          </ac:spMkLst>
        </pc:spChg>
      </pc:sldChg>
      <pc:sldChg chg="del">
        <pc:chgData name="Fabian Brenes" userId="0a98a788-2542-4baf-b081-64ee1e965425" providerId="ADAL" clId="{3D44E08D-C675-4D64-922C-0261EF110F0B}" dt="2026-06-06T00:02:58.623" v="3" actId="47"/>
        <pc:sldMkLst>
          <pc:docMk/>
          <pc:sldMk cId="2258715718" sldId="445"/>
        </pc:sldMkLst>
      </pc:sldChg>
      <pc:sldChg chg="del">
        <pc:chgData name="Fabian Brenes" userId="0a98a788-2542-4baf-b081-64ee1e965425" providerId="ADAL" clId="{3D44E08D-C675-4D64-922C-0261EF110F0B}" dt="2026-06-06T00:02:39.167" v="0" actId="2696"/>
        <pc:sldMkLst>
          <pc:docMk/>
          <pc:sldMk cId="2938256236" sldId="4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90E02-228F-4EE4-B8DB-40CD5C605F12}" type="datetimeFigureOut">
              <a:rPr lang="es-CR" smtClean="0"/>
              <a:t>4/6/2026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78745-B1E6-4434-BB1A-E7B3F7352ADB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318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78745-B1E6-4434-BB1A-E7B3F7352ADB}" type="slidenum">
              <a:rPr lang="es-CR" smtClean="0"/>
              <a:t>19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4687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5F2A3D7-D255-7DCD-6AEE-4A3CB82FF3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435" t="3287" b="3287"/>
          <a:stretch/>
        </p:blipFill>
        <p:spPr>
          <a:xfrm>
            <a:off x="0" y="2494722"/>
            <a:ext cx="2600946" cy="95681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5F754BB-255D-0FE5-FB11-2E7D44DB33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6443" y="1176898"/>
            <a:ext cx="7794913" cy="22521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Trust Sans Black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FFE5A59-DA03-60BF-23E2-491F1C0AB5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6444" y="4165636"/>
            <a:ext cx="7794912" cy="95768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subtitle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42F5F3-D9C5-32A4-1D88-43EF7BE18CE7}"/>
              </a:ext>
            </a:extLst>
          </p:cNvPr>
          <p:cNvCxnSpPr>
            <a:cxnSpLocks/>
          </p:cNvCxnSpPr>
          <p:nvPr userDrawn="1"/>
        </p:nvCxnSpPr>
        <p:spPr>
          <a:xfrm>
            <a:off x="2926444" y="3741684"/>
            <a:ext cx="7794913" cy="0"/>
          </a:xfrm>
          <a:prstGeom prst="line">
            <a:avLst/>
          </a:prstGeom>
          <a:ln w="76200" cap="rnd">
            <a:solidFill>
              <a:srgbClr val="FFD600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9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3BE044-ED31-3F60-3A2F-7E880992B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8200" y="2735376"/>
            <a:ext cx="1139757" cy="7123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441604-9A2B-F58B-7730-B0BA9FF9D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0049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5D7F6B5-6E7F-9DFE-350A-5B76D265B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3814" y="2735376"/>
            <a:ext cx="1139757" cy="7123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C3988A-175F-3624-D13A-0B7D7469B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254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90F0828-C61C-4406-DC2A-08D1B900E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C64957B-02E4-9B5C-8E18-E36EA9BA263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6D7E9F4-35B6-1C90-CF52-751FB46A86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37BC75-F084-050C-B722-406BB5C801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78A961E-E13E-27B7-195D-9EA2B5A9AFBA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4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822B41A-10D2-12DC-7415-C3DFB5FFA5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94509" y="2526894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EE44A15-0D2B-2A97-C607-CF9797EB1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4509" y="771305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740D23F4-F7F1-B2AC-63CE-98E96B87EDA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902036" y="771306"/>
            <a:ext cx="5453352" cy="4444534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Trust Sans" pitchFamily="2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CR" dirty="0" err="1"/>
              <a:t>Click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add</a:t>
            </a:r>
            <a:r>
              <a:rPr lang="es-CR" dirty="0"/>
              <a:t> a </a:t>
            </a:r>
            <a:r>
              <a:rPr lang="es-CR" dirty="0" err="1"/>
              <a:t>image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8235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C70069F9-4D6A-A47A-AF4F-EED984AE3C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8928" y="2511123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FB0BBF-334E-02E6-E3B0-595FF2DA8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8928" y="755534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9719F092-9774-93FA-2C6C-7F477253B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42363" y="698733"/>
            <a:ext cx="4918364" cy="4444534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8896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liso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588C353-EDDC-B884-9CAB-022D5154F4E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5E2DD159-D272-5B1F-5E0C-14A3DC6252E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757F612-090F-A7EF-4E70-7AAD35CF72DC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FC846CE2-3AED-AB04-9835-976A0147B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pic>
        <p:nvPicPr>
          <p:cNvPr id="11" name="Imagen 7">
            <a:extLst>
              <a:ext uri="{FF2B5EF4-FFF2-40B4-BE49-F238E27FC236}">
                <a16:creationId xmlns:a16="http://schemas.microsoft.com/office/drawing/2014/main" id="{A5B6BF07-8364-9FED-F612-95E99DC32A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(NO US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F7BE623-D05C-AB7B-74E9-BF7866F7D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2183" y="365125"/>
            <a:ext cx="98076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3F1B8A1-C662-D115-0579-1F78DFAED100}"/>
              </a:ext>
            </a:extLst>
          </p:cNvPr>
          <p:cNvCxnSpPr>
            <a:cxnSpLocks/>
          </p:cNvCxnSpPr>
          <p:nvPr userDrawn="1"/>
        </p:nvCxnSpPr>
        <p:spPr>
          <a:xfrm>
            <a:off x="999779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1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portada1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0">
            <a:extLst>
              <a:ext uri="{FF2B5EF4-FFF2-40B4-BE49-F238E27FC236}">
                <a16:creationId xmlns:a16="http://schemas.microsoft.com/office/drawing/2014/main" id="{5250FC87-7BE0-64CD-5A1C-F02DACE6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2686050"/>
            <a:ext cx="1139825" cy="711200"/>
          </a:xfrm>
          <a:prstGeom prst="rect">
            <a:avLst/>
          </a:prstGeom>
        </p:spPr>
      </p:pic>
      <p:pic>
        <p:nvPicPr>
          <p:cNvPr id="3" name="Imagen 13">
            <a:extLst>
              <a:ext uri="{FF2B5EF4-FFF2-40B4-BE49-F238E27FC236}">
                <a16:creationId xmlns:a16="http://schemas.microsoft.com/office/drawing/2014/main" id="{57B46863-8923-8669-6050-FFC1273C5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61563" y="5749925"/>
            <a:ext cx="1814512" cy="871538"/>
          </a:xfrm>
          <a:prstGeom prst="rect">
            <a:avLst/>
          </a:prstGeom>
        </p:spPr>
      </p:pic>
      <p:sp>
        <p:nvSpPr>
          <p:cNvPr id="9" name="Título 1"/>
          <p:cNvSpPr>
            <a:spLocks noGrp="1"/>
          </p:cNvSpPr>
          <p:nvPr>
            <p:ph type="ctrTitle"/>
          </p:nvPr>
        </p:nvSpPr>
        <p:spPr>
          <a:xfrm>
            <a:off x="2353235" y="2393265"/>
            <a:ext cx="7077635" cy="2393889"/>
          </a:xfrm>
        </p:spPr>
        <p:txBody>
          <a:bodyPr anchor="b">
            <a:normAutofit/>
          </a:bodyPr>
          <a:lstStyle>
            <a:lvl1pPr algn="l">
              <a:defRPr sz="80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6243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59041-7ADC-62BC-6910-5620613E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333AB-DD6B-8268-4367-48E815507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3ADE5-809A-F847-849A-CF38205A1D8E}" type="datetimeFigureOut">
              <a:rPr lang="es-CR" smtClean="0"/>
              <a:t>4/6/2026</a:t>
            </a:fld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1165C-2410-72E9-B41A-2B2E95CD3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56CB7-7D20-A748-9388-BFDA1817F9B8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6315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3" r:id="rId5"/>
    <p:sldLayoutId id="2147483659" r:id="rId6"/>
    <p:sldLayoutId id="2147483656" r:id="rId7"/>
    <p:sldLayoutId id="2147483657" r:id="rId8"/>
    <p:sldLayoutId id="214748366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5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1/relationships/webextension" Target="../webextensions/webextension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37BA2ED-03A6-64B1-A460-86640E3E0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R" sz="4800" dirty="0">
                <a:solidFill>
                  <a:schemeClr val="bg1"/>
                </a:solidFill>
              </a:rPr>
              <a:t>Teoría Estadística y Métodos Cuantitativos</a:t>
            </a:r>
            <a:endParaRPr lang="es-CR" sz="48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2B11D00-0642-76C8-3292-F75149E5AA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Unidad 2. Probabilidad</a:t>
            </a:r>
          </a:p>
          <a:p>
            <a:r>
              <a:rPr lang="es-CR" dirty="0"/>
              <a:t>Profesor: Fabián Brenes Trejos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1C7B05-9423-80AD-ABDC-E6E927A0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Contenido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2AB4-C6E9-CFD1-1545-A52B284137FA}"/>
              </a:ext>
            </a:extLst>
          </p:cNvPr>
          <p:cNvSpPr txBox="1"/>
          <p:nvPr/>
        </p:nvSpPr>
        <p:spPr>
          <a:xfrm>
            <a:off x="932688" y="1792224"/>
            <a:ext cx="103266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Probabilidad Condicional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Eventos independientes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Teorema de Bayes</a:t>
            </a:r>
          </a:p>
          <a:p>
            <a:pPr lvl="1"/>
            <a:endParaRPr lang="es-C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400" dirty="0"/>
              <a:t>Laboratorio</a:t>
            </a:r>
          </a:p>
        </p:txBody>
      </p:sp>
    </p:spTree>
    <p:extLst>
      <p:ext uri="{BB962C8B-B14F-4D97-AF65-F5344CB8AC3E}">
        <p14:creationId xmlns:p14="http://schemas.microsoft.com/office/powerpoint/2010/main" val="90007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0488-BB5B-8387-2EA2-EC7AAD76D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935546-1D4D-8B0A-33D2-49D6C3D49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4452" y="2454966"/>
            <a:ext cx="8208748" cy="2057400"/>
          </a:xfrm>
        </p:spPr>
        <p:txBody>
          <a:bodyPr/>
          <a:lstStyle/>
          <a:p>
            <a:r>
              <a:rPr lang="es-CR" dirty="0"/>
              <a:t>Probabilidad Condicional</a:t>
            </a:r>
          </a:p>
        </p:txBody>
      </p:sp>
    </p:spTree>
    <p:extLst>
      <p:ext uri="{BB962C8B-B14F-4D97-AF65-F5344CB8AC3E}">
        <p14:creationId xmlns:p14="http://schemas.microsoft.com/office/powerpoint/2010/main" val="297066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0920C3-09F5-C584-B501-B93ABC23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Definición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BC320A-6B5F-A418-652B-CC9948AEB3A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11098" y="1959428"/>
                <a:ext cx="10969803" cy="395617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400" dirty="0"/>
                  <a:t>Sean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y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400" dirty="0"/>
                  <a:t> dos conjuntos, se define la </a:t>
                </a:r>
                <a:r>
                  <a:rPr lang="en-US" sz="2400" b="1" i="1" dirty="0" err="1">
                    <a:solidFill>
                      <a:srgbClr val="000F9F"/>
                    </a:solidFill>
                  </a:rPr>
                  <a:t>probabilidad</a:t>
                </a:r>
                <a:r>
                  <a:rPr lang="en-US" sz="2400" b="1" i="1" dirty="0">
                    <a:solidFill>
                      <a:srgbClr val="000F9F"/>
                    </a:solidFill>
                  </a:rPr>
                  <a:t> </a:t>
                </a:r>
                <a:r>
                  <a:rPr lang="en-US" sz="2400" b="1" i="1" dirty="0" err="1">
                    <a:solidFill>
                      <a:srgbClr val="000F9F"/>
                    </a:solidFill>
                  </a:rPr>
                  <a:t>condicional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como</a:t>
                </a:r>
                <a:r>
                  <a:rPr lang="en-US" sz="2400" dirty="0"/>
                  <a:t> la </a:t>
                </a:r>
                <a:r>
                  <a:rPr lang="en-US" sz="2400" dirty="0" err="1"/>
                  <a:t>probabilidad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ocurrencia</a:t>
                </a:r>
                <a:r>
                  <a:rPr lang="en-US" sz="2400" dirty="0"/>
                  <a:t> del </a:t>
                </a:r>
                <a:r>
                  <a:rPr lang="en-US" sz="2400" dirty="0" err="1"/>
                  <a:t>evento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400" dirty="0"/>
                  <a:t>, dado </a:t>
                </a:r>
                <a:r>
                  <a:rPr lang="en-US" sz="2400" dirty="0" err="1"/>
                  <a:t>que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evento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400" dirty="0"/>
                  <a:t> ha </a:t>
                </a:r>
                <a:r>
                  <a:rPr lang="en-US" sz="2400" dirty="0" err="1"/>
                  <a:t>ocurrido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0F9F"/>
                    </a:solidFill>
                  </a:rPr>
                  <a:t>	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endChr m:val="|"/>
                        <m:ctrlP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s-CR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s-CR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s-CR" sz="2400" dirty="0"/>
                  <a:t>Ejemplo de aplicación en economía: Calcular la probabilidad de impago de un préstamo bancario, en un escenario de aumento en las tasas de interés.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s-CR" sz="2400" dirty="0"/>
                  <a:t>: Impago de un préstamo bancario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s-CR" sz="2400" dirty="0"/>
                  <a:t>: Escenario de aumento de tasas de interés</a:t>
                </a:r>
              </a:p>
              <a:p>
                <a:pPr marL="0" indent="0">
                  <a:buNone/>
                </a:pPr>
                <a:r>
                  <a:rPr lang="es-CR" sz="2400" dirty="0"/>
                  <a:t> </a:t>
                </a:r>
              </a:p>
              <a:p>
                <a:endParaRPr lang="es-CR" sz="2400" dirty="0"/>
              </a:p>
              <a:p>
                <a:endParaRPr lang="es-CR" sz="2400" b="1" i="1" dirty="0">
                  <a:solidFill>
                    <a:srgbClr val="000F9F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1BC320A-6B5F-A418-652B-CC9948AEB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11098" y="1959428"/>
                <a:ext cx="10969803" cy="3956179"/>
              </a:xfrm>
              <a:blipFill>
                <a:blip r:embed="rId2"/>
                <a:stretch>
                  <a:fillRect l="-722" t="-246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893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1A98-8798-4D53-D8BF-B92F2C9D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Ejercicio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19CBE-3F79-EDF7-9C38-820B49DD4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983"/>
            <a:ext cx="10190584" cy="3735410"/>
          </a:xfrm>
        </p:spPr>
        <p:txBody>
          <a:bodyPr/>
          <a:lstStyle/>
          <a:p>
            <a:r>
              <a:rPr lang="es-CR" dirty="0"/>
              <a:t>En un juego hay 25 globos, de los cuales 10 son amarillos, 8 son rojos, y 7 son verdes. El juego consiste en lanzar un dardo y estallar un globo. </a:t>
            </a:r>
          </a:p>
          <a:p>
            <a:r>
              <a:rPr lang="es-CR" dirty="0"/>
              <a:t>Si el primer dardo impactó un globo amarillo, ¿cuál es la probabilidad de que el próximo lanzamiento impacte otro globo amarillo</a:t>
            </a:r>
            <a:r>
              <a:rPr lang="en-US" dirty="0"/>
              <a:t>?</a:t>
            </a:r>
            <a:endParaRPr lang="es-CR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Breaktime">
                <a:extLst>
                  <a:ext uri="{FF2B5EF4-FFF2-40B4-BE49-F238E27FC236}">
                    <a16:creationId xmlns:a16="http://schemas.microsoft.com/office/drawing/2014/main" id="{47010494-B909-74B0-FE4C-4F848B1701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3792720"/>
                  </p:ext>
                </p:extLst>
              </p:nvPr>
            </p:nvGraphicFramePr>
            <p:xfrm>
              <a:off x="4818888" y="82296"/>
              <a:ext cx="7162800" cy="15087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 4" title="Breaktime">
                <a:extLst>
                  <a:ext uri="{FF2B5EF4-FFF2-40B4-BE49-F238E27FC236}">
                    <a16:creationId xmlns:a16="http://schemas.microsoft.com/office/drawing/2014/main" id="{47010494-B909-74B0-FE4C-4F848B1701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18888" y="82296"/>
                <a:ext cx="7162800" cy="15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0843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D454-F365-E65D-61A3-72A2D5904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: </a:t>
            </a:r>
            <a:r>
              <a:rPr lang="en-US" dirty="0" err="1"/>
              <a:t>Solución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A6F5BF-7CC5-7E73-9524-F309D540B7A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059955" cy="373541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𝐼𝑚𝑝𝑎𝑐𝑡𝑎𝑟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𝑔𝑙𝑜𝑏𝑜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𝑎𝑚𝑎𝑟𝑖𝑙𝑙𝑜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𝑝𝑟𝑖𝑚𝑒𝑟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𝑖𝑛𝑡𝑒𝑛𝑡𝑜</m:t>
                    </m:r>
                  </m:oMath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𝐼𝑚𝑝𝑎𝑐𝑡𝑎𝑟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𝑔𝑙𝑜𝑏𝑜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𝑎𝑚𝑎𝑟𝑖𝑙𝑙𝑜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𝑠𝑒𝑔𝑢𝑛𝑑𝑜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𝑖𝑛𝑡𝑒𝑛𝑡𝑜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s-C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s-CR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=37.5%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s-C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)=40%∗37.5%=15%</m:t>
                    </m:r>
                  </m:oMath>
                </a14:m>
                <a:r>
                  <a:rPr lang="es-CR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A6F5BF-7CC5-7E73-9524-F309D540B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059955" cy="3735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470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E5696-DF99-29AE-39A7-532E33192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Probabilidad</a:t>
            </a:r>
            <a:r>
              <a:rPr lang="en-US" dirty="0"/>
              <a:t> de </a:t>
            </a:r>
            <a:r>
              <a:rPr lang="en-US" dirty="0" err="1"/>
              <a:t>ocurrencia</a:t>
            </a:r>
            <a:r>
              <a:rPr lang="en-US" dirty="0"/>
              <a:t> de dos </a:t>
            </a:r>
            <a:r>
              <a:rPr lang="en-US" dirty="0" err="1"/>
              <a:t>eventos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17D06E-A992-7C50-EE03-49C06B2C4DF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153261" cy="3735410"/>
              </a:xfrm>
            </p:spPr>
            <p:txBody>
              <a:bodyPr/>
              <a:lstStyle/>
              <a:p>
                <a:r>
                  <a:rPr lang="en-US" dirty="0"/>
                  <a:t>La </a:t>
                </a:r>
                <a:r>
                  <a:rPr lang="en-US" dirty="0" err="1"/>
                  <a:t>probabilidad</a:t>
                </a:r>
                <a:r>
                  <a:rPr lang="en-US" dirty="0"/>
                  <a:t> de </a:t>
                </a:r>
                <a:r>
                  <a:rPr lang="en-US" dirty="0" err="1"/>
                  <a:t>que</a:t>
                </a:r>
                <a:r>
                  <a:rPr lang="en-US" dirty="0"/>
                  <a:t> dos </a:t>
                </a:r>
                <a:r>
                  <a:rPr lang="en-US" dirty="0" err="1"/>
                  <a:t>eventos</a:t>
                </a:r>
                <a:r>
                  <a:rPr lang="en-US" dirty="0"/>
                  <a:t> </a:t>
                </a:r>
                <a:r>
                  <a:rPr lang="en-US" dirty="0" err="1"/>
                  <a:t>ocurran</a:t>
                </a:r>
                <a:r>
                  <a:rPr lang="en-US" dirty="0"/>
                  <a:t> se </a:t>
                </a:r>
                <a:r>
                  <a:rPr lang="en-US" dirty="0" err="1"/>
                  <a:t>obtiene</a:t>
                </a:r>
                <a:r>
                  <a:rPr lang="en-US" dirty="0"/>
                  <a:t> con </a:t>
                </a:r>
                <a:r>
                  <a:rPr lang="en-US" dirty="0" err="1"/>
                  <a:t>el</a:t>
                </a:r>
                <a:r>
                  <a:rPr lang="en-US" dirty="0"/>
                  <a:t> principio de la </a:t>
                </a:r>
                <a:r>
                  <a:rPr lang="en-US" dirty="0" err="1"/>
                  <a:t>multiplicación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s-CR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s-C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17D06E-A992-7C50-EE03-49C06B2C4D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153261" cy="3735410"/>
              </a:xfrm>
              <a:blipFill>
                <a:blip r:embed="rId2"/>
                <a:stretch>
                  <a:fillRect l="-1020" t="-261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1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E01BA7-AF84-AA16-1607-4E978E2C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 2</a:t>
            </a:r>
            <a:endParaRPr lang="es-C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CB1206-3C28-D07C-7BC6-E7F0E82AB31E}"/>
              </a:ext>
            </a:extLst>
          </p:cNvPr>
          <p:cNvSpPr/>
          <p:nvPr/>
        </p:nvSpPr>
        <p:spPr>
          <a:xfrm>
            <a:off x="3321698" y="1940766"/>
            <a:ext cx="5542384" cy="27245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2471D2-D214-192A-F486-6E111FE81D04}"/>
              </a:ext>
            </a:extLst>
          </p:cNvPr>
          <p:cNvSpPr/>
          <p:nvPr/>
        </p:nvSpPr>
        <p:spPr>
          <a:xfrm>
            <a:off x="3526972" y="2463280"/>
            <a:ext cx="2967134" cy="16795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8D6D490-250C-BDF4-144F-5AB3CB2B67DD}"/>
              </a:ext>
            </a:extLst>
          </p:cNvPr>
          <p:cNvSpPr/>
          <p:nvPr/>
        </p:nvSpPr>
        <p:spPr>
          <a:xfrm>
            <a:off x="5377544" y="2463280"/>
            <a:ext cx="2967134" cy="16795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28E2F9-C454-F849-6AE4-73750A806D94}"/>
              </a:ext>
            </a:extLst>
          </p:cNvPr>
          <p:cNvSpPr txBox="1"/>
          <p:nvPr/>
        </p:nvSpPr>
        <p:spPr>
          <a:xfrm>
            <a:off x="4085844" y="2088022"/>
            <a:ext cx="376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A                               B</a:t>
            </a:r>
            <a:endParaRPr lang="es-CR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612B92-132C-4601-A4E1-217418E2ADD1}"/>
              </a:ext>
            </a:extLst>
          </p:cNvPr>
          <p:cNvSpPr txBox="1"/>
          <p:nvPr/>
        </p:nvSpPr>
        <p:spPr>
          <a:xfrm>
            <a:off x="3863840" y="3072202"/>
            <a:ext cx="399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0.5             0.2                   0.1</a:t>
            </a:r>
            <a:endParaRPr lang="es-CR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384385-D4DB-D5B4-57CC-14F0BD845AF0}"/>
                  </a:ext>
                </a:extLst>
              </p:cNvPr>
              <p:cNvSpPr txBox="1"/>
              <p:nvPr/>
            </p:nvSpPr>
            <p:spPr>
              <a:xfrm>
                <a:off x="3321698" y="5187819"/>
                <a:ext cx="554238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R" sz="2800" b="1" i="1" smtClean="0">
                          <a:latin typeface="Cambria Math" panose="02040503050406030204" pitchFamily="18" charset="0"/>
                        </a:rPr>
                        <m:t>¿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𝑪𝒖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𝒆𝒔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𝒍𝒂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s-CR" sz="28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s-CR" sz="28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)?</m:t>
                      </m:r>
                    </m:oMath>
                  </m:oMathPara>
                </a14:m>
                <a:endParaRPr lang="es-CR" sz="28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384385-D4DB-D5B4-57CC-14F0BD845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698" y="5187819"/>
                <a:ext cx="554238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7B54858-CC8A-657C-0589-9AD29C97558F}"/>
              </a:ext>
            </a:extLst>
          </p:cNvPr>
          <p:cNvSpPr txBox="1"/>
          <p:nvPr/>
        </p:nvSpPr>
        <p:spPr>
          <a:xfrm>
            <a:off x="7932200" y="4142084"/>
            <a:ext cx="70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0.2</a:t>
            </a:r>
            <a:endParaRPr lang="es-CR" sz="2400" b="1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Breaktime">
                <a:extLst>
                  <a:ext uri="{FF2B5EF4-FFF2-40B4-BE49-F238E27FC236}">
                    <a16:creationId xmlns:a16="http://schemas.microsoft.com/office/drawing/2014/main" id="{4865587A-7CF7-AC82-0D11-816513CA4B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8646235"/>
                  </p:ext>
                </p:extLst>
              </p:nvPr>
            </p:nvGraphicFramePr>
            <p:xfrm>
              <a:off x="4818888" y="82296"/>
              <a:ext cx="7162800" cy="15087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5" name="Add-in 4" title="Breaktime">
                <a:extLst>
                  <a:ext uri="{FF2B5EF4-FFF2-40B4-BE49-F238E27FC236}">
                    <a16:creationId xmlns:a16="http://schemas.microsoft.com/office/drawing/2014/main" id="{4865587A-7CF7-AC82-0D11-816513CA4B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8888" y="82296"/>
                <a:ext cx="7162800" cy="15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199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B13F-DBF7-0B39-B973-6C56F933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 2: </a:t>
            </a:r>
            <a:r>
              <a:rPr lang="en-US" dirty="0" err="1"/>
              <a:t>Solución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B4D576F-AC37-6514-219C-DFE92CABF07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=0.5+0.2=0.7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+0.2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en-US" b="0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s-CR" dirty="0"/>
              </a:p>
              <a:p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C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s-CR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0.2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0.3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s-CR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B4D576F-AC37-6514-219C-DFE92CABF0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174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69083-F76A-536D-6F00-9057CF49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0206B-8ADD-71B7-C1AB-C63D4A34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 3</a:t>
            </a:r>
            <a:endParaRPr lang="es-C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21028-32F9-40A3-F64D-F7EE17BC7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059955" cy="3735410"/>
          </a:xfrm>
        </p:spPr>
        <p:txBody>
          <a:bodyPr/>
          <a:lstStyle/>
          <a:p>
            <a:pPr marL="0" indent="0">
              <a:buNone/>
            </a:pPr>
            <a:r>
              <a:rPr lang="es-CR" dirty="0"/>
              <a:t>En una caja hay 7 bolas azules y 3 rojas. Si se seleccionan 2 bolas de forma aleatoria y sin reemplazo, ¿cuál es la probabilidad de sacar primero una bola roja </a:t>
            </a:r>
            <a:r>
              <a:rPr lang="es-MX" dirty="0"/>
              <a:t>(A) y luego una bola azul </a:t>
            </a:r>
            <a:r>
              <a:rPr lang="en-US" dirty="0"/>
              <a:t>(</a:t>
            </a:r>
            <a:r>
              <a:rPr lang="es-MX" dirty="0"/>
              <a:t>B)?</a:t>
            </a:r>
            <a:endParaRPr lang="es-CR" dirty="0"/>
          </a:p>
          <a:p>
            <a:endParaRPr lang="es-CR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Breaktime">
                <a:extLst>
                  <a:ext uri="{FF2B5EF4-FFF2-40B4-BE49-F238E27FC236}">
                    <a16:creationId xmlns:a16="http://schemas.microsoft.com/office/drawing/2014/main" id="{D14980F7-90C8-CB3F-97F7-F4DD7CFD0B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8646235"/>
                  </p:ext>
                </p:extLst>
              </p:nvPr>
            </p:nvGraphicFramePr>
            <p:xfrm>
              <a:off x="4818888" y="82296"/>
              <a:ext cx="7162800" cy="15087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Breaktime">
                <a:extLst>
                  <a:ext uri="{FF2B5EF4-FFF2-40B4-BE49-F238E27FC236}">
                    <a16:creationId xmlns:a16="http://schemas.microsoft.com/office/drawing/2014/main" id="{D14980F7-90C8-CB3F-97F7-F4DD7CFD0B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18888" y="82296"/>
                <a:ext cx="7162800" cy="15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5196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3D48A-DDEF-DD70-B8C7-C47F5BB4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4D49D0-47A5-0A5D-7D6A-FF23B4A1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 3: </a:t>
            </a:r>
            <a:r>
              <a:rPr lang="en-US" dirty="0" err="1"/>
              <a:t>Solución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1FA38CB-0EB9-43F8-7496-F6E76A80C39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85057" y="2067983"/>
                <a:ext cx="10041293" cy="3735410"/>
              </a:xfrm>
            </p:spPr>
            <p:txBody>
              <a:bodyPr/>
              <a:lstStyle/>
              <a:p>
                <a:r>
                  <a:rPr lang="en-US" i="1" dirty="0">
                    <a:latin typeface="Cambria Math" panose="02040503050406030204" pitchFamily="18" charset="0"/>
                  </a:rPr>
                  <a:t>A =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sacar</a:t>
                </a:r>
                <a:r>
                  <a:rPr lang="en-US" i="1" dirty="0">
                    <a:latin typeface="Cambria Math" panose="02040503050406030204" pitchFamily="18" charset="0"/>
                  </a:rPr>
                  <a:t> bola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roja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en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el</a:t>
                </a:r>
                <a:r>
                  <a:rPr lang="en-US" i="1" dirty="0">
                    <a:latin typeface="Cambria Math" panose="02040503050406030204" pitchFamily="18" charset="0"/>
                  </a:rPr>
                  <a:t> primer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intento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i="1" dirty="0">
                    <a:latin typeface="Cambria Math" panose="02040503050406030204" pitchFamily="18" charset="0"/>
                  </a:rPr>
                  <a:t>B =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sacar</a:t>
                </a:r>
                <a:r>
                  <a:rPr lang="en-US" i="1" dirty="0">
                    <a:latin typeface="Cambria Math" panose="02040503050406030204" pitchFamily="18" charset="0"/>
                  </a:rPr>
                  <a:t> bola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azul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en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el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segundo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intento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s-CR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s-C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s-CR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s-CR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s-C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es-CR" dirty="0"/>
              </a:p>
              <a:p>
                <a:endParaRPr lang="es-CR" dirty="0"/>
              </a:p>
              <a:p>
                <a:endParaRPr lang="es-CR" dirty="0"/>
              </a:p>
              <a:p>
                <a:endParaRPr lang="es-CR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1FA38CB-0EB9-43F8-7496-F6E76A80C3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85057" y="2067983"/>
                <a:ext cx="10041293" cy="3735410"/>
              </a:xfrm>
              <a:blipFill>
                <a:blip r:embed="rId2"/>
                <a:stretch>
                  <a:fillRect l="-1092" t="-277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4448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BA0E3-A30B-4076-CD1B-593B3CEB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1D11-FA77-5433-09EF-EA043DC92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Eventos</a:t>
            </a:r>
            <a:r>
              <a:rPr lang="en-US" dirty="0"/>
              <a:t> </a:t>
            </a:r>
            <a:r>
              <a:rPr lang="en-US" dirty="0" err="1"/>
              <a:t>independientes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084195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CD05A5-5AD1-8065-635E-C67C08AC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Definición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6EFA7E-CB73-4893-3E81-C3692DACF69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Dos </a:t>
                </a:r>
                <a:r>
                  <a:rPr lang="en-US" sz="3200" dirty="0" err="1"/>
                  <a:t>eventos</a:t>
                </a:r>
                <a:r>
                  <a:rPr lang="en-US" sz="3200" dirty="0"/>
                  <a:t> son </a:t>
                </a:r>
                <a:r>
                  <a:rPr lang="en-US" sz="3200" dirty="0" err="1"/>
                  <a:t>independientes</a:t>
                </a:r>
                <a:r>
                  <a:rPr lang="en-US" sz="3200" dirty="0"/>
                  <a:t>, </a:t>
                </a:r>
                <a:r>
                  <a:rPr lang="en-US" sz="3200" dirty="0" err="1"/>
                  <a:t>si</a:t>
                </a:r>
                <a:r>
                  <a:rPr lang="en-US" sz="3200" dirty="0"/>
                  <a:t> la </a:t>
                </a:r>
                <a:r>
                  <a:rPr lang="en-US" sz="3200" dirty="0" err="1"/>
                  <a:t>ocurrencia</a:t>
                </a:r>
                <a:r>
                  <a:rPr lang="en-US" sz="3200" dirty="0"/>
                  <a:t> de uno de </a:t>
                </a:r>
                <a:r>
                  <a:rPr lang="en-US" sz="3200" dirty="0" err="1"/>
                  <a:t>ellos</a:t>
                </a:r>
                <a:r>
                  <a:rPr lang="en-US" sz="3200" dirty="0"/>
                  <a:t> no </a:t>
                </a:r>
                <a:r>
                  <a:rPr lang="en-US" sz="3200" dirty="0" err="1"/>
                  <a:t>afecta</a:t>
                </a:r>
                <a:r>
                  <a:rPr lang="en-US" sz="3200" dirty="0"/>
                  <a:t> la </a:t>
                </a:r>
                <a:r>
                  <a:rPr lang="en-US" sz="3200" dirty="0" err="1"/>
                  <a:t>probabilidad</a:t>
                </a:r>
                <a:r>
                  <a:rPr lang="en-US" sz="3200" dirty="0"/>
                  <a:t> de </a:t>
                </a:r>
                <a:r>
                  <a:rPr lang="en-US" sz="3200" dirty="0" err="1"/>
                  <a:t>ocurrencia</a:t>
                </a:r>
                <a:r>
                  <a:rPr lang="en-US" sz="3200" dirty="0"/>
                  <a:t> del </a:t>
                </a:r>
                <a:r>
                  <a:rPr lang="en-US" sz="3200" dirty="0" err="1"/>
                  <a:t>otro</a:t>
                </a:r>
                <a:r>
                  <a:rPr lang="en-US" sz="3200" dirty="0"/>
                  <a:t>.</a:t>
                </a:r>
              </a:p>
              <a:p>
                <a:endParaRPr lang="en-US" sz="3200" dirty="0"/>
              </a:p>
              <a:p>
                <a:r>
                  <a:rPr lang="en-US" sz="3200" dirty="0"/>
                  <a:t>Los </a:t>
                </a:r>
                <a:r>
                  <a:rPr lang="en-US" sz="3200" dirty="0" err="1"/>
                  <a:t>eventos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3200" dirty="0">
                    <a:latin typeface="Cambria Math" panose="02040503050406030204" pitchFamily="18" charset="0"/>
                  </a:rPr>
                  <a:t> </a:t>
                </a:r>
                <a:r>
                  <a:rPr lang="en-US" sz="3200" dirty="0"/>
                  <a:t>y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3200" dirty="0"/>
                  <a:t> son </a:t>
                </a:r>
                <a:r>
                  <a:rPr lang="en-US" sz="3200" dirty="0" err="1"/>
                  <a:t>independientes</a:t>
                </a:r>
                <a:r>
                  <a:rPr lang="en-US" sz="3200" dirty="0"/>
                  <a:t> </a:t>
                </a:r>
                <a:r>
                  <a:rPr lang="en-US" sz="3200" dirty="0" err="1"/>
                  <a:t>si</a:t>
                </a:r>
                <a:r>
                  <a:rPr lang="en-US" sz="3200" dirty="0"/>
                  <a:t> y solo </a:t>
                </a:r>
                <a:r>
                  <a:rPr lang="en-US" sz="3200" dirty="0" err="1"/>
                  <a:t>si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32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⋂</m:t>
                        </m:r>
                        <m:r>
                          <a:rPr lang="en-US" sz="32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sz="32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2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32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sz="32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32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sz="32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3200" dirty="0"/>
                  <a:t>Caso </a:t>
                </a:r>
                <a:r>
                  <a:rPr lang="en-US" sz="3200" dirty="0" err="1"/>
                  <a:t>contrario</a:t>
                </a:r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3200" dirty="0">
                    <a:latin typeface="Cambria Math" panose="02040503050406030204" pitchFamily="18" charset="0"/>
                  </a:rPr>
                  <a:t> </a:t>
                </a:r>
                <a:r>
                  <a:rPr lang="en-US" sz="3200" dirty="0"/>
                  <a:t>y 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3200" dirty="0"/>
                  <a:t> son </a:t>
                </a:r>
                <a:r>
                  <a:rPr lang="en-US" sz="3200" dirty="0" err="1"/>
                  <a:t>definidos</a:t>
                </a:r>
                <a:r>
                  <a:rPr lang="en-US" sz="3200" dirty="0"/>
                  <a:t> </a:t>
                </a:r>
                <a:r>
                  <a:rPr lang="en-US" sz="3200" dirty="0" err="1"/>
                  <a:t>como</a:t>
                </a:r>
                <a:r>
                  <a:rPr lang="en-US" sz="3200" dirty="0"/>
                  <a:t> </a:t>
                </a:r>
                <a:r>
                  <a:rPr lang="en-US" sz="3200" dirty="0" err="1"/>
                  <a:t>eventos</a:t>
                </a:r>
                <a:r>
                  <a:rPr lang="en-US" sz="3200" dirty="0"/>
                  <a:t> </a:t>
                </a:r>
                <a:r>
                  <a:rPr lang="en-US" sz="3200" dirty="0" err="1"/>
                  <a:t>dependientes</a:t>
                </a:r>
                <a:r>
                  <a:rPr lang="en-US" sz="3200" dirty="0"/>
                  <a:t> </a:t>
                </a:r>
                <a:endParaRPr lang="en-US" sz="32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CR" sz="3200" dirty="0"/>
              </a:p>
              <a:p>
                <a:pPr marL="0" indent="0">
                  <a:buNone/>
                </a:pPr>
                <a:endParaRPr lang="es-CR" sz="32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56EFA7E-CB73-4893-3E81-C3692DACF6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  <a:blipFill>
                <a:blip r:embed="rId2"/>
                <a:stretch>
                  <a:fillRect l="-1297" t="-3426" r="-1002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599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CF75-5C9A-DC8D-EC9D-698A0B338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444" y="603830"/>
            <a:ext cx="9807633" cy="871794"/>
          </a:xfrm>
        </p:spPr>
        <p:txBody>
          <a:bodyPr/>
          <a:lstStyle/>
          <a:p>
            <a:r>
              <a:rPr lang="es-MX" dirty="0"/>
              <a:t>Ejercicio 4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087DA8-3CF3-D0A9-799C-C3630894094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</p:spPr>
            <p:txBody>
              <a:bodyPr/>
              <a:lstStyle/>
              <a:p>
                <a:pPr algn="just"/>
                <a:r>
                  <a:rPr lang="en-US" dirty="0"/>
                  <a:t>Se </a:t>
                </a:r>
                <a:r>
                  <a:rPr lang="en-US" dirty="0" err="1"/>
                  <a:t>lanzan</a:t>
                </a:r>
                <a:r>
                  <a:rPr lang="en-US" dirty="0"/>
                  <a:t> un dado rojo y un dado </a:t>
                </a:r>
                <a:r>
                  <a:rPr lang="en-US" dirty="0" err="1"/>
                  <a:t>azul</a:t>
                </a:r>
                <a:r>
                  <a:rPr lang="en-US" dirty="0"/>
                  <a:t>, y se </a:t>
                </a:r>
                <a:r>
                  <a:rPr lang="en-US" dirty="0" err="1"/>
                  <a:t>definen</a:t>
                </a:r>
                <a:r>
                  <a:rPr lang="en-US" dirty="0"/>
                  <a:t> los </a:t>
                </a:r>
                <a:r>
                  <a:rPr lang="en-US" dirty="0" err="1"/>
                  <a:t>siguientes</a:t>
                </a:r>
                <a:r>
                  <a:rPr lang="en-US" dirty="0"/>
                  <a:t> </a:t>
                </a:r>
                <a:r>
                  <a:rPr lang="en-US" dirty="0" err="1"/>
                  <a:t>eventos</a:t>
                </a:r>
                <a:endParaRPr lang="en-US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1" dirty="0"/>
                      <m:t>= {</m:t>
                    </m:r>
                    <m:r>
                      <m:rPr>
                        <m:nor/>
                      </m:rPr>
                      <a:rPr lang="en-US" i="1" dirty="0"/>
                      <m:t>obtener</m:t>
                    </m:r>
                    <m:r>
                      <m:rPr>
                        <m:nor/>
                      </m:rPr>
                      <a:rPr lang="en-US" i="1" dirty="0"/>
                      <m:t> 4 </m:t>
                    </m:r>
                    <m:r>
                      <m:rPr>
                        <m:nor/>
                      </m:rPr>
                      <a:rPr lang="en-US" b="0" i="1" dirty="0" smtClean="0"/>
                      <m:t>en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el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dado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rojo</m:t>
                    </m:r>
                    <m:r>
                      <m:rPr>
                        <m:nor/>
                      </m:rPr>
                      <a:rPr lang="en-US" i="1" dirty="0"/>
                      <m:t>}</m:t>
                    </m:r>
                  </m:oMath>
                </a14:m>
                <a:endParaRPr lang="en-US" i="1" dirty="0"/>
              </a:p>
              <a:p>
                <a:pPr lvl="1"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1" dirty="0" smtClean="0"/>
                      <m:t>B</m:t>
                    </m:r>
                    <m:r>
                      <m:rPr>
                        <m:nor/>
                      </m:rPr>
                      <a:rPr lang="en-US" b="0" i="1" dirty="0" smtClean="0"/>
                      <m:t> = {</m:t>
                    </m:r>
                    <m:r>
                      <m:rPr>
                        <m:nor/>
                      </m:rPr>
                      <a:rPr lang="en-US" b="0" i="1" dirty="0" smtClean="0"/>
                      <m:t>La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suma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de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los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dos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dados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sean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impares</m:t>
                    </m:r>
                    <m:r>
                      <m:rPr>
                        <m:nor/>
                      </m:rPr>
                      <a:rPr lang="en-US" i="1" dirty="0"/>
                      <m:t>}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Hay 36 </a:t>
                </a:r>
                <a:r>
                  <a:rPr lang="en-US" dirty="0" err="1"/>
                  <a:t>posibles</a:t>
                </a:r>
                <a:r>
                  <a:rPr lang="en-US" dirty="0"/>
                  <a:t> </a:t>
                </a:r>
                <a:r>
                  <a:rPr lang="en-US" dirty="0" err="1"/>
                  <a:t>combinaciones</a:t>
                </a:r>
                <a:r>
                  <a:rPr lang="en-US" dirty="0"/>
                  <a:t>, de los </a:t>
                </a:r>
                <a:r>
                  <a:rPr lang="en-US" dirty="0" err="1"/>
                  <a:t>cuales</a:t>
                </a:r>
                <a:r>
                  <a:rPr lang="en-US" dirty="0"/>
                  <a:t> 6 </a:t>
                </a:r>
                <a:r>
                  <a:rPr lang="en-US" dirty="0" err="1"/>
                  <a:t>resultados</a:t>
                </a:r>
                <a:r>
                  <a:rPr lang="en-US" dirty="0"/>
                  <a:t> son </a:t>
                </a:r>
                <a:r>
                  <a:rPr lang="en-US" dirty="0" err="1"/>
                  <a:t>favorables</a:t>
                </a:r>
                <a:r>
                  <a:rPr lang="en-US" dirty="0"/>
                  <a:t> para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evento</a:t>
                </a:r>
                <a:r>
                  <a:rPr lang="en-US" dirty="0"/>
                  <a:t> A, 18 son </a:t>
                </a:r>
                <a:r>
                  <a:rPr lang="en-US" dirty="0" err="1"/>
                  <a:t>favorables</a:t>
                </a:r>
                <a:r>
                  <a:rPr lang="en-US" dirty="0"/>
                  <a:t> para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evento</a:t>
                </a:r>
                <a:r>
                  <a:rPr lang="en-US" dirty="0"/>
                  <a:t> B y </a:t>
                </a:r>
                <a:r>
                  <a:rPr lang="en-US" dirty="0" err="1"/>
                  <a:t>tres</a:t>
                </a:r>
                <a:r>
                  <a:rPr lang="en-US" dirty="0"/>
                  <a:t> son </a:t>
                </a:r>
                <a:r>
                  <a:rPr lang="en-US" dirty="0" err="1"/>
                  <a:t>favorables</a:t>
                </a:r>
                <a:r>
                  <a:rPr lang="en-US" dirty="0"/>
                  <a:t> para la </a:t>
                </a:r>
                <a:r>
                  <a:rPr lang="en-US" dirty="0" err="1"/>
                  <a:t>intersección</a:t>
                </a:r>
                <a:r>
                  <a:rPr lang="en-US" dirty="0"/>
                  <a:t> del </a:t>
                </a:r>
                <a:r>
                  <a:rPr lang="en-US" dirty="0" err="1"/>
                  <a:t>evento</a:t>
                </a:r>
                <a:r>
                  <a:rPr lang="en-US" dirty="0"/>
                  <a:t> A y </a:t>
                </a:r>
                <a:r>
                  <a:rPr lang="en-US" dirty="0" err="1"/>
                  <a:t>el</a:t>
                </a:r>
                <a:r>
                  <a:rPr lang="en-US" dirty="0"/>
                  <a:t> B. </a:t>
                </a:r>
                <a:r>
                  <a:rPr lang="es-CR" dirty="0"/>
                  <a:t>¿Estos eventos son independientes</a:t>
                </a:r>
                <a:r>
                  <a:rPr lang="en-US" dirty="0"/>
                  <a:t>?</a:t>
                </a:r>
              </a:p>
              <a:p>
                <a:pPr lvl="1" algn="just"/>
                <a:endParaRPr lang="en-US" dirty="0"/>
              </a:p>
              <a:p>
                <a:pPr lvl="1" algn="just"/>
                <a:endParaRPr lang="en-US" b="0" dirty="0"/>
              </a:p>
              <a:p>
                <a:pPr marL="0" indent="0" algn="just">
                  <a:buNone/>
                </a:pPr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087DA8-3CF3-D0A9-799C-C363089409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  <a:blipFill>
                <a:blip r:embed="rId2"/>
                <a:stretch>
                  <a:fillRect l="-1002" t="-2610" r="-1238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Breaktime">
                <a:extLst>
                  <a:ext uri="{FF2B5EF4-FFF2-40B4-BE49-F238E27FC236}">
                    <a16:creationId xmlns:a16="http://schemas.microsoft.com/office/drawing/2014/main" id="{0EF3258E-E717-8CC1-F249-BDB70A31A1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8646235"/>
                  </p:ext>
                </p:extLst>
              </p:nvPr>
            </p:nvGraphicFramePr>
            <p:xfrm>
              <a:off x="4818888" y="82296"/>
              <a:ext cx="7162800" cy="15087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 title="Breaktime">
                <a:extLst>
                  <a:ext uri="{FF2B5EF4-FFF2-40B4-BE49-F238E27FC236}">
                    <a16:creationId xmlns:a16="http://schemas.microsoft.com/office/drawing/2014/main" id="{0EF3258E-E717-8CC1-F249-BDB70A31A1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8888" y="82296"/>
                <a:ext cx="7162800" cy="15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0937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7E64-5299-EAB2-D4C2-C828E93AE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AFD3-08FD-C446-0E8A-0DDABBB2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444" y="603830"/>
            <a:ext cx="9807633" cy="871794"/>
          </a:xfrm>
        </p:spPr>
        <p:txBody>
          <a:bodyPr/>
          <a:lstStyle/>
          <a:p>
            <a:r>
              <a:rPr lang="es-MX" dirty="0"/>
              <a:t>Ejercicio 4: Solución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E48158C-0106-106E-1658-A2423A5B520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just"/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) 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/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) 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/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s-CR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E48158C-0106-106E-1658-A2423A5B52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627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0266E-447C-B9D6-E6A4-FBEC5C315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DFD3-F085-1FDA-E015-F984DC6B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444" y="603830"/>
            <a:ext cx="9807633" cy="871794"/>
          </a:xfrm>
        </p:spPr>
        <p:txBody>
          <a:bodyPr/>
          <a:lstStyle/>
          <a:p>
            <a:r>
              <a:rPr lang="es-MX" dirty="0"/>
              <a:t>Ejercicio 5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B78972B-9AB5-E67B-58F2-AA9BBE5C0B3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</p:spPr>
            <p:txBody>
              <a:bodyPr/>
              <a:lstStyle/>
              <a:p>
                <a:pPr algn="just"/>
                <a:r>
                  <a:rPr lang="en-US" dirty="0"/>
                  <a:t>Se </a:t>
                </a:r>
                <a:r>
                  <a:rPr lang="en-US" dirty="0" err="1"/>
                  <a:t>lanzan</a:t>
                </a:r>
                <a:r>
                  <a:rPr lang="en-US" dirty="0"/>
                  <a:t> un dado rojo y un dado </a:t>
                </a:r>
                <a:r>
                  <a:rPr lang="en-US" dirty="0" err="1"/>
                  <a:t>azul</a:t>
                </a:r>
                <a:r>
                  <a:rPr lang="en-US" dirty="0"/>
                  <a:t>, y se </a:t>
                </a:r>
                <a:r>
                  <a:rPr lang="en-US" dirty="0" err="1"/>
                  <a:t>definen</a:t>
                </a:r>
                <a:r>
                  <a:rPr lang="en-US" dirty="0"/>
                  <a:t> los </a:t>
                </a:r>
                <a:r>
                  <a:rPr lang="en-US" dirty="0" err="1"/>
                  <a:t>siguientes</a:t>
                </a:r>
                <a:r>
                  <a:rPr lang="en-US" dirty="0"/>
                  <a:t> </a:t>
                </a:r>
                <a:r>
                  <a:rPr lang="en-US" dirty="0" err="1"/>
                  <a:t>eventos</a:t>
                </a:r>
                <a:endParaRPr lang="en-US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1" dirty="0"/>
                      <m:t>= {</m:t>
                    </m:r>
                    <m:r>
                      <m:rPr>
                        <m:nor/>
                      </m:rPr>
                      <a:rPr lang="en-US" i="1" dirty="0"/>
                      <m:t>obtener</m:t>
                    </m:r>
                    <m:r>
                      <m:rPr>
                        <m:nor/>
                      </m:rPr>
                      <a:rPr lang="en-US" i="1" dirty="0"/>
                      <m:t> 5 </m:t>
                    </m:r>
                    <m:r>
                      <m:rPr>
                        <m:nor/>
                      </m:rPr>
                      <a:rPr lang="en-US" b="0" i="1" dirty="0" smtClean="0"/>
                      <m:t>en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el</m:t>
                    </m:r>
                    <m:r>
                      <m:rPr>
                        <m:nor/>
                      </m:rPr>
                      <a:rPr lang="en-US" b="0" i="1" dirty="0" smtClean="0"/>
                      <m:t>  </m:t>
                    </m:r>
                    <m:r>
                      <m:rPr>
                        <m:nor/>
                      </m:rPr>
                      <a:rPr lang="en-US" b="0" i="1" dirty="0" smtClean="0"/>
                      <m:t>dado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rojo</m:t>
                    </m:r>
                    <m:r>
                      <m:rPr>
                        <m:nor/>
                      </m:rPr>
                      <a:rPr lang="en-US" i="1" dirty="0"/>
                      <m:t>}</m:t>
                    </m:r>
                  </m:oMath>
                </a14:m>
                <a:endParaRPr lang="en-US" i="1" dirty="0"/>
              </a:p>
              <a:p>
                <a:pPr lvl="1"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1" dirty="0" smtClean="0"/>
                      <m:t>D</m:t>
                    </m:r>
                    <m:r>
                      <m:rPr>
                        <m:nor/>
                      </m:rPr>
                      <a:rPr lang="en-US" b="0" i="1" dirty="0" smtClean="0"/>
                      <m:t> = {</m:t>
                    </m:r>
                    <m:r>
                      <m:rPr>
                        <m:nor/>
                      </m:rPr>
                      <a:rPr lang="en-US" b="0" i="1" dirty="0" smtClean="0"/>
                      <m:t>La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suma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de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los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dos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dados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1" dirty="0" smtClean="0"/>
                      <m:t>sea</m:t>
                    </m:r>
                    <m:r>
                      <m:rPr>
                        <m:nor/>
                      </m:rPr>
                      <a:rPr lang="en-US" b="0" i="1" dirty="0" smtClean="0"/>
                      <m:t> 11}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Hay 36 </a:t>
                </a:r>
                <a:r>
                  <a:rPr lang="en-US" dirty="0" err="1"/>
                  <a:t>posibles</a:t>
                </a:r>
                <a:r>
                  <a:rPr lang="en-US" dirty="0"/>
                  <a:t> </a:t>
                </a:r>
                <a:r>
                  <a:rPr lang="en-US" dirty="0" err="1"/>
                  <a:t>combinaciones</a:t>
                </a:r>
                <a:r>
                  <a:rPr lang="en-US" dirty="0"/>
                  <a:t>, de los </a:t>
                </a:r>
                <a:r>
                  <a:rPr lang="en-US" dirty="0" err="1"/>
                  <a:t>cuales</a:t>
                </a:r>
                <a:r>
                  <a:rPr lang="en-US" dirty="0"/>
                  <a:t> 6 </a:t>
                </a:r>
                <a:r>
                  <a:rPr lang="en-US" dirty="0" err="1"/>
                  <a:t>resultados</a:t>
                </a:r>
                <a:r>
                  <a:rPr lang="en-US" dirty="0"/>
                  <a:t> son </a:t>
                </a:r>
                <a:r>
                  <a:rPr lang="en-US" dirty="0" err="1"/>
                  <a:t>favorables</a:t>
                </a:r>
                <a:r>
                  <a:rPr lang="en-US" dirty="0"/>
                  <a:t> para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evento</a:t>
                </a:r>
                <a:r>
                  <a:rPr lang="en-US" dirty="0"/>
                  <a:t> C, 2 son </a:t>
                </a:r>
                <a:r>
                  <a:rPr lang="en-US" dirty="0" err="1"/>
                  <a:t>favorables</a:t>
                </a:r>
                <a:r>
                  <a:rPr lang="en-US" dirty="0"/>
                  <a:t> para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evento</a:t>
                </a:r>
                <a:r>
                  <a:rPr lang="en-US" dirty="0"/>
                  <a:t> D y 1 es favorable para la </a:t>
                </a:r>
                <a:r>
                  <a:rPr lang="en-US" dirty="0" err="1"/>
                  <a:t>intersección</a:t>
                </a:r>
                <a:r>
                  <a:rPr lang="en-US" dirty="0"/>
                  <a:t> del </a:t>
                </a:r>
                <a:r>
                  <a:rPr lang="en-US" dirty="0" err="1"/>
                  <a:t>evento</a:t>
                </a:r>
                <a:r>
                  <a:rPr lang="en-US" dirty="0"/>
                  <a:t> C y </a:t>
                </a:r>
                <a:r>
                  <a:rPr lang="en-US" dirty="0" err="1"/>
                  <a:t>el</a:t>
                </a:r>
                <a:r>
                  <a:rPr lang="en-US" dirty="0"/>
                  <a:t> D. </a:t>
                </a:r>
                <a:r>
                  <a:rPr lang="es-CR" dirty="0"/>
                  <a:t>¿Estos eventos son independientes</a:t>
                </a:r>
                <a:r>
                  <a:rPr lang="en-US" dirty="0"/>
                  <a:t>?</a:t>
                </a:r>
              </a:p>
              <a:p>
                <a:pPr lvl="1" algn="just"/>
                <a:endParaRPr lang="en-US" dirty="0"/>
              </a:p>
              <a:p>
                <a:pPr lvl="1" algn="just"/>
                <a:endParaRPr lang="en-US" b="0" dirty="0"/>
              </a:p>
              <a:p>
                <a:pPr marL="0" indent="0" algn="just">
                  <a:buNone/>
                </a:pPr>
                <a:endParaRPr lang="es-CR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B78972B-9AB5-E67B-58F2-AA9BBE5C0B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  <a:blipFill>
                <a:blip r:embed="rId2"/>
                <a:stretch>
                  <a:fillRect l="-1002" t="-2610" r="-1238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Breaktime">
                <a:extLst>
                  <a:ext uri="{FF2B5EF4-FFF2-40B4-BE49-F238E27FC236}">
                    <a16:creationId xmlns:a16="http://schemas.microsoft.com/office/drawing/2014/main" id="{26D848CC-37DB-1EA2-DB97-FFFD882953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8646235"/>
                  </p:ext>
                </p:extLst>
              </p:nvPr>
            </p:nvGraphicFramePr>
            <p:xfrm>
              <a:off x="4818888" y="82296"/>
              <a:ext cx="7162800" cy="15087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Add-in 2" title="Breaktime">
                <a:extLst>
                  <a:ext uri="{FF2B5EF4-FFF2-40B4-BE49-F238E27FC236}">
                    <a16:creationId xmlns:a16="http://schemas.microsoft.com/office/drawing/2014/main" id="{26D848CC-37DB-1EA2-DB97-FFFD882953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8888" y="82296"/>
                <a:ext cx="7162800" cy="15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1740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3AB23-4646-990A-E735-E46828C67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44A8-6809-E44B-41B2-B84B81AD9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444" y="603830"/>
            <a:ext cx="9807633" cy="871794"/>
          </a:xfrm>
        </p:spPr>
        <p:txBody>
          <a:bodyPr/>
          <a:lstStyle/>
          <a:p>
            <a:r>
              <a:rPr lang="es-MX" dirty="0"/>
              <a:t>Ejercicio 5: Solución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130548D-8ED5-C8D5-6D2F-AAF955D8DCF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just"/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) 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/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) 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/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s-CR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130548D-8ED5-C8D5-6D2F-AAF955D8DC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449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0C952-0E52-6502-BDF5-03DD81617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F7F75-0B28-4202-8FCB-F2ED6F4F4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Teorema</a:t>
            </a:r>
            <a:r>
              <a:rPr lang="en-US" dirty="0"/>
              <a:t> de Bayes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580296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1D44-E86C-2CF6-66D3-DEFDCE055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Fórmula</a:t>
            </a:r>
            <a:r>
              <a:rPr lang="en-US" dirty="0"/>
              <a:t> de la </a:t>
            </a:r>
            <a:r>
              <a:rPr lang="en-US" dirty="0" err="1"/>
              <a:t>probabilidad</a:t>
            </a:r>
            <a:r>
              <a:rPr lang="en-US" dirty="0"/>
              <a:t> total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FE734B-1B46-18A7-1B8A-E7E39E4D621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716832"/>
                <a:ext cx="10336877" cy="40308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CR" dirty="0"/>
                  <a:t>: 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s-CR" dirty="0"/>
                  <a:t>Conjuntos mutuamente excluyentes, es decir: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𝑝𝑎𝑟𝑎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𝑡𝑜𝑑𝑜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s-CR" dirty="0"/>
              </a:p>
              <a:p>
                <a:pPr marL="514350" indent="-514350">
                  <a:buFont typeface="+mj-lt"/>
                  <a:buAutoNum type="alphaLcParenR" startAt="2"/>
                </a:pPr>
                <a:endParaRPr lang="es-CR" dirty="0"/>
              </a:p>
              <a:p>
                <a:pPr marL="514350" indent="-514350">
                  <a:buFont typeface="+mj-lt"/>
                  <a:buAutoNum type="alphaLcParenR" startAt="2"/>
                </a:pPr>
                <a:r>
                  <a:rPr lang="es-CR" dirty="0"/>
                  <a:t>Y eventos exhaustivos: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∪⋯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s-CR" dirty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FE734B-1B46-18A7-1B8A-E7E39E4D62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716832"/>
                <a:ext cx="10336877" cy="4030825"/>
              </a:xfrm>
              <a:blipFill>
                <a:blip r:embed="rId3"/>
                <a:stretch>
                  <a:fillRect l="-1179" t="-2572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134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C448-027D-969C-D80B-E3EB70BC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Representación</a:t>
            </a:r>
            <a:r>
              <a:rPr lang="en-US" dirty="0"/>
              <a:t> </a:t>
            </a:r>
            <a:r>
              <a:rPr lang="en-US" dirty="0" err="1"/>
              <a:t>gráfica</a:t>
            </a:r>
            <a:r>
              <a:rPr lang="en-US" dirty="0"/>
              <a:t> de conjuntos </a:t>
            </a:r>
            <a:r>
              <a:rPr lang="en-US" dirty="0" err="1"/>
              <a:t>mutuamente</a:t>
            </a:r>
            <a:r>
              <a:rPr lang="en-US" dirty="0"/>
              <a:t> </a:t>
            </a:r>
            <a:r>
              <a:rPr lang="en-US" dirty="0" err="1"/>
              <a:t>excluyentes</a:t>
            </a:r>
            <a:r>
              <a:rPr lang="en-US" dirty="0"/>
              <a:t> y </a:t>
            </a:r>
            <a:r>
              <a:rPr lang="en-US" dirty="0" err="1"/>
              <a:t>exhaustivos</a:t>
            </a:r>
            <a:endParaRPr lang="es-CR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7C6C0B-A625-5B3F-03B7-EC67D72527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19831" y="1974550"/>
            <a:ext cx="5494962" cy="429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97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7F0E-5236-7E21-EAC6-C75DC8B7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Fórmula</a:t>
            </a:r>
            <a:r>
              <a:rPr lang="en-US" dirty="0"/>
              <a:t> de la </a:t>
            </a:r>
            <a:r>
              <a:rPr lang="en-US" dirty="0" err="1"/>
              <a:t>probabibilidad</a:t>
            </a:r>
            <a:r>
              <a:rPr lang="en-US" dirty="0"/>
              <a:t> total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C0DEE-E224-85B0-FB28-3D2E29A2909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Cualquier </a:t>
                </a:r>
                <a:r>
                  <a:rPr lang="en-US" dirty="0" err="1"/>
                  <a:t>evento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CR" dirty="0"/>
                  <a:t> puede ser representado por: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)∪⋯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R" dirty="0"/>
                  <a:t>, </a:t>
                </a:r>
              </a:p>
              <a:p>
                <a:pPr marL="0" indent="0">
                  <a:buNone/>
                </a:pPr>
                <a:r>
                  <a:rPr lang="es-CR" dirty="0"/>
                  <a:t>en donde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)∪⋯∪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R" dirty="0"/>
                  <a:t>, son eventos mutuamente excluyentes. 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/>
                  <a:t>Por tanto, la probabilidad total del evento A, se obtiene mediante la siguiente fórmula: </a:t>
                </a:r>
              </a:p>
              <a:p>
                <a:pPr marL="0" indent="0">
                  <a:buNone/>
                </a:pPr>
                <a:r>
                  <a:rPr lang="es-CR" dirty="0"/>
                  <a:t>	</a:t>
                </a:r>
                <a:r>
                  <a:rPr lang="en-US" dirty="0">
                    <a:ea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s-C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s-C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CR" i="1" dirty="0"/>
                  <a:t>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C0DEE-E224-85B0-FB28-3D2E29A29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  <a:blipFill>
                <a:blip r:embed="rId2"/>
                <a:stretch>
                  <a:fillRect l="-884" t="-3752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368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4788-02F0-95F1-6865-D024737C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Representación</a:t>
            </a:r>
            <a:r>
              <a:rPr lang="en-US" dirty="0"/>
              <a:t> </a:t>
            </a:r>
            <a:r>
              <a:rPr lang="en-US" dirty="0" err="1"/>
              <a:t>gráfica</a:t>
            </a:r>
            <a:r>
              <a:rPr lang="en-US" dirty="0"/>
              <a:t> del </a:t>
            </a:r>
            <a:r>
              <a:rPr lang="en-US" dirty="0" err="1"/>
              <a:t>evento</a:t>
            </a:r>
            <a:r>
              <a:rPr lang="en-US" dirty="0"/>
              <a:t> A</a:t>
            </a:r>
            <a:endParaRPr lang="es-CR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CC8DA9-E035-E5A4-F669-B8026EBC05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78358" y="1895261"/>
            <a:ext cx="4975956" cy="468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0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4E2A-CC5D-6A35-309F-9B7AA206B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R" dirty="0"/>
              <a:t>Fórmula de la probabilidad total</a:t>
            </a:r>
            <a:r>
              <a:rPr lang="en-US" dirty="0"/>
              <a:t>: </a:t>
            </a:r>
            <a:r>
              <a:rPr lang="en-US" dirty="0" err="1"/>
              <a:t>Ejemplo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75E9C6A-1E22-5B17-FE10-09FB377DBB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754155"/>
                <a:ext cx="10336877" cy="419877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Suponga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existen</a:t>
                </a:r>
                <a:r>
                  <a:rPr lang="en-US" dirty="0"/>
                  <a:t> </a:t>
                </a:r>
                <a:r>
                  <a:rPr lang="en-US" dirty="0" err="1"/>
                  <a:t>solamente</a:t>
                </a:r>
                <a:r>
                  <a:rPr lang="en-US" dirty="0"/>
                  <a:t> </a:t>
                </a:r>
                <a:r>
                  <a:rPr lang="en-US" dirty="0" err="1"/>
                  <a:t>tres</a:t>
                </a:r>
                <a:r>
                  <a:rPr lang="en-US" dirty="0"/>
                  <a:t> </a:t>
                </a:r>
                <a:r>
                  <a:rPr lang="en-US" dirty="0" err="1"/>
                  <a:t>empresas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producen</a:t>
                </a:r>
                <a:r>
                  <a:rPr lang="en-US" dirty="0"/>
                  <a:t> </a:t>
                </a:r>
                <a:r>
                  <a:rPr lang="en-US" dirty="0" err="1"/>
                  <a:t>teléfonos</a:t>
                </a:r>
                <a:r>
                  <a:rPr lang="en-US" dirty="0"/>
                  <a:t> (A, B, C), con </a:t>
                </a:r>
                <a:r>
                  <a:rPr lang="en-US" dirty="0" err="1"/>
                  <a:t>participación</a:t>
                </a:r>
                <a:r>
                  <a:rPr lang="en-US" dirty="0"/>
                  <a:t> de mercado de 30%, 40% y 30%, </a:t>
                </a:r>
                <a:r>
                  <a:rPr lang="en-US" dirty="0" err="1"/>
                  <a:t>respectivamente</a:t>
                </a:r>
                <a:r>
                  <a:rPr lang="en-US" dirty="0"/>
                  <a:t>. </a:t>
                </a:r>
                <a:r>
                  <a:rPr lang="en-US" dirty="0" err="1"/>
                  <a:t>Suponga</a:t>
                </a:r>
                <a:r>
                  <a:rPr lang="en-US" dirty="0"/>
                  <a:t> también 5%, 8% y 10% de los </a:t>
                </a:r>
                <a:r>
                  <a:rPr lang="en-US" dirty="0" err="1"/>
                  <a:t>teléfonos</a:t>
                </a:r>
                <a:r>
                  <a:rPr lang="en-US" dirty="0"/>
                  <a:t> </a:t>
                </a:r>
                <a:r>
                  <a:rPr lang="en-US" dirty="0" err="1"/>
                  <a:t>fallan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primer a</a:t>
                </a:r>
                <a:r>
                  <a:rPr lang="es-CR" dirty="0" err="1"/>
                  <a:t>ño</a:t>
                </a:r>
                <a:r>
                  <a:rPr lang="es-CR" dirty="0"/>
                  <a:t>. </a:t>
                </a:r>
              </a:p>
              <a:p>
                <a:r>
                  <a:rPr lang="es-CR" dirty="0"/>
                  <a:t>Si se compra un teléfono de forma aleatoria, ¿cuál es la probabilidad de que el teléfono falle en un año</a:t>
                </a:r>
                <a:r>
                  <a:rPr lang="en-US" dirty="0"/>
                  <a:t>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𝑝𝑟𝑜𝑏𝑎𝑏𝑖𝑙𝑖𝑑𝑎𝑑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𝑞𝑢𝑒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𝑓𝑜𝑛𝑜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𝑓𝑎𝑙𝑙𝑒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𝑝𝑟𝑜𝑏𝑎𝑏𝑖𝑙𝑖𝑑𝑎𝑑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𝑐𝑜𝑚𝑝𝑟𝑎𝑟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𝑓𝑜𝑛𝑜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𝑐𝑜𝑚𝑝𝑎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ñ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𝑖𝑎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s-C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s-C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s-C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s-C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s-C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0.30∗0.05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0.40∗0.08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0.30∗0.10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=0.077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75E9C6A-1E22-5B17-FE10-09FB377DBB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754155"/>
                <a:ext cx="10336877" cy="4198776"/>
              </a:xfrm>
              <a:blipFill>
                <a:blip r:embed="rId2"/>
                <a:stretch>
                  <a:fillRect l="-884" t="-3628" r="-1651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984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0FA7-FE91-C2D3-BB9E-714834BB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Teorema</a:t>
            </a:r>
            <a:r>
              <a:rPr lang="en-US" dirty="0"/>
              <a:t> de Bayes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36D74C-F6B5-D863-BF72-809F9AE5DD1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88909" y="1825387"/>
                <a:ext cx="10336877" cy="315716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Sea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 un </a:t>
                </a:r>
                <a:r>
                  <a:rPr lang="en-US" dirty="0" err="1"/>
                  <a:t>evento</a:t>
                </a:r>
                <a:r>
                  <a:rPr lang="en-US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s-CR" b="1" dirty="0"/>
                  <a:t> </a:t>
                </a:r>
                <a:r>
                  <a:rPr lang="es-CR" dirty="0"/>
                  <a:t>eventos mutuamente excluyentes y exhaustivos. Entonces, para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…, 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s-CR" dirty="0"/>
                  <a:t>: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0F9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s-CR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s-CR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000F9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F9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F9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0F9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s-CR" b="1" i="1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000F9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solidFill>
                                        <a:srgbClr val="000F9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0F9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1" i="1" smtClean="0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1" i="1" smtClean="0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b="1" i="1" smtClean="0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 smtClean="0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sup>
                            <m:e>
                              <m:r>
                                <a:rPr lang="en-US" b="1" i="1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000F9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0F9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F9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solidFill>
                                            <a:srgbClr val="000F9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1" i="1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000F9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000F9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s-CR" b="1" i="1">
                                      <a:solidFill>
                                        <a:srgbClr val="000F9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0F9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F9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solidFill>
                                            <a:srgbClr val="000F9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000F9F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000F9F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s-CR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s-CR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⟶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𝑷𝒓𝒐𝒃𝒂𝒃𝒊𝒍𝒊𝒅𝒂𝒅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𝒑𝒐𝒔𝒕𝒆𝒓𝒊𝒐𝒓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𝒅𝒆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000F9F"/>
                  </a:solidFill>
                  <a:ea typeface="Cambria Math" panose="02040503050406030204" pitchFamily="18" charset="0"/>
                </a:endParaRPr>
              </a:p>
              <a:p>
                <a:endParaRPr lang="en-US" b="1" i="1" dirty="0">
                  <a:solidFill>
                    <a:srgbClr val="000F9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s-CR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𝑷𝒓𝒐𝒃𝒂𝒃𝒊𝒍𝒊𝒅𝒂𝒅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𝒑𝒓𝒆𝒗𝒊𝒂</m:t>
                    </m:r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000F9F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F9F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F9F"/>
                  </a:solidFill>
                  <a:ea typeface="Cambria Math" panose="02040503050406030204" pitchFamily="18" charset="0"/>
                </a:endParaRPr>
              </a:p>
              <a:p>
                <a:endParaRPr lang="es-CR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36D74C-F6B5-D863-BF72-809F9AE5D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88909" y="1825387"/>
                <a:ext cx="10336877" cy="3157160"/>
              </a:xfrm>
              <a:blipFill>
                <a:blip r:embed="rId2"/>
                <a:stretch>
                  <a:fillRect l="-531" t="-3475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F5824A6-CD23-3FF5-95A1-65306451EBD5}"/>
              </a:ext>
            </a:extLst>
          </p:cNvPr>
          <p:cNvSpPr txBox="1"/>
          <p:nvPr/>
        </p:nvSpPr>
        <p:spPr>
          <a:xfrm>
            <a:off x="269032" y="5239004"/>
            <a:ext cx="11653935" cy="1384995"/>
          </a:xfrm>
          <a:prstGeom prst="rect">
            <a:avLst/>
          </a:prstGeom>
          <a:solidFill>
            <a:schemeClr val="bg1"/>
          </a:solidFill>
          <a:ln>
            <a:solidFill>
              <a:srgbClr val="000F9F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El </a:t>
            </a:r>
            <a:r>
              <a:rPr lang="en-US" sz="2800" b="1" dirty="0" err="1"/>
              <a:t>teorema</a:t>
            </a:r>
            <a:r>
              <a:rPr lang="en-US" sz="2800" b="1" dirty="0"/>
              <a:t> de Bayes es la </a:t>
            </a:r>
            <a:r>
              <a:rPr lang="en-US" sz="2800" b="1" dirty="0" err="1"/>
              <a:t>regla</a:t>
            </a:r>
            <a:r>
              <a:rPr lang="en-US" sz="2800" b="1" dirty="0"/>
              <a:t> </a:t>
            </a:r>
            <a:r>
              <a:rPr lang="en-US" sz="2800" b="1" dirty="0" err="1"/>
              <a:t>que</a:t>
            </a:r>
            <a:r>
              <a:rPr lang="en-US" sz="2800" b="1" dirty="0"/>
              <a:t> </a:t>
            </a:r>
            <a:r>
              <a:rPr lang="en-US" sz="2800" b="1" dirty="0" err="1"/>
              <a:t>convierte</a:t>
            </a:r>
            <a:r>
              <a:rPr lang="en-US" sz="2800" b="1" dirty="0"/>
              <a:t> la </a:t>
            </a:r>
            <a:r>
              <a:rPr lang="en-US" sz="2800" b="1" dirty="0" err="1"/>
              <a:t>probabilidad</a:t>
            </a:r>
            <a:r>
              <a:rPr lang="en-US" sz="2800" b="1" dirty="0"/>
              <a:t> previa </a:t>
            </a:r>
            <a:r>
              <a:rPr lang="en-US" sz="2800" b="1" dirty="0" err="1"/>
              <a:t>en</a:t>
            </a:r>
            <a:r>
              <a:rPr lang="en-US" sz="2800" b="1" dirty="0"/>
              <a:t> la </a:t>
            </a:r>
            <a:r>
              <a:rPr lang="en-US" sz="2800" b="1" dirty="0" err="1"/>
              <a:t>probabilidad</a:t>
            </a:r>
            <a:r>
              <a:rPr lang="en-US" sz="2800" b="1" dirty="0"/>
              <a:t> posterior, </a:t>
            </a:r>
            <a:r>
              <a:rPr lang="en-US" sz="2800" b="1" dirty="0" err="1"/>
              <a:t>sumando</a:t>
            </a:r>
            <a:r>
              <a:rPr lang="en-US" sz="2800" b="1" dirty="0"/>
              <a:t> </a:t>
            </a:r>
            <a:r>
              <a:rPr lang="en-US" sz="2800" b="1" dirty="0" err="1"/>
              <a:t>información</a:t>
            </a:r>
            <a:r>
              <a:rPr lang="en-US" sz="2800" b="1" dirty="0"/>
              <a:t> </a:t>
            </a:r>
            <a:r>
              <a:rPr lang="en-US" sz="2800" b="1" dirty="0" err="1"/>
              <a:t>adicional</a:t>
            </a:r>
            <a:r>
              <a:rPr lang="en-US" sz="2800" b="1" dirty="0"/>
              <a:t> de </a:t>
            </a:r>
            <a:r>
              <a:rPr lang="en-US" sz="2800" b="1" dirty="0" err="1"/>
              <a:t>otro</a:t>
            </a:r>
            <a:r>
              <a:rPr lang="en-US" sz="2800" b="1" dirty="0"/>
              <a:t> </a:t>
            </a:r>
            <a:r>
              <a:rPr lang="en-US" sz="2800" b="1" dirty="0" err="1"/>
              <a:t>evento</a:t>
            </a:r>
            <a:r>
              <a:rPr lang="en-US" sz="2800" b="1" dirty="0"/>
              <a:t> (A) </a:t>
            </a:r>
            <a:r>
              <a:rPr lang="en-US" sz="2800" b="1" dirty="0" err="1"/>
              <a:t>que</a:t>
            </a:r>
            <a:r>
              <a:rPr lang="en-US" sz="2800" b="1" dirty="0"/>
              <a:t> </a:t>
            </a:r>
            <a:r>
              <a:rPr lang="en-US" sz="2800" b="1" dirty="0" err="1"/>
              <a:t>ya</a:t>
            </a:r>
            <a:r>
              <a:rPr lang="en-US" sz="2800" b="1" dirty="0"/>
              <a:t> </a:t>
            </a:r>
            <a:r>
              <a:rPr lang="en-US" sz="2800" b="1" dirty="0" err="1"/>
              <a:t>ocurrió</a:t>
            </a:r>
            <a:r>
              <a:rPr lang="en-US" sz="2800" b="1" dirty="0"/>
              <a:t>  </a:t>
            </a:r>
            <a:endParaRPr lang="es-CR" sz="2800" b="1" dirty="0"/>
          </a:p>
        </p:txBody>
      </p:sp>
    </p:spTree>
    <p:extLst>
      <p:ext uri="{BB962C8B-B14F-4D97-AF65-F5344CB8AC3E}">
        <p14:creationId xmlns:p14="http://schemas.microsoft.com/office/powerpoint/2010/main" val="217214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7490-F392-C202-40EA-E325D6E5E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CBC294-C7FD-409C-F70A-5FBE45D9976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9807633" cy="3735410"/>
              </a:xfrm>
            </p:spPr>
            <p:txBody>
              <a:bodyPr/>
              <a:lstStyle/>
              <a:p>
                <a:r>
                  <a:rPr lang="es-CR" dirty="0"/>
                  <a:t>¿Cuál es la probabilidad de que un teléfono que falló en el primer año, haya sido manufacturado por la compañía A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0F9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0F9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CR" b="1" i="1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r>
                            <a:rPr lang="es-CR" b="1" i="1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b="1" i="1">
                          <a:solidFill>
                            <a:srgbClr val="000F9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𝟑𝟎</m:t>
                          </m:r>
                          <m: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∗</m:t>
                          </m:r>
                          <m: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𝟎𝟓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solidFill>
                                <a:srgbClr val="000F9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𝟎𝟕𝟕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000F9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0F9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000F9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000F9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𝟏𝟗𝟒𝟖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CBC294-C7FD-409C-F70A-5FBE45D997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9807633" cy="3735410"/>
              </a:xfrm>
              <a:blipFill>
                <a:blip r:embed="rId2"/>
                <a:stretch>
                  <a:fillRect l="-1057" t="-261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4346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1FA9-5F41-90CA-DE12-6C189C25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 6</a:t>
            </a:r>
            <a:endParaRPr lang="es-C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DE646-47BF-7B39-C681-1E8C2D686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022633" cy="3735410"/>
          </a:xfrm>
        </p:spPr>
        <p:txBody>
          <a:bodyPr>
            <a:normAutofit/>
          </a:bodyPr>
          <a:lstStyle/>
          <a:p>
            <a:r>
              <a:rPr lang="es-CR" dirty="0"/>
              <a:t>¿Cuál es la probabilidad de que un teléfono que falló en el primer año, haya sido manufacturado por la compañía B</a:t>
            </a:r>
            <a:r>
              <a:rPr lang="en-US" dirty="0"/>
              <a:t>? </a:t>
            </a:r>
          </a:p>
          <a:p>
            <a:r>
              <a:rPr lang="en-US" dirty="0"/>
              <a:t>La </a:t>
            </a:r>
            <a:r>
              <a:rPr lang="en-US" dirty="0" err="1"/>
              <a:t>participación</a:t>
            </a:r>
            <a:r>
              <a:rPr lang="en-US" dirty="0"/>
              <a:t> de mercado de la </a:t>
            </a:r>
            <a:r>
              <a:rPr lang="en-US" dirty="0" err="1"/>
              <a:t>compa</a:t>
            </a:r>
            <a:r>
              <a:rPr lang="es-CR" dirty="0" err="1"/>
              <a:t>ñía</a:t>
            </a:r>
            <a:r>
              <a:rPr lang="es-CR" dirty="0"/>
              <a:t> B  es 40%, la tasa de fallo es 8% y la probabilidad total es 0.077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Breaktime">
                <a:extLst>
                  <a:ext uri="{FF2B5EF4-FFF2-40B4-BE49-F238E27FC236}">
                    <a16:creationId xmlns:a16="http://schemas.microsoft.com/office/drawing/2014/main" id="{8401AB38-83E2-2CD9-74CE-27DF4D117D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8646235"/>
                  </p:ext>
                </p:extLst>
              </p:nvPr>
            </p:nvGraphicFramePr>
            <p:xfrm>
              <a:off x="4818888" y="82296"/>
              <a:ext cx="7162800" cy="15087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 4" title="Breaktime">
                <a:extLst>
                  <a:ext uri="{FF2B5EF4-FFF2-40B4-BE49-F238E27FC236}">
                    <a16:creationId xmlns:a16="http://schemas.microsoft.com/office/drawing/2014/main" id="{8401AB38-83E2-2CD9-74CE-27DF4D117D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18888" y="82296"/>
                <a:ext cx="7162800" cy="15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530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37F00-4964-DDF9-4EE6-6094A676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 6: </a:t>
            </a:r>
            <a:r>
              <a:rPr lang="en-US" dirty="0" err="1"/>
              <a:t>Solución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75AE2C-CE8F-E3F1-E7A8-1E8C8E44EE5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9966649" cy="373541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s-CR" b="1" i="1" smtClean="0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s-CR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s-CR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s-CR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</m:t>
                        </m:r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𝟎𝟖</m:t>
                        </m:r>
                      </m:num>
                      <m:den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𝟎𝟕𝟕</m:t>
                        </m:r>
                      </m:den>
                    </m:f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CR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𝟒𝟏𝟓𝟓</m:t>
                    </m:r>
                  </m:oMath>
                </a14:m>
                <a:endParaRPr lang="es-CR" dirty="0"/>
              </a:p>
              <a:p>
                <a:endParaRPr lang="es-C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75AE2C-CE8F-E3F1-E7A8-1E8C8E44EE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9966649" cy="3735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544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FE15-60D6-AF38-6192-11966CB87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Ejercicio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097DA-8CFB-CF09-FD89-86F5E5B6A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r>
              <a:rPr lang="es-CR" dirty="0"/>
              <a:t>En una fábrica, 3 maquinas (1, 2, 3) producen chips. La fábrica 1 produce 35% de la producción, la máquina 2 produce 25% y la máquina 3, el restante 40%.</a:t>
            </a:r>
          </a:p>
          <a:p>
            <a:r>
              <a:rPr lang="es-CR" dirty="0"/>
              <a:t>Las máquinas tienen un porcentaje de fallo de 2%, 1% y 3%, respectivamente.</a:t>
            </a:r>
          </a:p>
          <a:p>
            <a:endParaRPr lang="es-CR" dirty="0"/>
          </a:p>
          <a:p>
            <a:r>
              <a:rPr lang="es-CR" dirty="0"/>
              <a:t>Si se selecciona un chip dañado, ¿cuál es la probabilidad de que haya producido por la máquina 3</a:t>
            </a:r>
            <a:r>
              <a:rPr lang="en-US" dirty="0"/>
              <a:t>?</a:t>
            </a:r>
            <a:r>
              <a:rPr lang="es-CR" dirty="0"/>
              <a:t>  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Breaktime">
                <a:extLst>
                  <a:ext uri="{FF2B5EF4-FFF2-40B4-BE49-F238E27FC236}">
                    <a16:creationId xmlns:a16="http://schemas.microsoft.com/office/drawing/2014/main" id="{D5D5CA46-4769-2F68-EEBC-8A10F352D7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8646235"/>
                  </p:ext>
                </p:extLst>
              </p:nvPr>
            </p:nvGraphicFramePr>
            <p:xfrm>
              <a:off x="4818888" y="82296"/>
              <a:ext cx="7162800" cy="15087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 4" title="Breaktime">
                <a:extLst>
                  <a:ext uri="{FF2B5EF4-FFF2-40B4-BE49-F238E27FC236}">
                    <a16:creationId xmlns:a16="http://schemas.microsoft.com/office/drawing/2014/main" id="{D5D5CA46-4769-2F68-EEBC-8A10F352D7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18888" y="82296"/>
                <a:ext cx="7162800" cy="15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9920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DC39-B38D-D7F2-6570-BF526BB22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 7: </a:t>
            </a:r>
            <a:r>
              <a:rPr lang="en-US" dirty="0" err="1"/>
              <a:t>Solución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EB3908-82EA-0572-7EAF-94E2AA2C047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54563" y="2067983"/>
                <a:ext cx="11607281" cy="373541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6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6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  <m:r>
                          <a:rPr lang="en-US" sz="26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6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  <m:e>
                        <m:r>
                          <a:rPr lang="en-US" sz="26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600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600" b="1" i="1">
                                    <a:solidFill>
                                      <a:srgbClr val="000F9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>
                                    <a:solidFill>
                                      <a:srgbClr val="000F9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000F9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  <m:r>
                          <a:rPr lang="en-US" sz="26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sz="2600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s-CR" sz="2600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600" b="1" i="1">
                                    <a:solidFill>
                                      <a:srgbClr val="000F9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>
                                    <a:solidFill>
                                      <a:srgbClr val="000F9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b>
                                <m:r>
                                  <a:rPr lang="en-US" sz="2600" b="1" i="1">
                                    <a:solidFill>
                                      <a:srgbClr val="000F9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𝟑𝟓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𝟎𝟐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𝟎𝟏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𝟒𝟎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𝟎𝟑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6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𝟒𝟑</m:t>
                        </m:r>
                      </m:num>
                      <m:den>
                        <m:r>
                          <a:rPr lang="en-US" sz="26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𝟐𝟎𝟎𝟎</m:t>
                        </m:r>
                      </m:den>
                    </m:f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6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𝟎𝟐𝟏𝟓</m:t>
                    </m:r>
                  </m:oMath>
                </a14:m>
                <a:endParaRPr lang="en-US" sz="2600" b="1" i="1" dirty="0">
                  <a:solidFill>
                    <a:srgbClr val="000F9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600" b="1" i="1" dirty="0">
                  <a:solidFill>
                    <a:srgbClr val="000F9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0F9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s-CR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a:rPr lang="es-CR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sz="2400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s-CR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</m:t>
                        </m:r>
                        <m: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𝟎𝟑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𝟎𝟐𝟏𝟓</m:t>
                        </m:r>
                      </m:den>
                    </m:f>
                    <m:r>
                      <a:rPr lang="en-US" sz="2400" b="1" i="1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𝟐𝟒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000F9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𝟒𝟑</m:t>
                        </m:r>
                      </m:den>
                    </m:f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𝟓𝟓</m:t>
                    </m:r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𝟖𝟏</m:t>
                    </m:r>
                    <m:r>
                      <a:rPr lang="en-US" sz="2400" b="1" i="1" smtClean="0">
                        <a:solidFill>
                          <a:srgbClr val="000F9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s-CR" sz="2400" dirty="0"/>
                  <a:t> </a:t>
                </a:r>
              </a:p>
              <a:p>
                <a:pPr marL="0" indent="0">
                  <a:buNone/>
                </a:pPr>
                <a:endParaRPr lang="es-CR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EB3908-82EA-0572-7EAF-94E2AA2C0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54563" y="2067983"/>
                <a:ext cx="11607281" cy="3735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945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26C51-A062-E522-1DBC-7755D61F27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Laboratorio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6247001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6E4245-F18F-0F4C-8002-A019D1760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endParaRPr lang="es-C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E8D84-0987-B82F-BF59-0C21F1DF8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 </a:t>
            </a:r>
            <a:r>
              <a:rPr lang="en-US" dirty="0" err="1"/>
              <a:t>el</a:t>
            </a:r>
            <a:r>
              <a:rPr lang="en-US" dirty="0"/>
              <a:t> Sistema </a:t>
            </a:r>
            <a:r>
              <a:rPr lang="en-US" dirty="0" err="1"/>
              <a:t>bancario</a:t>
            </a:r>
            <a:r>
              <a:rPr lang="en-US" dirty="0"/>
              <a:t> hay 7 </a:t>
            </a:r>
            <a:r>
              <a:rPr lang="en-US" dirty="0" err="1"/>
              <a:t>bancos</a:t>
            </a:r>
            <a:r>
              <a:rPr lang="en-US" dirty="0"/>
              <a:t> (A, B, C, D, E, F, G),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participación</a:t>
            </a:r>
            <a:r>
              <a:rPr lang="en-US" dirty="0"/>
              <a:t> de mercado de 10%, 20%, 15%, 14%, 17%, 4% y 20% </a:t>
            </a:r>
            <a:r>
              <a:rPr lang="en-US" dirty="0" err="1"/>
              <a:t>respectivamente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Cada banco cobra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promedio</a:t>
            </a:r>
            <a:r>
              <a:rPr lang="en-US" dirty="0"/>
              <a:t> </a:t>
            </a:r>
            <a:r>
              <a:rPr lang="en-US" dirty="0" err="1"/>
              <a:t>intereses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25%, 5%, 30%, 15%, 7%, 14%, 7%  </a:t>
            </a:r>
            <a:r>
              <a:rPr lang="en-US" dirty="0" err="1"/>
              <a:t>respectivamente</a:t>
            </a:r>
            <a:r>
              <a:rPr lang="en-US" dirty="0"/>
              <a:t>.</a:t>
            </a:r>
          </a:p>
          <a:p>
            <a:endParaRPr lang="es-CR" dirty="0"/>
          </a:p>
          <a:p>
            <a:r>
              <a:rPr lang="es-CR" dirty="0"/>
              <a:t>Si tengo un préstamo de 10%, ¿cuál es la probabilidad de que ese préstamo haya sido otorgado por el banco A?</a:t>
            </a:r>
          </a:p>
        </p:txBody>
      </p:sp>
    </p:spTree>
    <p:extLst>
      <p:ext uri="{BB962C8B-B14F-4D97-AF65-F5344CB8AC3E}">
        <p14:creationId xmlns:p14="http://schemas.microsoft.com/office/powerpoint/2010/main" val="4125589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7963-9847-D956-EC01-6D075D5E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Bibliografía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764F-3023-9E9E-4783-CDF2241DD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Hogg, Robert V., Elliot A. Tanis, and Dale L. Zimmerman. 2015.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Probability and Statistical Inference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Pearson</a:t>
            </a:r>
          </a:p>
          <a:p>
            <a:endParaRPr lang="en-US" dirty="0">
              <a:solidFill>
                <a:srgbClr val="373A3C"/>
              </a:solidFill>
              <a:latin typeface="Source Sans Pro" panose="020B0503030403020204" pitchFamily="34" charset="0"/>
            </a:endParaRPr>
          </a:p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Sahu, Sujit. 2024. 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R.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Springer </a:t>
            </a:r>
          </a:p>
        </p:txBody>
      </p:sp>
    </p:spTree>
    <p:extLst>
      <p:ext uri="{BB962C8B-B14F-4D97-AF65-F5344CB8AC3E}">
        <p14:creationId xmlns:p14="http://schemas.microsoft.com/office/powerpoint/2010/main" val="2728612513"/>
      </p:ext>
    </p:extLst>
  </p:cSld>
  <p:clrMapOvr>
    <a:masterClrMapping/>
  </p:clrMapOvr>
</p:sld>
</file>

<file path=ppt/theme/theme1.xml><?xml version="1.0" encoding="utf-8"?>
<a:theme xmlns:a="http://schemas.openxmlformats.org/drawingml/2006/main" name="Fidélitas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webextensions/_rels/webextension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webextensions/_rels/webextension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webextensions/_rels/webextension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webextensions/_rels/webextension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webextensions/webextension1.xml><?xml version="1.0" encoding="utf-8"?>
<we:webextension xmlns:we="http://schemas.microsoft.com/office/webextensions/webextension/2010/11" id="{073BF7C9-3724-458A-B800-93ECAE89F464}">
  <we:reference id="wa200001661" version="3.1.2.0" store="en-US" storeType="OMEX"/>
  <we:alternateReferences>
    <we:reference id="WA200001661" version="3.1.2.0" store="WA200001661" storeType="OMEX"/>
  </we:alternateReferences>
  <we:properties>
    <we:property name="breaktime.flosim.com_fontColour" value="null"/>
    <we:property name="breaktime.flosim.com_startMinutes" value="5"/>
    <we:property name="breaktime.flosim.com_time" value="0"/>
    <we:property name="breaktime.flosim.com_type" value="&quot;&quot;"/>
    <we:property name="time" value="300"/>
    <we:property name="type" value="&quot;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30348A88-5885-42D0-B2FA-B9EBBD962F3E}">
  <we:reference id="wa200001661" version="3.1.2.0" store="en-US" storeType="OMEX"/>
  <we:alternateReferences>
    <we:reference id="WA200001661" version="3.1.2.0" store="WA200001661" storeType="OMEX"/>
  </we:alternateReferences>
  <we:properties>
    <we:property name="breaktime.flosim.com_fontColour" value="null"/>
    <we:property name="breaktime.flosim.com_startMinutes" value="5"/>
    <we:property name="breaktime.flosim.com_time" value="0"/>
    <we:property name="breaktime.flosim.com_type" value="&quot;&quot;"/>
    <we:property name="time" value="300"/>
    <we:property name="type" value="&quot;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083A905C-DC7D-4F0B-9FF9-39B027795E2D}">
  <we:reference id="wa200001661" version="3.1.2.0" store="en-US" storeType="OMEX"/>
  <we:alternateReferences>
    <we:reference id="WA200001661" version="3.1.2.0" store="WA200001661" storeType="OMEX"/>
  </we:alternateReferences>
  <we:properties>
    <we:property name="breaktime.flosim.com_fontColour" value="null"/>
    <we:property name="breaktime.flosim.com_startMinutes" value="5"/>
    <we:property name="breaktime.flosim.com_time" value="0"/>
    <we:property name="breaktime.flosim.com_type" value="&quot;&quot;"/>
    <we:property name="time" value="300"/>
    <we:property name="type" value="&quot;&quot;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CAB6BE05-9F31-4D1C-8413-1CFFFF696041}">
  <we:reference id="wa200001661" version="3.1.2.0" store="en-US" storeType="OMEX"/>
  <we:alternateReferences>
    <we:reference id="WA200001661" version="3.1.2.0" store="WA200001661" storeType="OMEX"/>
  </we:alternateReferences>
  <we:properties>
    <we:property name="breaktime.flosim.com_fontColour" value="null"/>
    <we:property name="breaktime.flosim.com_startMinutes" value="5"/>
    <we:property name="breaktime.flosim.com_time" value="0"/>
    <we:property name="breaktime.flosim.com_type" value="&quot;&quot;"/>
    <we:property name="time" value="300"/>
    <we:property name="type" value="&quot;&quot;"/>
  </we:properties>
  <we:bindings/>
  <we:snapshot xmlns:r="http://schemas.openxmlformats.org/officeDocument/2006/relationships" r:embed="rId1"/>
</we:webextension>
</file>

<file path=ppt/webextensions/webextension5.xml><?xml version="1.0" encoding="utf-8"?>
<we:webextension xmlns:we="http://schemas.microsoft.com/office/webextensions/webextension/2010/11" id="{8FDD0526-327F-49D7-82F7-2F4B5E7E73F5}">
  <we:reference id="wa200001661" version="3.1.2.0" store="en-US" storeType="OMEX"/>
  <we:alternateReferences>
    <we:reference id="WA200001661" version="3.1.2.0" store="WA200001661" storeType="OMEX"/>
  </we:alternateReferences>
  <we:properties>
    <we:property name="breaktime.flosim.com_fontColour" value="null"/>
    <we:property name="breaktime.flosim.com_startMinutes" value="5"/>
    <we:property name="breaktime.flosim.com_time" value="0"/>
    <we:property name="breaktime.flosim.com_type" value="&quot;&quot;"/>
    <we:property name="time" value="300"/>
    <we:property name="type" value="&quot;&quot;"/>
  </we:properties>
  <we:bindings/>
  <we:snapshot xmlns:r="http://schemas.openxmlformats.org/officeDocument/2006/relationships" r:embed="rId1"/>
</we:webextension>
</file>

<file path=ppt/webextensions/webextension6.xml><?xml version="1.0" encoding="utf-8"?>
<we:webextension xmlns:we="http://schemas.microsoft.com/office/webextensions/webextension/2010/11" id="{A3ADD690-D257-4D6B-A98A-A8AD143DFDD5}">
  <we:reference id="wa200001661" version="3.1.2.0" store="en-US" storeType="OMEX"/>
  <we:alternateReferences>
    <we:reference id="WA200001661" version="3.1.2.0" store="WA200001661" storeType="OMEX"/>
  </we:alternateReferences>
  <we:properties>
    <we:property name="breaktime.flosim.com_fontColour" value="null"/>
    <we:property name="breaktime.flosim.com_startMinutes" value="5"/>
    <we:property name="breaktime.flosim.com_time" value="0"/>
    <we:property name="breaktime.flosim.com_type" value="&quot;&quot;"/>
    <we:property name="time" value="300"/>
    <we:property name="type" value="&quot;&quot;"/>
  </we:properties>
  <we:bindings/>
  <we:snapshot xmlns:r="http://schemas.openxmlformats.org/officeDocument/2006/relationships" r:embed="rId1"/>
</we:webextension>
</file>

<file path=ppt/webextensions/webextension7.xml><?xml version="1.0" encoding="utf-8"?>
<we:webextension xmlns:we="http://schemas.microsoft.com/office/webextensions/webextension/2010/11" id="{B03EBFAB-0879-453E-BA2D-56F72318A00E}">
  <we:reference id="wa200001661" version="3.1.2.0" store="en-US" storeType="OMEX"/>
  <we:alternateReferences>
    <we:reference id="WA200001661" version="3.1.2.0" store="WA200001661" storeType="OMEX"/>
  </we:alternateReferences>
  <we:properties>
    <we:property name="breaktime.flosim.com_fontColour" value="null"/>
    <we:property name="breaktime.flosim.com_startMinutes" value="5"/>
    <we:property name="breaktime.flosim.com_time" value="300"/>
    <we:property name="breaktime.flosim.com_type" value="&quot;&quot;"/>
    <we:property name="time" value="300"/>
    <we:property name="type" value="&quot;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10794</TotalTime>
  <Words>1413</Words>
  <Application>Microsoft Office PowerPoint</Application>
  <PresentationFormat>Widescreen</PresentationFormat>
  <Paragraphs>159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Cambria Math</vt:lpstr>
      <vt:lpstr>Source Sans Pro</vt:lpstr>
      <vt:lpstr>Trust Sans</vt:lpstr>
      <vt:lpstr>Trust Sans Black</vt:lpstr>
      <vt:lpstr>Trust Sans Bold</vt:lpstr>
      <vt:lpstr>Fidélitas </vt:lpstr>
      <vt:lpstr>Teoría Estadística y Métodos Cuantitativos</vt:lpstr>
      <vt:lpstr>Contenido</vt:lpstr>
      <vt:lpstr>Probabilidad Condicional</vt:lpstr>
      <vt:lpstr>Definición</vt:lpstr>
      <vt:lpstr>Ejercicio 1</vt:lpstr>
      <vt:lpstr>Ejercicio: Solución</vt:lpstr>
      <vt:lpstr>Probabilidad de ocurrencia de dos eventos</vt:lpstr>
      <vt:lpstr>Ejercicio 2</vt:lpstr>
      <vt:lpstr>Ejercicio 2: Solución</vt:lpstr>
      <vt:lpstr>Ejercicio 3</vt:lpstr>
      <vt:lpstr>Ejercicio 3: Solución</vt:lpstr>
      <vt:lpstr>Eventos independientes</vt:lpstr>
      <vt:lpstr>Definición</vt:lpstr>
      <vt:lpstr>Ejercicio 4</vt:lpstr>
      <vt:lpstr>Ejercicio 4: Solución</vt:lpstr>
      <vt:lpstr>Ejercicio 5</vt:lpstr>
      <vt:lpstr>Ejercicio 5: Solución</vt:lpstr>
      <vt:lpstr>Teorema de Bayes</vt:lpstr>
      <vt:lpstr>Fórmula de la probabilidad total</vt:lpstr>
      <vt:lpstr>Representación gráfica de conjuntos mutuamente excluyentes y exhaustivos</vt:lpstr>
      <vt:lpstr>Fórmula de la probabibilidad total</vt:lpstr>
      <vt:lpstr>Representación gráfica del evento A</vt:lpstr>
      <vt:lpstr>Fórmula de la probabilidad total: Ejemplo</vt:lpstr>
      <vt:lpstr>Teorema de Bayes</vt:lpstr>
      <vt:lpstr>Ejemplo</vt:lpstr>
      <vt:lpstr>Ejercicio 6</vt:lpstr>
      <vt:lpstr>Ejercicio 6: Solución</vt:lpstr>
      <vt:lpstr>Ejercicio 7</vt:lpstr>
      <vt:lpstr>Ejercicio 7: Solución</vt:lpstr>
      <vt:lpstr>Laboratorio</vt:lpstr>
      <vt:lpstr>Ejercicio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Fiorella Chacón Morales</dc:creator>
  <cp:lastModifiedBy>Fabian Brenes</cp:lastModifiedBy>
  <cp:revision>23</cp:revision>
  <dcterms:created xsi:type="dcterms:W3CDTF">2023-02-23T21:29:48Z</dcterms:created>
  <dcterms:modified xsi:type="dcterms:W3CDTF">2026-06-06T02:25:39Z</dcterms:modified>
</cp:coreProperties>
</file>