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354" r:id="rId2"/>
    <p:sldId id="382" r:id="rId3"/>
    <p:sldId id="406" r:id="rId4"/>
    <p:sldId id="444" r:id="rId5"/>
    <p:sldId id="404" r:id="rId6"/>
    <p:sldId id="416" r:id="rId7"/>
    <p:sldId id="417" r:id="rId8"/>
    <p:sldId id="418" r:id="rId9"/>
    <p:sldId id="419" r:id="rId10"/>
    <p:sldId id="420" r:id="rId11"/>
    <p:sldId id="421" r:id="rId12"/>
    <p:sldId id="423" r:id="rId13"/>
    <p:sldId id="442" r:id="rId14"/>
    <p:sldId id="440" r:id="rId15"/>
    <p:sldId id="438" r:id="rId16"/>
    <p:sldId id="441" r:id="rId17"/>
    <p:sldId id="439" r:id="rId18"/>
    <p:sldId id="424" r:id="rId19"/>
    <p:sldId id="425" r:id="rId20"/>
    <p:sldId id="426" r:id="rId21"/>
    <p:sldId id="427" r:id="rId22"/>
    <p:sldId id="428" r:id="rId23"/>
    <p:sldId id="429" r:id="rId24"/>
    <p:sldId id="430" r:id="rId25"/>
    <p:sldId id="431" r:id="rId26"/>
    <p:sldId id="395" r:id="rId27"/>
  </p:sldIdLst>
  <p:sldSz cx="12192000" cy="6858000"/>
  <p:notesSz cx="6858000" cy="9144000"/>
  <p:defaultTextStyle>
    <a:defPPr>
      <a:defRPr lang="es-C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F9F"/>
    <a:srgbClr val="FFFFFF"/>
    <a:srgbClr val="E31D93"/>
    <a:srgbClr val="00B2E3"/>
    <a:srgbClr val="FFD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3A136B-BE34-4A7C-9789-E505D6641781}" v="3" dt="2026-02-27T16:26:43.23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2" autoAdjust="0"/>
    <p:restoredTop sz="92218" autoAdjust="0"/>
  </p:normalViewPr>
  <p:slideViewPr>
    <p:cSldViewPr snapToGrid="0">
      <p:cViewPr varScale="1">
        <p:scale>
          <a:sx n="105" d="100"/>
          <a:sy n="105" d="100"/>
        </p:scale>
        <p:origin x="750"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bian Brenes" userId="0a98a788-2542-4baf-b081-64ee1e965425" providerId="ADAL" clId="{3D44E08D-C675-4D64-922C-0261EF110F0B}"/>
    <pc:docChg chg="custSel addSld delSld modSld">
      <pc:chgData name="Fabian Brenes" userId="0a98a788-2542-4baf-b081-64ee1e965425" providerId="ADAL" clId="{3D44E08D-C675-4D64-922C-0261EF110F0B}" dt="2026-02-27T17:33:32.521" v="113" actId="20577"/>
      <pc:docMkLst>
        <pc:docMk/>
      </pc:docMkLst>
      <pc:sldChg chg="modSp mod">
        <pc:chgData name="Fabian Brenes" userId="0a98a788-2542-4baf-b081-64ee1e965425" providerId="ADAL" clId="{3D44E08D-C675-4D64-922C-0261EF110F0B}" dt="2026-02-27T16:02:00.616" v="34" actId="20577"/>
        <pc:sldMkLst>
          <pc:docMk/>
          <pc:sldMk cId="3375381423" sldId="354"/>
        </pc:sldMkLst>
        <pc:spChg chg="mod">
          <ac:chgData name="Fabian Brenes" userId="0a98a788-2542-4baf-b081-64ee1e965425" providerId="ADAL" clId="{3D44E08D-C675-4D64-922C-0261EF110F0B}" dt="2026-02-27T16:02:00.616" v="34" actId="20577"/>
          <ac:spMkLst>
            <pc:docMk/>
            <pc:sldMk cId="3375381423" sldId="354"/>
            <ac:spMk id="2" creationId="{FCD761F7-B769-3D43-00ED-0BFDC3AC7954}"/>
          </ac:spMkLst>
        </pc:spChg>
      </pc:sldChg>
      <pc:sldChg chg="modSp mod">
        <pc:chgData name="Fabian Brenes" userId="0a98a788-2542-4baf-b081-64ee1e965425" providerId="ADAL" clId="{3D44E08D-C675-4D64-922C-0261EF110F0B}" dt="2026-02-27T16:02:46.721" v="72" actId="20577"/>
        <pc:sldMkLst>
          <pc:docMk/>
          <pc:sldMk cId="900078694" sldId="382"/>
        </pc:sldMkLst>
        <pc:spChg chg="mod">
          <ac:chgData name="Fabian Brenes" userId="0a98a788-2542-4baf-b081-64ee1e965425" providerId="ADAL" clId="{3D44E08D-C675-4D64-922C-0261EF110F0B}" dt="2026-02-27T16:02:46.721" v="72" actId="20577"/>
          <ac:spMkLst>
            <pc:docMk/>
            <pc:sldMk cId="900078694" sldId="382"/>
            <ac:spMk id="5" creationId="{6D542AB4-C6E9-CFD1-1545-A52B284137FA}"/>
          </ac:spMkLst>
        </pc:spChg>
      </pc:sldChg>
      <pc:sldChg chg="add del">
        <pc:chgData name="Fabian Brenes" userId="0a98a788-2542-4baf-b081-64ee1e965425" providerId="ADAL" clId="{3D44E08D-C675-4D64-922C-0261EF110F0B}" dt="2026-02-27T16:26:31.621" v="74" actId="2696"/>
        <pc:sldMkLst>
          <pc:docMk/>
          <pc:sldMk cId="13222824" sldId="406"/>
        </pc:sldMkLst>
      </pc:sldChg>
      <pc:sldChg chg="add del">
        <pc:chgData name="Fabian Brenes" userId="0a98a788-2542-4baf-b081-64ee1e965425" providerId="ADAL" clId="{3D44E08D-C675-4D64-922C-0261EF110F0B}" dt="2026-02-27T16:26:41.749" v="78" actId="2696"/>
        <pc:sldMkLst>
          <pc:docMk/>
          <pc:sldMk cId="39661135" sldId="406"/>
        </pc:sldMkLst>
      </pc:sldChg>
      <pc:sldChg chg="add del">
        <pc:chgData name="Fabian Brenes" userId="0a98a788-2542-4baf-b081-64ee1e965425" providerId="ADAL" clId="{3D44E08D-C675-4D64-922C-0261EF110F0B}" dt="2026-02-27T16:26:38.161" v="76" actId="2696"/>
        <pc:sldMkLst>
          <pc:docMk/>
          <pc:sldMk cId="1702653098" sldId="406"/>
        </pc:sldMkLst>
      </pc:sldChg>
      <pc:sldChg chg="add">
        <pc:chgData name="Fabian Brenes" userId="0a98a788-2542-4baf-b081-64ee1e965425" providerId="ADAL" clId="{3D44E08D-C675-4D64-922C-0261EF110F0B}" dt="2026-02-27T16:26:43.239" v="79"/>
        <pc:sldMkLst>
          <pc:docMk/>
          <pc:sldMk cId="1964010162" sldId="406"/>
        </pc:sldMkLst>
      </pc:sldChg>
      <pc:sldChg chg="del">
        <pc:chgData name="Fabian Brenes" userId="0a98a788-2542-4baf-b081-64ee1e965425" providerId="ADAL" clId="{3D44E08D-C675-4D64-922C-0261EF110F0B}" dt="2026-02-27T16:03:50.778" v="73" actId="47"/>
        <pc:sldMkLst>
          <pc:docMk/>
          <pc:sldMk cId="2928963179" sldId="407"/>
        </pc:sldMkLst>
      </pc:sldChg>
      <pc:sldChg chg="del">
        <pc:chgData name="Fabian Brenes" userId="0a98a788-2542-4baf-b081-64ee1e965425" providerId="ADAL" clId="{3D44E08D-C675-4D64-922C-0261EF110F0B}" dt="2026-02-27T16:03:50.778" v="73" actId="47"/>
        <pc:sldMkLst>
          <pc:docMk/>
          <pc:sldMk cId="1191204940" sldId="415"/>
        </pc:sldMkLst>
      </pc:sldChg>
      <pc:sldChg chg="del">
        <pc:chgData name="Fabian Brenes" userId="0a98a788-2542-4baf-b081-64ee1e965425" providerId="ADAL" clId="{3D44E08D-C675-4D64-922C-0261EF110F0B}" dt="2026-02-27T16:03:50.778" v="73" actId="47"/>
        <pc:sldMkLst>
          <pc:docMk/>
          <pc:sldMk cId="101542299" sldId="432"/>
        </pc:sldMkLst>
      </pc:sldChg>
      <pc:sldChg chg="del">
        <pc:chgData name="Fabian Brenes" userId="0a98a788-2542-4baf-b081-64ee1e965425" providerId="ADAL" clId="{3D44E08D-C675-4D64-922C-0261EF110F0B}" dt="2026-02-27T16:03:50.778" v="73" actId="47"/>
        <pc:sldMkLst>
          <pc:docMk/>
          <pc:sldMk cId="3976489040" sldId="433"/>
        </pc:sldMkLst>
      </pc:sldChg>
      <pc:sldChg chg="del">
        <pc:chgData name="Fabian Brenes" userId="0a98a788-2542-4baf-b081-64ee1e965425" providerId="ADAL" clId="{3D44E08D-C675-4D64-922C-0261EF110F0B}" dt="2026-02-27T16:03:50.778" v="73" actId="47"/>
        <pc:sldMkLst>
          <pc:docMk/>
          <pc:sldMk cId="3169332362" sldId="435"/>
        </pc:sldMkLst>
      </pc:sldChg>
      <pc:sldChg chg="del">
        <pc:chgData name="Fabian Brenes" userId="0a98a788-2542-4baf-b081-64ee1e965425" providerId="ADAL" clId="{3D44E08D-C675-4D64-922C-0261EF110F0B}" dt="2026-02-27T16:03:50.778" v="73" actId="47"/>
        <pc:sldMkLst>
          <pc:docMk/>
          <pc:sldMk cId="1073331466" sldId="436"/>
        </pc:sldMkLst>
      </pc:sldChg>
      <pc:sldChg chg="del">
        <pc:chgData name="Fabian Brenes" userId="0a98a788-2542-4baf-b081-64ee1e965425" providerId="ADAL" clId="{3D44E08D-C675-4D64-922C-0261EF110F0B}" dt="2026-02-27T16:03:50.778" v="73" actId="47"/>
        <pc:sldMkLst>
          <pc:docMk/>
          <pc:sldMk cId="1591101785" sldId="437"/>
        </pc:sldMkLst>
      </pc:sldChg>
      <pc:sldChg chg="new del">
        <pc:chgData name="Fabian Brenes" userId="0a98a788-2542-4baf-b081-64ee1e965425" providerId="ADAL" clId="{3D44E08D-C675-4D64-922C-0261EF110F0B}" dt="2026-02-27T17:33:12.400" v="82" actId="47"/>
        <pc:sldMkLst>
          <pc:docMk/>
          <pc:sldMk cId="2232987695" sldId="443"/>
        </pc:sldMkLst>
      </pc:sldChg>
      <pc:sldChg chg="addSp delSp modSp new mod modClrScheme chgLayout">
        <pc:chgData name="Fabian Brenes" userId="0a98a788-2542-4baf-b081-64ee1e965425" providerId="ADAL" clId="{3D44E08D-C675-4D64-922C-0261EF110F0B}" dt="2026-02-27T17:33:32.521" v="113" actId="20577"/>
        <pc:sldMkLst>
          <pc:docMk/>
          <pc:sldMk cId="1378544485" sldId="444"/>
        </pc:sldMkLst>
        <pc:spChg chg="del mod ord">
          <ac:chgData name="Fabian Brenes" userId="0a98a788-2542-4baf-b081-64ee1e965425" providerId="ADAL" clId="{3D44E08D-C675-4D64-922C-0261EF110F0B}" dt="2026-02-27T17:33:16.619" v="83" actId="700"/>
          <ac:spMkLst>
            <pc:docMk/>
            <pc:sldMk cId="1378544485" sldId="444"/>
            <ac:spMk id="2" creationId="{3747379C-916F-3427-5253-22964E8060A4}"/>
          </ac:spMkLst>
        </pc:spChg>
        <pc:spChg chg="del mod ord">
          <ac:chgData name="Fabian Brenes" userId="0a98a788-2542-4baf-b081-64ee1e965425" providerId="ADAL" clId="{3D44E08D-C675-4D64-922C-0261EF110F0B}" dt="2026-02-27T17:33:16.619" v="83" actId="700"/>
          <ac:spMkLst>
            <pc:docMk/>
            <pc:sldMk cId="1378544485" sldId="444"/>
            <ac:spMk id="3" creationId="{4C8BC172-F66B-40A1-9ADE-13371CD7DE54}"/>
          </ac:spMkLst>
        </pc:spChg>
        <pc:spChg chg="del">
          <ac:chgData name="Fabian Brenes" userId="0a98a788-2542-4baf-b081-64ee1e965425" providerId="ADAL" clId="{3D44E08D-C675-4D64-922C-0261EF110F0B}" dt="2026-02-27T17:33:16.619" v="83" actId="700"/>
          <ac:spMkLst>
            <pc:docMk/>
            <pc:sldMk cId="1378544485" sldId="444"/>
            <ac:spMk id="4" creationId="{8FF7C83B-1199-C91E-D05E-310EAB7A52CC}"/>
          </ac:spMkLst>
        </pc:spChg>
        <pc:spChg chg="add del mod ord">
          <ac:chgData name="Fabian Brenes" userId="0a98a788-2542-4baf-b081-64ee1e965425" providerId="ADAL" clId="{3D44E08D-C675-4D64-922C-0261EF110F0B}" dt="2026-02-27T17:33:21.499" v="84" actId="700"/>
          <ac:spMkLst>
            <pc:docMk/>
            <pc:sldMk cId="1378544485" sldId="444"/>
            <ac:spMk id="5" creationId="{86B6C3E5-F836-9A89-F15A-8776A4BB31FA}"/>
          </ac:spMkLst>
        </pc:spChg>
        <pc:spChg chg="add del mod ord">
          <ac:chgData name="Fabian Brenes" userId="0a98a788-2542-4baf-b081-64ee1e965425" providerId="ADAL" clId="{3D44E08D-C675-4D64-922C-0261EF110F0B}" dt="2026-02-27T17:33:21.499" v="84" actId="700"/>
          <ac:spMkLst>
            <pc:docMk/>
            <pc:sldMk cId="1378544485" sldId="444"/>
            <ac:spMk id="6" creationId="{7D644440-FEE9-56A6-891D-F17508AB289F}"/>
          </ac:spMkLst>
        </pc:spChg>
        <pc:spChg chg="add mod ord">
          <ac:chgData name="Fabian Brenes" userId="0a98a788-2542-4baf-b081-64ee1e965425" providerId="ADAL" clId="{3D44E08D-C675-4D64-922C-0261EF110F0B}" dt="2026-02-27T17:33:32.521" v="113" actId="20577"/>
          <ac:spMkLst>
            <pc:docMk/>
            <pc:sldMk cId="1378544485" sldId="444"/>
            <ac:spMk id="7" creationId="{8A5DD098-37FF-6041-297F-E756ACD2F3F8}"/>
          </ac:spMkLst>
        </pc:spChg>
      </pc:sldChg>
    </pc:docChg>
  </pc:docChgLst>
</pc:chgInfo>
</file>

<file path=ppt/ink/ink1.xml><?xml version="1.0" encoding="utf-8"?>
<inkml:ink xmlns:inkml="http://www.w3.org/2003/InkML">
  <inkml:definitions>
    <inkml:context xml:id="ctx0">
      <inkml:inkSource xml:id="inkSrc0">
        <inkml:traceFormat>
          <inkml:channel name="X" type="integer" min="-1920" max="1280" units="cm"/>
          <inkml:channel name="Y" type="integer" min="-79" max="1121" units="cm"/>
          <inkml:channel name="T" type="integer" max="2.14748E9" units="dev"/>
        </inkml:traceFormat>
        <inkml:channelProperties>
          <inkml:channelProperty channel="X" name="resolution" value="85.10638" units="1/cm"/>
          <inkml:channelProperty channel="Y" name="resolution" value="39.86711" units="1/cm"/>
          <inkml:channelProperty channel="T" name="resolution" value="1" units="1/dev"/>
        </inkml:channelProperties>
      </inkml:inkSource>
      <inkml:timestamp xml:id="ts0" timeString="2025-10-04T01:11:45.691"/>
    </inkml:context>
    <inkml:brush xml:id="br0">
      <inkml:brushProperty name="width" value="0.05292" units="cm"/>
      <inkml:brushProperty name="height" value="0.05292" units="cm"/>
      <inkml:brushProperty name="color" value="#FF0000"/>
    </inkml:brush>
  </inkml:definitions>
  <inkml:trace contextRef="#ctx0" brushRef="#br0">10354 5997 0,'0'70'187,"0"-52"-187,0 0 16,0 52-1,0-52-15,0 52 32,0-52-17,0 53 16,0-36 1,0 36-1,0-36 0,0-18-31,0 1 31,0 0-15</inkml:trace>
  <inkml:trace contextRef="#ctx0" brushRef="#br0" timeOffset="1211.92">10248 6579 0,'35'0'188,"-17"0"-157,0 0-16,17 0 1,0 0 15,1 0 16,-1 0 16,0-18 15</inkml:trace>
  <inkml:trace contextRef="#ctx0" brushRef="#br0" timeOffset="3088.55">10266 6544 0,'17'17'188,"1"19"-157,0-19-15,-18 1 46,0 0-31,0-1 48,17-17-64,-17 18 16,0-1 110,0 1-125,18-18 15,-18 18 78,35-18 1,-17-36-48,0 36-46,-18-17-1,17-1 1,1 18 0,-18-17-16,18-1 31,-18 0-31,0 1 31,17-1 157</inkml:trace>
  <inkml:trace contextRef="#ctx0" brushRef="#br0" timeOffset="31008.31">12382 11518 0</inkml:trace>
  <inkml:trace contextRef="#ctx0" brushRef="#br0" timeOffset="37254.92">12294 11518 0,'0'-35'360,"0"17"-329,0 0-16,0-35 17,0 18-1,0 17 0,0 1 0,0-1-15,0 1 15,0-1 32,0 0-32,0 1 0,0-19 32,0 19 531,0-1-579,0 0 32,0 1 62,0-1-46,0 36 124,0-1-155,0 1 15,0 17-16,0-17 0,0 0 0,0-1-31,0 1 32,0 17-1,0-17 31,0-1 16,0-1022-62,0 2046 15,0-1024 1,0 1-17,0 0 16,0-1 48,0 1-64,-17 0 1079,-1-18-1063,0 0 16,1 0-16,-1 0 1,0 0-1,1 17-16,-1-17 17,-17 0-1,17 0 0,-17 0 0,17 0 1,-17 0-1,0 18 0,-18-18-15,35 18-1,-35-18 17,18 0-17,35 17 1,-35-17 0,17 0 15,1 0 0,-19 18 16,19-18 15,-1 0-15,0 17-15,1-17-17,-1 0 48,0 0-32,-35 0 0,36-17-15,-18 17-1,-1 0 17,19-18-1,-1 18-31,0 0 47,-17-17 140,0-1-171,0 18 15,17 0 0,0 0 16,18-18 0</inkml:trace>
  <inkml:trace contextRef="#ctx0" brushRef="#br0" timeOffset="39372.44">11271 11200 0,'0'18'328,"-17"0"-312,17-1 15,0 1-15,-18 0 15,18-1-15,0 1-1,0-1 48,0 1 93,0 0-125,0-1-31,0 1 47,0 17-16,18-17 1,-18 0 30</inkml:trace>
  <inkml:trace contextRef="#ctx0" brushRef="#br0" timeOffset="42354.71">11307 11130 0,'17'0'218,"1"0"-202,-1 0 0,1 0 15,0 0-16,-1 0 1,1 0 109,0 0-94,-1 0-15,1 0 15,0 0-31,-1 0 47,1 0-47,17 0 31,-17 0-15,-1 0 15,1 0 0,0 0 1,-1 0-1,1 0 0,0 0 0,-1 0 1,1 0-32,0 0 31,-1 0 78,1 0-62,17 0-16,-17 0 1,-1 0-17,19 0 32,-19 0 16,1 0-32,17-18 0,-17 18 0,-1 0 1,19 0-17,-19 0 48,1 0-48,0 0 17,-1 0-1,1 0 0,0 0 0,-1 0 16,1 0-15,-1 0 14,1 0-30,-18-17 93</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690E02-228F-4EE4-B8DB-40CD5C605F12}" type="datetimeFigureOut">
              <a:rPr lang="es-CR" smtClean="0"/>
              <a:t>27/2/2026</a:t>
            </a:fld>
            <a:endParaRPr lang="es-C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678745-B1E6-4434-BB1A-E7B3F7352ADB}" type="slidenum">
              <a:rPr lang="es-CR" smtClean="0"/>
              <a:t>‹#›</a:t>
            </a:fld>
            <a:endParaRPr lang="es-CR"/>
          </a:p>
        </p:txBody>
      </p:sp>
    </p:spTree>
    <p:extLst>
      <p:ext uri="{BB962C8B-B14F-4D97-AF65-F5344CB8AC3E}">
        <p14:creationId xmlns:p14="http://schemas.microsoft.com/office/powerpoint/2010/main" val="3853189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basically states that the probability distribution (also called the sampling distribution) of the sample sum (and also the mean) is an approximate normal distribution regardless of the probability distribution of the original random variables, provided that those random variables have finite means and variances.</a:t>
            </a:r>
            <a:endParaRPr lang="es-CR" dirty="0"/>
          </a:p>
        </p:txBody>
      </p:sp>
      <p:sp>
        <p:nvSpPr>
          <p:cNvPr id="4" name="Slide Number Placeholder 3"/>
          <p:cNvSpPr>
            <a:spLocks noGrp="1"/>
          </p:cNvSpPr>
          <p:nvPr>
            <p:ph type="sldNum" sz="quarter" idx="5"/>
          </p:nvPr>
        </p:nvSpPr>
        <p:spPr/>
        <p:txBody>
          <a:bodyPr/>
          <a:lstStyle/>
          <a:p>
            <a:fld id="{59678745-B1E6-4434-BB1A-E7B3F7352ADB}" type="slidenum">
              <a:rPr lang="es-CR" smtClean="0"/>
              <a:t>3</a:t>
            </a:fld>
            <a:endParaRPr lang="es-CR"/>
          </a:p>
        </p:txBody>
      </p:sp>
    </p:spTree>
    <p:extLst>
      <p:ext uri="{BB962C8B-B14F-4D97-AF65-F5344CB8AC3E}">
        <p14:creationId xmlns:p14="http://schemas.microsoft.com/office/powerpoint/2010/main" val="4706648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R" dirty="0"/>
              <a:t>Sensibilidad -&gt; tasa de verdaderos positivos</a:t>
            </a:r>
          </a:p>
          <a:p>
            <a:r>
              <a:rPr lang="es-CR" dirty="0"/>
              <a:t>Especificidad -&gt; Tasa de verdaderos negativos</a:t>
            </a:r>
          </a:p>
        </p:txBody>
      </p:sp>
      <p:sp>
        <p:nvSpPr>
          <p:cNvPr id="4" name="Slide Number Placeholder 3"/>
          <p:cNvSpPr>
            <a:spLocks noGrp="1"/>
          </p:cNvSpPr>
          <p:nvPr>
            <p:ph type="sldNum" sz="quarter" idx="5"/>
          </p:nvPr>
        </p:nvSpPr>
        <p:spPr/>
        <p:txBody>
          <a:bodyPr/>
          <a:lstStyle/>
          <a:p>
            <a:fld id="{59678745-B1E6-4434-BB1A-E7B3F7352ADB}" type="slidenum">
              <a:rPr lang="es-CR" smtClean="0"/>
              <a:t>7</a:t>
            </a:fld>
            <a:endParaRPr lang="es-CR"/>
          </a:p>
        </p:txBody>
      </p:sp>
    </p:spTree>
    <p:extLst>
      <p:ext uri="{BB962C8B-B14F-4D97-AF65-F5344CB8AC3E}">
        <p14:creationId xmlns:p14="http://schemas.microsoft.com/office/powerpoint/2010/main" val="14781840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CR" dirty="0"/>
          </a:p>
        </p:txBody>
      </p:sp>
      <p:sp>
        <p:nvSpPr>
          <p:cNvPr id="4" name="Slide Number Placeholder 3"/>
          <p:cNvSpPr>
            <a:spLocks noGrp="1"/>
          </p:cNvSpPr>
          <p:nvPr>
            <p:ph type="sldNum" sz="quarter" idx="5"/>
          </p:nvPr>
        </p:nvSpPr>
        <p:spPr/>
        <p:txBody>
          <a:bodyPr/>
          <a:lstStyle/>
          <a:p>
            <a:fld id="{59678745-B1E6-4434-BB1A-E7B3F7352ADB}" type="slidenum">
              <a:rPr lang="es-CR" smtClean="0"/>
              <a:t>10</a:t>
            </a:fld>
            <a:endParaRPr lang="es-CR"/>
          </a:p>
        </p:txBody>
      </p:sp>
    </p:spTree>
    <p:extLst>
      <p:ext uri="{BB962C8B-B14F-4D97-AF65-F5344CB8AC3E}">
        <p14:creationId xmlns:p14="http://schemas.microsoft.com/office/powerpoint/2010/main" val="29590861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R" dirty="0"/>
              <a:t>Función de probabilidad acumulada: Probabilidad de que valor sea menor o igual a un valor específico</a:t>
            </a:r>
          </a:p>
        </p:txBody>
      </p:sp>
      <p:sp>
        <p:nvSpPr>
          <p:cNvPr id="4" name="Slide Number Placeholder 3"/>
          <p:cNvSpPr>
            <a:spLocks noGrp="1"/>
          </p:cNvSpPr>
          <p:nvPr>
            <p:ph type="sldNum" sz="quarter" idx="5"/>
          </p:nvPr>
        </p:nvSpPr>
        <p:spPr/>
        <p:txBody>
          <a:bodyPr/>
          <a:lstStyle/>
          <a:p>
            <a:fld id="{59678745-B1E6-4434-BB1A-E7B3F7352ADB}" type="slidenum">
              <a:rPr lang="es-CR" smtClean="0"/>
              <a:t>15</a:t>
            </a:fld>
            <a:endParaRPr lang="es-CR"/>
          </a:p>
        </p:txBody>
      </p:sp>
    </p:spTree>
    <p:extLst>
      <p:ext uri="{BB962C8B-B14F-4D97-AF65-F5344CB8AC3E}">
        <p14:creationId xmlns:p14="http://schemas.microsoft.com/office/powerpoint/2010/main" val="375807650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9.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Master" Target="../slideMasters/slideMaster1.xml"/><Relationship Id="rId4" Type="http://schemas.openxmlformats.org/officeDocument/2006/relationships/image" Target="../media/image12.sv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Master" Target="../slideMasters/slideMaster1.xml"/><Relationship Id="rId4" Type="http://schemas.openxmlformats.org/officeDocument/2006/relationships/image" Target="../media/image12.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ortad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75F2A3D7-D255-7DCD-6AEE-4A3CB82FF3F1}"/>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435" t="3287" b="3287"/>
          <a:stretch/>
        </p:blipFill>
        <p:spPr>
          <a:xfrm>
            <a:off x="0" y="2494722"/>
            <a:ext cx="2600946" cy="956818"/>
          </a:xfrm>
          <a:prstGeom prst="rect">
            <a:avLst/>
          </a:prstGeom>
        </p:spPr>
      </p:pic>
      <p:sp>
        <p:nvSpPr>
          <p:cNvPr id="4" name="Título 1">
            <a:extLst>
              <a:ext uri="{FF2B5EF4-FFF2-40B4-BE49-F238E27FC236}">
                <a16:creationId xmlns:a16="http://schemas.microsoft.com/office/drawing/2014/main" id="{05F754BB-255D-0FE5-FB11-2E7D44DB33D7}"/>
              </a:ext>
            </a:extLst>
          </p:cNvPr>
          <p:cNvSpPr>
            <a:spLocks noGrp="1"/>
          </p:cNvSpPr>
          <p:nvPr>
            <p:ph type="ctrTitle" hasCustomPrompt="1"/>
          </p:nvPr>
        </p:nvSpPr>
        <p:spPr>
          <a:xfrm>
            <a:off x="2926443" y="1176898"/>
            <a:ext cx="7794913" cy="2252102"/>
          </a:xfrm>
          <a:prstGeom prst="rect">
            <a:avLst/>
          </a:prstGeom>
        </p:spPr>
        <p:txBody>
          <a:bodyPr anchor="b">
            <a:normAutofit/>
          </a:bodyPr>
          <a:lstStyle>
            <a:lvl1pPr algn="l">
              <a:defRPr sz="6000" b="1" i="0">
                <a:solidFill>
                  <a:schemeClr val="bg1"/>
                </a:solidFill>
                <a:latin typeface="Trust Sans Black" pitchFamily="2" charset="77"/>
              </a:defRPr>
            </a:lvl1pPr>
          </a:lstStyle>
          <a:p>
            <a:r>
              <a:rPr lang="es-MX" dirty="0"/>
              <a:t>CLICK TO ADD TITLE</a:t>
            </a:r>
            <a:endParaRPr lang="es-CR" dirty="0"/>
          </a:p>
        </p:txBody>
      </p:sp>
      <p:sp>
        <p:nvSpPr>
          <p:cNvPr id="5" name="Subtítulo 2">
            <a:extLst>
              <a:ext uri="{FF2B5EF4-FFF2-40B4-BE49-F238E27FC236}">
                <a16:creationId xmlns:a16="http://schemas.microsoft.com/office/drawing/2014/main" id="{8FFE5A59-DA03-60BF-23E2-491F1C0AB5C6}"/>
              </a:ext>
            </a:extLst>
          </p:cNvPr>
          <p:cNvSpPr>
            <a:spLocks noGrp="1"/>
          </p:cNvSpPr>
          <p:nvPr>
            <p:ph type="subTitle" idx="1" hasCustomPrompt="1"/>
          </p:nvPr>
        </p:nvSpPr>
        <p:spPr>
          <a:xfrm>
            <a:off x="2926444" y="4165636"/>
            <a:ext cx="7794912" cy="957689"/>
          </a:xfrm>
        </p:spPr>
        <p:txBody>
          <a:bodyPr/>
          <a:lstStyle>
            <a:lvl1pPr marL="0" indent="0" algn="l">
              <a:buNone/>
              <a:defRPr sz="2400" b="0" i="0">
                <a:solidFill>
                  <a:schemeClr val="bg1"/>
                </a:solidFill>
                <a:latin typeface="Trust Sans"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dirty="0"/>
              <a:t>Click to add subtitle</a:t>
            </a:r>
            <a:endParaRPr lang="es-CR" dirty="0"/>
          </a:p>
        </p:txBody>
      </p:sp>
      <p:cxnSp>
        <p:nvCxnSpPr>
          <p:cNvPr id="6" name="Conector recto 5">
            <a:extLst>
              <a:ext uri="{FF2B5EF4-FFF2-40B4-BE49-F238E27FC236}">
                <a16:creationId xmlns:a16="http://schemas.microsoft.com/office/drawing/2014/main" id="{4942F5F3-D9C5-32A4-1D88-43EF7BE18CE7}"/>
              </a:ext>
            </a:extLst>
          </p:cNvPr>
          <p:cNvCxnSpPr>
            <a:cxnSpLocks/>
          </p:cNvCxnSpPr>
          <p:nvPr userDrawn="1"/>
        </p:nvCxnSpPr>
        <p:spPr>
          <a:xfrm>
            <a:off x="2926444" y="3741684"/>
            <a:ext cx="7794913" cy="0"/>
          </a:xfrm>
          <a:prstGeom prst="line">
            <a:avLst/>
          </a:prstGeom>
          <a:ln w="76200" cap="rnd">
            <a:solidFill>
              <a:srgbClr val="FFD600"/>
            </a:solidFill>
            <a:beve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41971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ubportada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043BE044-ED31-3F60-3A2F-7E880992B3DE}"/>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838200" y="2735376"/>
            <a:ext cx="1139757" cy="712348"/>
          </a:xfrm>
          <a:prstGeom prst="rect">
            <a:avLst/>
          </a:prstGeom>
        </p:spPr>
      </p:pic>
      <p:sp>
        <p:nvSpPr>
          <p:cNvPr id="2" name="Título 1">
            <a:extLst>
              <a:ext uri="{FF2B5EF4-FFF2-40B4-BE49-F238E27FC236}">
                <a16:creationId xmlns:a16="http://schemas.microsoft.com/office/drawing/2014/main" id="{AA441604-9A2B-F58B-7730-B0BA9FF9D2E1}"/>
              </a:ext>
            </a:extLst>
          </p:cNvPr>
          <p:cNvSpPr>
            <a:spLocks noGrp="1"/>
          </p:cNvSpPr>
          <p:nvPr>
            <p:ph type="ctrTitle" hasCustomPrompt="1"/>
          </p:nvPr>
        </p:nvSpPr>
        <p:spPr>
          <a:xfrm>
            <a:off x="2154452" y="2454966"/>
            <a:ext cx="7077635" cy="2057400"/>
          </a:xfrm>
          <a:prstGeom prst="rect">
            <a:avLst/>
          </a:prstGeom>
        </p:spPr>
        <p:txBody>
          <a:bodyPr anchor="b">
            <a:normAutofit/>
          </a:bodyPr>
          <a:lstStyle>
            <a:lvl1pPr algn="l">
              <a:defRPr sz="6600" b="1" i="0">
                <a:solidFill>
                  <a:schemeClr val="bg1"/>
                </a:solidFill>
                <a:latin typeface="Trust Sans Bold" pitchFamily="2" charset="77"/>
              </a:defRPr>
            </a:lvl1pPr>
          </a:lstStyle>
          <a:p>
            <a:r>
              <a:rPr lang="es-MX" dirty="0"/>
              <a:t>CLICK TO ADD TITLE</a:t>
            </a:r>
            <a:endParaRPr lang="es-CR" dirty="0"/>
          </a:p>
        </p:txBody>
      </p:sp>
    </p:spTree>
    <p:extLst>
      <p:ext uri="{BB962C8B-B14F-4D97-AF65-F5344CB8AC3E}">
        <p14:creationId xmlns:p14="http://schemas.microsoft.com/office/powerpoint/2010/main" val="18004997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ubportada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F5D7F6B5-6E7F-9DFE-350A-5B76D265B4FB}"/>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833814" y="2735376"/>
            <a:ext cx="1139757" cy="712348"/>
          </a:xfrm>
          <a:prstGeom prst="rect">
            <a:avLst/>
          </a:prstGeom>
        </p:spPr>
      </p:pic>
      <p:sp>
        <p:nvSpPr>
          <p:cNvPr id="6" name="Título 1">
            <a:extLst>
              <a:ext uri="{FF2B5EF4-FFF2-40B4-BE49-F238E27FC236}">
                <a16:creationId xmlns:a16="http://schemas.microsoft.com/office/drawing/2014/main" id="{93C3988A-175F-3624-D13A-0B7D7469B586}"/>
              </a:ext>
            </a:extLst>
          </p:cNvPr>
          <p:cNvSpPr>
            <a:spLocks noGrp="1"/>
          </p:cNvSpPr>
          <p:nvPr>
            <p:ph type="ctrTitle" hasCustomPrompt="1"/>
          </p:nvPr>
        </p:nvSpPr>
        <p:spPr>
          <a:xfrm>
            <a:off x="2154452" y="2454966"/>
            <a:ext cx="7077635" cy="2057400"/>
          </a:xfrm>
          <a:prstGeom prst="rect">
            <a:avLst/>
          </a:prstGeom>
        </p:spPr>
        <p:txBody>
          <a:bodyPr anchor="b">
            <a:normAutofit/>
          </a:bodyPr>
          <a:lstStyle>
            <a:lvl1pPr algn="l">
              <a:defRPr sz="6600" b="1" i="0">
                <a:solidFill>
                  <a:srgbClr val="000F9F"/>
                </a:solidFill>
                <a:latin typeface="Trust Sans Bold" pitchFamily="2" charset="77"/>
              </a:defRPr>
            </a:lvl1pPr>
          </a:lstStyle>
          <a:p>
            <a:r>
              <a:rPr lang="es-MX" dirty="0"/>
              <a:t>CLICK TO ADD TITLE</a:t>
            </a:r>
            <a:endParaRPr lang="es-CR" dirty="0"/>
          </a:p>
        </p:txBody>
      </p:sp>
    </p:spTree>
    <p:extLst>
      <p:ext uri="{BB962C8B-B14F-4D97-AF65-F5344CB8AC3E}">
        <p14:creationId xmlns:p14="http://schemas.microsoft.com/office/powerpoint/2010/main" val="13254002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ido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590F0828-C61C-4406-DC2A-08D1B900E8F5}"/>
              </a:ext>
            </a:extLst>
          </p:cNvPr>
          <p:cNvSpPr>
            <a:spLocks noGrp="1"/>
          </p:cNvSpPr>
          <p:nvPr>
            <p:ph type="title" hasCustomPrompt="1"/>
          </p:nvPr>
        </p:nvSpPr>
        <p:spPr>
          <a:xfrm>
            <a:off x="1367444" y="585169"/>
            <a:ext cx="9807633" cy="871794"/>
          </a:xfrm>
          <a:prstGeom prst="rect">
            <a:avLst/>
          </a:prstGeom>
        </p:spPr>
        <p:txBody>
          <a:bodyPr>
            <a:normAutofit/>
          </a:bodyPr>
          <a:lstStyle>
            <a:lvl1pPr>
              <a:defRPr sz="4000" b="1" i="0">
                <a:solidFill>
                  <a:srgbClr val="000F9F"/>
                </a:solidFill>
                <a:latin typeface="Trust Sans Bold" pitchFamily="2" charset="77"/>
              </a:defRPr>
            </a:lvl1pPr>
          </a:lstStyle>
          <a:p>
            <a:r>
              <a:rPr lang="es-MX" dirty="0"/>
              <a:t>CLICK TO ADD TITLE</a:t>
            </a:r>
            <a:endParaRPr lang="es-CR" dirty="0"/>
          </a:p>
        </p:txBody>
      </p:sp>
      <p:sp>
        <p:nvSpPr>
          <p:cNvPr id="6" name="Marcador de contenido 2">
            <a:extLst>
              <a:ext uri="{FF2B5EF4-FFF2-40B4-BE49-F238E27FC236}">
                <a16:creationId xmlns:a16="http://schemas.microsoft.com/office/drawing/2014/main" id="{3C64957B-02E4-9B5C-8E18-E36EA9BA2633}"/>
              </a:ext>
            </a:extLst>
          </p:cNvPr>
          <p:cNvSpPr>
            <a:spLocks noGrp="1"/>
          </p:cNvSpPr>
          <p:nvPr>
            <p:ph sz="half" idx="1" hasCustomPrompt="1"/>
          </p:nvPr>
        </p:nvSpPr>
        <p:spPr>
          <a:xfrm>
            <a:off x="838200" y="2067983"/>
            <a:ext cx="5181600" cy="3735410"/>
          </a:xfrm>
        </p:spPr>
        <p:txBody>
          <a:bodyPr/>
          <a:lstStyle>
            <a:lvl1pPr>
              <a:defRPr>
                <a:latin typeface="Trust Sans" pitchFamily="2" charset="77"/>
              </a:defRPr>
            </a:lvl1pPr>
            <a:lvl2pPr>
              <a:defRPr>
                <a:latin typeface="Trust Sans" pitchFamily="2" charset="77"/>
              </a:defRPr>
            </a:lvl2pPr>
            <a:lvl3pPr>
              <a:defRPr>
                <a:latin typeface="Trust Sans" pitchFamily="2" charset="77"/>
              </a:defRPr>
            </a:lvl3pPr>
            <a:lvl4pPr>
              <a:defRPr>
                <a:latin typeface="Trust Sans" pitchFamily="2" charset="77"/>
              </a:defRPr>
            </a:lvl4pPr>
            <a:lvl5pPr>
              <a:defRPr>
                <a:latin typeface="Trust Sans" pitchFamily="2" charset="77"/>
              </a:defRPr>
            </a:lvl5pPr>
          </a:lstStyle>
          <a:p>
            <a:pPr lvl="0"/>
            <a:r>
              <a:rPr lang="es-MX" dirty="0"/>
              <a:t>Click to add text</a:t>
            </a:r>
            <a:endParaRPr lang="es-CR" dirty="0"/>
          </a:p>
        </p:txBody>
      </p:sp>
      <p:sp>
        <p:nvSpPr>
          <p:cNvPr id="7" name="Marcador de contenido 3">
            <a:extLst>
              <a:ext uri="{FF2B5EF4-FFF2-40B4-BE49-F238E27FC236}">
                <a16:creationId xmlns:a16="http://schemas.microsoft.com/office/drawing/2014/main" id="{C6D7E9F4-35B6-1C90-CF52-751FB46A8621}"/>
              </a:ext>
            </a:extLst>
          </p:cNvPr>
          <p:cNvSpPr>
            <a:spLocks noGrp="1"/>
          </p:cNvSpPr>
          <p:nvPr>
            <p:ph sz="half" idx="2" hasCustomPrompt="1"/>
          </p:nvPr>
        </p:nvSpPr>
        <p:spPr>
          <a:xfrm>
            <a:off x="6172200" y="2067983"/>
            <a:ext cx="5181600" cy="3735410"/>
          </a:xfrm>
        </p:spPr>
        <p:txBody>
          <a:bodyPr/>
          <a:lstStyle>
            <a:lvl1pPr>
              <a:defRPr>
                <a:latin typeface="Trust Sans" pitchFamily="2" charset="77"/>
              </a:defRPr>
            </a:lvl1pPr>
            <a:lvl2pPr>
              <a:defRPr>
                <a:latin typeface="Trust Sans" pitchFamily="2" charset="77"/>
              </a:defRPr>
            </a:lvl2pPr>
            <a:lvl3pPr>
              <a:defRPr>
                <a:latin typeface="Trust Sans" pitchFamily="2" charset="77"/>
              </a:defRPr>
            </a:lvl3pPr>
            <a:lvl4pPr>
              <a:defRPr>
                <a:latin typeface="Trust Sans" pitchFamily="2" charset="77"/>
              </a:defRPr>
            </a:lvl4pPr>
            <a:lvl5pPr>
              <a:defRPr>
                <a:latin typeface="Trust Sans" pitchFamily="2" charset="77"/>
              </a:defRPr>
            </a:lvl5pPr>
          </a:lstStyle>
          <a:p>
            <a:pPr lvl="0"/>
            <a:r>
              <a:rPr lang="es-MX" dirty="0"/>
              <a:t>Click to add text</a:t>
            </a:r>
            <a:endParaRPr lang="es-CR" dirty="0"/>
          </a:p>
        </p:txBody>
      </p:sp>
      <p:pic>
        <p:nvPicPr>
          <p:cNvPr id="8" name="Imagen 7">
            <a:extLst>
              <a:ext uri="{FF2B5EF4-FFF2-40B4-BE49-F238E27FC236}">
                <a16:creationId xmlns:a16="http://schemas.microsoft.com/office/drawing/2014/main" id="{1E37BC75-F084-050C-B722-406BB5C80111}"/>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586394" y="655266"/>
            <a:ext cx="781050" cy="488156"/>
          </a:xfrm>
          <a:prstGeom prst="rect">
            <a:avLst/>
          </a:prstGeom>
        </p:spPr>
      </p:pic>
      <p:cxnSp>
        <p:nvCxnSpPr>
          <p:cNvPr id="10" name="Conector recto 9">
            <a:extLst>
              <a:ext uri="{FF2B5EF4-FFF2-40B4-BE49-F238E27FC236}">
                <a16:creationId xmlns:a16="http://schemas.microsoft.com/office/drawing/2014/main" id="{278A961E-E13E-27B7-195D-9EA2B5A9AFBA}"/>
              </a:ext>
            </a:extLst>
          </p:cNvPr>
          <p:cNvCxnSpPr>
            <a:cxnSpLocks/>
          </p:cNvCxnSpPr>
          <p:nvPr userDrawn="1"/>
        </p:nvCxnSpPr>
        <p:spPr>
          <a:xfrm>
            <a:off x="586394" y="1677007"/>
            <a:ext cx="10192442" cy="0"/>
          </a:xfrm>
          <a:prstGeom prst="line">
            <a:avLst/>
          </a:prstGeom>
          <a:ln w="38100" cap="rnd">
            <a:solidFill>
              <a:srgbClr val="00B2E3"/>
            </a:solidFill>
            <a:beve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39495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ido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Subtítulo 2">
            <a:extLst>
              <a:ext uri="{FF2B5EF4-FFF2-40B4-BE49-F238E27FC236}">
                <a16:creationId xmlns:a16="http://schemas.microsoft.com/office/drawing/2014/main" id="{7822B41A-10D2-12DC-7415-C3DFB5FFA594}"/>
              </a:ext>
            </a:extLst>
          </p:cNvPr>
          <p:cNvSpPr>
            <a:spLocks noGrp="1"/>
          </p:cNvSpPr>
          <p:nvPr>
            <p:ph type="subTitle" idx="1" hasCustomPrompt="1"/>
          </p:nvPr>
        </p:nvSpPr>
        <p:spPr>
          <a:xfrm>
            <a:off x="1094509" y="2526894"/>
            <a:ext cx="4420710" cy="2688945"/>
          </a:xfrm>
        </p:spPr>
        <p:txBody>
          <a:bodyPr>
            <a:normAutofit/>
          </a:bodyPr>
          <a:lstStyle>
            <a:lvl1pPr marL="0" indent="0" algn="l">
              <a:buNone/>
              <a:defRPr sz="1800">
                <a:solidFill>
                  <a:schemeClr val="tx1"/>
                </a:solidFill>
                <a:latin typeface="Trust Sans"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dirty="0"/>
              <a:t>Click to add text </a:t>
            </a:r>
            <a:endParaRPr lang="es-CR" dirty="0"/>
          </a:p>
        </p:txBody>
      </p:sp>
      <p:sp>
        <p:nvSpPr>
          <p:cNvPr id="4" name="Título 1">
            <a:extLst>
              <a:ext uri="{FF2B5EF4-FFF2-40B4-BE49-F238E27FC236}">
                <a16:creationId xmlns:a16="http://schemas.microsoft.com/office/drawing/2014/main" id="{DEE44A15-0D2B-2A97-C607-CF9797EB139F}"/>
              </a:ext>
            </a:extLst>
          </p:cNvPr>
          <p:cNvSpPr>
            <a:spLocks noGrp="1"/>
          </p:cNvSpPr>
          <p:nvPr>
            <p:ph type="title" hasCustomPrompt="1"/>
          </p:nvPr>
        </p:nvSpPr>
        <p:spPr>
          <a:xfrm>
            <a:off x="1094509" y="771305"/>
            <a:ext cx="4420710" cy="1520719"/>
          </a:xfrm>
          <a:prstGeom prst="rect">
            <a:avLst/>
          </a:prstGeom>
        </p:spPr>
        <p:txBody>
          <a:bodyPr>
            <a:normAutofit/>
          </a:bodyPr>
          <a:lstStyle>
            <a:lvl1pPr algn="ctr">
              <a:defRPr sz="3600" b="1" i="0">
                <a:solidFill>
                  <a:srgbClr val="000F9F"/>
                </a:solidFill>
                <a:latin typeface="Trust Sans Bold" pitchFamily="2" charset="77"/>
              </a:defRPr>
            </a:lvl1pPr>
          </a:lstStyle>
          <a:p>
            <a:r>
              <a:rPr lang="es-MX" dirty="0"/>
              <a:t>Click to add title</a:t>
            </a:r>
            <a:endParaRPr lang="es-CR" dirty="0"/>
          </a:p>
        </p:txBody>
      </p:sp>
      <p:sp>
        <p:nvSpPr>
          <p:cNvPr id="5" name="Marcador de posición de imagen 2">
            <a:extLst>
              <a:ext uri="{FF2B5EF4-FFF2-40B4-BE49-F238E27FC236}">
                <a16:creationId xmlns:a16="http://schemas.microsoft.com/office/drawing/2014/main" id="{740D23F4-F7F1-B2AC-63CE-98E96B87EDA7}"/>
              </a:ext>
            </a:extLst>
          </p:cNvPr>
          <p:cNvSpPr>
            <a:spLocks noGrp="1"/>
          </p:cNvSpPr>
          <p:nvPr>
            <p:ph type="pic" idx="10" hasCustomPrompt="1"/>
          </p:nvPr>
        </p:nvSpPr>
        <p:spPr>
          <a:xfrm>
            <a:off x="5902036" y="771306"/>
            <a:ext cx="5453352" cy="4444534"/>
          </a:xfrm>
        </p:spPr>
        <p:txBody>
          <a:bodyPr>
            <a:normAutofit/>
          </a:bodyPr>
          <a:lstStyle>
            <a:lvl1pPr marL="0" indent="0">
              <a:buNone/>
              <a:defRPr sz="2000" b="0" i="0">
                <a:latin typeface="Trust Sans" pitchFamily="2" charset="7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CR" dirty="0" err="1"/>
              <a:t>Click</a:t>
            </a:r>
            <a:r>
              <a:rPr lang="es-CR" dirty="0"/>
              <a:t> </a:t>
            </a:r>
            <a:r>
              <a:rPr lang="es-CR" dirty="0" err="1"/>
              <a:t>to</a:t>
            </a:r>
            <a:r>
              <a:rPr lang="es-CR" dirty="0"/>
              <a:t> </a:t>
            </a:r>
            <a:r>
              <a:rPr lang="es-CR" dirty="0" err="1"/>
              <a:t>add</a:t>
            </a:r>
            <a:r>
              <a:rPr lang="es-CR" dirty="0"/>
              <a:t> a </a:t>
            </a:r>
            <a:r>
              <a:rPr lang="es-CR" dirty="0" err="1"/>
              <a:t>image</a:t>
            </a:r>
            <a:endParaRPr lang="es-CR" dirty="0"/>
          </a:p>
        </p:txBody>
      </p:sp>
    </p:spTree>
    <p:extLst>
      <p:ext uri="{BB962C8B-B14F-4D97-AF65-F5344CB8AC3E}">
        <p14:creationId xmlns:p14="http://schemas.microsoft.com/office/powerpoint/2010/main" val="20823528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seño personalizad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Subtítulo 2">
            <a:extLst>
              <a:ext uri="{FF2B5EF4-FFF2-40B4-BE49-F238E27FC236}">
                <a16:creationId xmlns:a16="http://schemas.microsoft.com/office/drawing/2014/main" id="{C70069F9-4D6A-A47A-AF4F-EED984AE3C84}"/>
              </a:ext>
            </a:extLst>
          </p:cNvPr>
          <p:cNvSpPr>
            <a:spLocks noGrp="1"/>
          </p:cNvSpPr>
          <p:nvPr>
            <p:ph type="subTitle" idx="1" hasCustomPrompt="1"/>
          </p:nvPr>
        </p:nvSpPr>
        <p:spPr>
          <a:xfrm>
            <a:off x="1328928" y="2511123"/>
            <a:ext cx="4420710" cy="2688945"/>
          </a:xfrm>
        </p:spPr>
        <p:txBody>
          <a:bodyPr>
            <a:normAutofit/>
          </a:bodyPr>
          <a:lstStyle>
            <a:lvl1pPr marL="0" indent="0" algn="l">
              <a:buNone/>
              <a:defRPr sz="1800">
                <a:solidFill>
                  <a:schemeClr val="tx1"/>
                </a:solidFill>
                <a:latin typeface="Trust Sans"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dirty="0"/>
              <a:t>Click to add text </a:t>
            </a:r>
            <a:endParaRPr lang="es-CR" dirty="0"/>
          </a:p>
        </p:txBody>
      </p:sp>
      <p:sp>
        <p:nvSpPr>
          <p:cNvPr id="6" name="Título 1">
            <a:extLst>
              <a:ext uri="{FF2B5EF4-FFF2-40B4-BE49-F238E27FC236}">
                <a16:creationId xmlns:a16="http://schemas.microsoft.com/office/drawing/2014/main" id="{52FB0BBF-334E-02E6-E3B0-595FF2DA845C}"/>
              </a:ext>
            </a:extLst>
          </p:cNvPr>
          <p:cNvSpPr>
            <a:spLocks noGrp="1"/>
          </p:cNvSpPr>
          <p:nvPr>
            <p:ph type="title" hasCustomPrompt="1"/>
          </p:nvPr>
        </p:nvSpPr>
        <p:spPr>
          <a:xfrm>
            <a:off x="1328928" y="755534"/>
            <a:ext cx="4420710" cy="1520719"/>
          </a:xfrm>
          <a:prstGeom prst="rect">
            <a:avLst/>
          </a:prstGeom>
        </p:spPr>
        <p:txBody>
          <a:bodyPr>
            <a:normAutofit/>
          </a:bodyPr>
          <a:lstStyle>
            <a:lvl1pPr algn="ctr">
              <a:defRPr sz="3600" b="1" i="0">
                <a:solidFill>
                  <a:srgbClr val="000F9F"/>
                </a:solidFill>
                <a:latin typeface="Trust Sans Bold" pitchFamily="2" charset="77"/>
              </a:defRPr>
            </a:lvl1pPr>
          </a:lstStyle>
          <a:p>
            <a:r>
              <a:rPr lang="es-MX" dirty="0"/>
              <a:t>Click to add title</a:t>
            </a:r>
            <a:endParaRPr lang="es-CR" dirty="0"/>
          </a:p>
        </p:txBody>
      </p:sp>
      <p:sp>
        <p:nvSpPr>
          <p:cNvPr id="7" name="Marcador de contenido 3">
            <a:extLst>
              <a:ext uri="{FF2B5EF4-FFF2-40B4-BE49-F238E27FC236}">
                <a16:creationId xmlns:a16="http://schemas.microsoft.com/office/drawing/2014/main" id="{9719F092-9774-93FA-2C6C-7F477253B249}"/>
              </a:ext>
            </a:extLst>
          </p:cNvPr>
          <p:cNvSpPr>
            <a:spLocks noGrp="1"/>
          </p:cNvSpPr>
          <p:nvPr>
            <p:ph sz="half" idx="2" hasCustomPrompt="1"/>
          </p:nvPr>
        </p:nvSpPr>
        <p:spPr>
          <a:xfrm>
            <a:off x="6442363" y="698733"/>
            <a:ext cx="4918364" cy="4444534"/>
          </a:xfrm>
        </p:spPr>
        <p:txBody>
          <a:bodyPr/>
          <a:lstStyle>
            <a:lvl1pPr>
              <a:defRPr>
                <a:latin typeface="Trust Sans" pitchFamily="2" charset="77"/>
              </a:defRPr>
            </a:lvl1pPr>
            <a:lvl2pPr>
              <a:defRPr>
                <a:latin typeface="Trust Sans" pitchFamily="2" charset="77"/>
              </a:defRPr>
            </a:lvl2pPr>
            <a:lvl3pPr>
              <a:defRPr>
                <a:latin typeface="Trust Sans" pitchFamily="2" charset="77"/>
              </a:defRPr>
            </a:lvl3pPr>
            <a:lvl4pPr>
              <a:defRPr>
                <a:latin typeface="Trust Sans" pitchFamily="2" charset="77"/>
              </a:defRPr>
            </a:lvl4pPr>
            <a:lvl5pPr>
              <a:defRPr>
                <a:latin typeface="Trust Sans" pitchFamily="2" charset="77"/>
              </a:defRPr>
            </a:lvl5pPr>
          </a:lstStyle>
          <a:p>
            <a:pPr lvl="0"/>
            <a:r>
              <a:rPr lang="es-MX" dirty="0"/>
              <a:t>Click to add text</a:t>
            </a:r>
            <a:endParaRPr lang="es-CR" dirty="0"/>
          </a:p>
        </p:txBody>
      </p:sp>
    </p:spTree>
    <p:extLst>
      <p:ext uri="{BB962C8B-B14F-4D97-AF65-F5344CB8AC3E}">
        <p14:creationId xmlns:p14="http://schemas.microsoft.com/office/powerpoint/2010/main" val="15889629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ondo liso + Log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Marcador de contenido 2">
            <a:extLst>
              <a:ext uri="{FF2B5EF4-FFF2-40B4-BE49-F238E27FC236}">
                <a16:creationId xmlns:a16="http://schemas.microsoft.com/office/drawing/2014/main" id="{3588C353-EDDC-B884-9CAB-022D5154F4EF}"/>
              </a:ext>
            </a:extLst>
          </p:cNvPr>
          <p:cNvSpPr>
            <a:spLocks noGrp="1"/>
          </p:cNvSpPr>
          <p:nvPr>
            <p:ph sz="half" idx="1" hasCustomPrompt="1"/>
          </p:nvPr>
        </p:nvSpPr>
        <p:spPr>
          <a:xfrm>
            <a:off x="838200" y="2067983"/>
            <a:ext cx="5181600" cy="3735410"/>
          </a:xfrm>
        </p:spPr>
        <p:txBody>
          <a:bodyPr/>
          <a:lstStyle>
            <a:lvl1pPr>
              <a:defRPr>
                <a:latin typeface="Trust Sans" pitchFamily="2" charset="77"/>
              </a:defRPr>
            </a:lvl1pPr>
            <a:lvl2pPr>
              <a:defRPr>
                <a:latin typeface="Trust Sans" pitchFamily="2" charset="77"/>
              </a:defRPr>
            </a:lvl2pPr>
            <a:lvl3pPr>
              <a:defRPr>
                <a:latin typeface="Trust Sans" pitchFamily="2" charset="77"/>
              </a:defRPr>
            </a:lvl3pPr>
            <a:lvl4pPr>
              <a:defRPr>
                <a:latin typeface="Trust Sans" pitchFamily="2" charset="77"/>
              </a:defRPr>
            </a:lvl4pPr>
            <a:lvl5pPr>
              <a:defRPr>
                <a:latin typeface="Trust Sans" pitchFamily="2" charset="77"/>
              </a:defRPr>
            </a:lvl5pPr>
          </a:lstStyle>
          <a:p>
            <a:pPr lvl="0"/>
            <a:r>
              <a:rPr lang="es-MX" dirty="0"/>
              <a:t>Click to add text</a:t>
            </a:r>
            <a:endParaRPr lang="es-CR" dirty="0"/>
          </a:p>
        </p:txBody>
      </p:sp>
      <p:sp>
        <p:nvSpPr>
          <p:cNvPr id="6" name="Marcador de contenido 3">
            <a:extLst>
              <a:ext uri="{FF2B5EF4-FFF2-40B4-BE49-F238E27FC236}">
                <a16:creationId xmlns:a16="http://schemas.microsoft.com/office/drawing/2014/main" id="{5E2DD159-D272-5B1F-5E0C-14A3DC6252E6}"/>
              </a:ext>
            </a:extLst>
          </p:cNvPr>
          <p:cNvSpPr>
            <a:spLocks noGrp="1"/>
          </p:cNvSpPr>
          <p:nvPr>
            <p:ph sz="half" idx="2" hasCustomPrompt="1"/>
          </p:nvPr>
        </p:nvSpPr>
        <p:spPr>
          <a:xfrm>
            <a:off x="6172200" y="2067983"/>
            <a:ext cx="5181600" cy="3735410"/>
          </a:xfrm>
        </p:spPr>
        <p:txBody>
          <a:bodyPr/>
          <a:lstStyle>
            <a:lvl1pPr>
              <a:defRPr>
                <a:latin typeface="Trust Sans" pitchFamily="2" charset="77"/>
              </a:defRPr>
            </a:lvl1pPr>
            <a:lvl2pPr>
              <a:defRPr>
                <a:latin typeface="Trust Sans" pitchFamily="2" charset="77"/>
              </a:defRPr>
            </a:lvl2pPr>
            <a:lvl3pPr>
              <a:defRPr>
                <a:latin typeface="Trust Sans" pitchFamily="2" charset="77"/>
              </a:defRPr>
            </a:lvl3pPr>
            <a:lvl4pPr>
              <a:defRPr>
                <a:latin typeface="Trust Sans" pitchFamily="2" charset="77"/>
              </a:defRPr>
            </a:lvl4pPr>
            <a:lvl5pPr>
              <a:defRPr>
                <a:latin typeface="Trust Sans" pitchFamily="2" charset="77"/>
              </a:defRPr>
            </a:lvl5pPr>
          </a:lstStyle>
          <a:p>
            <a:pPr lvl="0"/>
            <a:r>
              <a:rPr lang="es-MX" dirty="0"/>
              <a:t>Click to add text</a:t>
            </a:r>
            <a:endParaRPr lang="es-CR" dirty="0"/>
          </a:p>
        </p:txBody>
      </p:sp>
      <p:cxnSp>
        <p:nvCxnSpPr>
          <p:cNvPr id="8" name="Conector recto 7">
            <a:extLst>
              <a:ext uri="{FF2B5EF4-FFF2-40B4-BE49-F238E27FC236}">
                <a16:creationId xmlns:a16="http://schemas.microsoft.com/office/drawing/2014/main" id="{7757F612-090F-A7EF-4E70-7AAD35CF72DC}"/>
              </a:ext>
            </a:extLst>
          </p:cNvPr>
          <p:cNvCxnSpPr>
            <a:cxnSpLocks/>
          </p:cNvCxnSpPr>
          <p:nvPr userDrawn="1"/>
        </p:nvCxnSpPr>
        <p:spPr>
          <a:xfrm>
            <a:off x="586394" y="1677007"/>
            <a:ext cx="10192442" cy="0"/>
          </a:xfrm>
          <a:prstGeom prst="line">
            <a:avLst/>
          </a:prstGeom>
          <a:ln w="38100" cap="rnd">
            <a:solidFill>
              <a:srgbClr val="00B2E3"/>
            </a:solidFill>
            <a:bevel/>
            <a:tailEnd type="none"/>
          </a:ln>
        </p:spPr>
        <p:style>
          <a:lnRef idx="1">
            <a:schemeClr val="accent1"/>
          </a:lnRef>
          <a:fillRef idx="0">
            <a:schemeClr val="accent1"/>
          </a:fillRef>
          <a:effectRef idx="0">
            <a:schemeClr val="accent1"/>
          </a:effectRef>
          <a:fontRef idx="minor">
            <a:schemeClr val="tx1"/>
          </a:fontRef>
        </p:style>
      </p:cxnSp>
      <p:sp>
        <p:nvSpPr>
          <p:cNvPr id="10" name="Título 1">
            <a:extLst>
              <a:ext uri="{FF2B5EF4-FFF2-40B4-BE49-F238E27FC236}">
                <a16:creationId xmlns:a16="http://schemas.microsoft.com/office/drawing/2014/main" id="{FC846CE2-3AED-AB04-9835-976A0147B75F}"/>
              </a:ext>
            </a:extLst>
          </p:cNvPr>
          <p:cNvSpPr>
            <a:spLocks noGrp="1"/>
          </p:cNvSpPr>
          <p:nvPr>
            <p:ph type="title" hasCustomPrompt="1"/>
          </p:nvPr>
        </p:nvSpPr>
        <p:spPr>
          <a:xfrm>
            <a:off x="1367444" y="585169"/>
            <a:ext cx="9807633" cy="871794"/>
          </a:xfrm>
          <a:prstGeom prst="rect">
            <a:avLst/>
          </a:prstGeom>
        </p:spPr>
        <p:txBody>
          <a:bodyPr>
            <a:normAutofit/>
          </a:bodyPr>
          <a:lstStyle>
            <a:lvl1pPr>
              <a:defRPr sz="4000" b="1" i="0">
                <a:solidFill>
                  <a:srgbClr val="000F9F"/>
                </a:solidFill>
                <a:latin typeface="Trust Sans Bold" pitchFamily="2" charset="77"/>
              </a:defRPr>
            </a:lvl1pPr>
          </a:lstStyle>
          <a:p>
            <a:r>
              <a:rPr lang="es-MX" dirty="0"/>
              <a:t>CLICK TO ADD TITLE</a:t>
            </a:r>
            <a:endParaRPr lang="es-CR" dirty="0"/>
          </a:p>
        </p:txBody>
      </p:sp>
      <p:pic>
        <p:nvPicPr>
          <p:cNvPr id="11" name="Imagen 7">
            <a:extLst>
              <a:ext uri="{FF2B5EF4-FFF2-40B4-BE49-F238E27FC236}">
                <a16:creationId xmlns:a16="http://schemas.microsoft.com/office/drawing/2014/main" id="{A5B6BF07-8364-9FED-F612-95E99DC32A81}"/>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586394" y="655266"/>
            <a:ext cx="781050" cy="488156"/>
          </a:xfrm>
          <a:prstGeom prst="rect">
            <a:avLst/>
          </a:prstGeom>
        </p:spPr>
      </p:pic>
    </p:spTree>
    <p:extLst>
      <p:ext uri="{BB962C8B-B14F-4D97-AF65-F5344CB8AC3E}">
        <p14:creationId xmlns:p14="http://schemas.microsoft.com/office/powerpoint/2010/main" val="8535659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ssets (NO USAR)">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0F7BE623-D05C-AB7B-74E9-BF7866F7D484}"/>
              </a:ext>
            </a:extLst>
          </p:cNvPr>
          <p:cNvSpPr>
            <a:spLocks noGrp="1"/>
          </p:cNvSpPr>
          <p:nvPr>
            <p:ph type="title" hasCustomPrompt="1"/>
          </p:nvPr>
        </p:nvSpPr>
        <p:spPr>
          <a:xfrm>
            <a:off x="1192183" y="365125"/>
            <a:ext cx="9807633" cy="1325563"/>
          </a:xfrm>
          <a:prstGeom prst="rect">
            <a:avLst/>
          </a:prstGeom>
        </p:spPr>
        <p:txBody>
          <a:bodyPr>
            <a:normAutofit/>
          </a:bodyPr>
          <a:lstStyle>
            <a:lvl1pPr algn="ctr">
              <a:defRPr sz="4000" b="1" i="0">
                <a:solidFill>
                  <a:srgbClr val="000F9F"/>
                </a:solidFill>
                <a:latin typeface="Trust Sans Bold" pitchFamily="2" charset="77"/>
              </a:defRPr>
            </a:lvl1pPr>
          </a:lstStyle>
          <a:p>
            <a:r>
              <a:rPr lang="es-MX" dirty="0"/>
              <a:t>CLICK TO ADD TITLE</a:t>
            </a:r>
            <a:endParaRPr lang="es-CR" dirty="0"/>
          </a:p>
        </p:txBody>
      </p:sp>
      <p:cxnSp>
        <p:nvCxnSpPr>
          <p:cNvPr id="6" name="Conector recto 5">
            <a:extLst>
              <a:ext uri="{FF2B5EF4-FFF2-40B4-BE49-F238E27FC236}">
                <a16:creationId xmlns:a16="http://schemas.microsoft.com/office/drawing/2014/main" id="{F3F1B8A1-C662-D115-0579-1F78DFAED100}"/>
              </a:ext>
            </a:extLst>
          </p:cNvPr>
          <p:cNvCxnSpPr>
            <a:cxnSpLocks/>
          </p:cNvCxnSpPr>
          <p:nvPr userDrawn="1"/>
        </p:nvCxnSpPr>
        <p:spPr>
          <a:xfrm>
            <a:off x="999779" y="1677007"/>
            <a:ext cx="10192442" cy="0"/>
          </a:xfrm>
          <a:prstGeom prst="line">
            <a:avLst/>
          </a:prstGeom>
          <a:ln w="38100" cap="rnd">
            <a:solidFill>
              <a:srgbClr val="00B2E3"/>
            </a:solidFill>
            <a:beve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80114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F4E6B-8ED0-1A0E-9981-00C1D28AC9D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046B6CF-A793-667E-DFBB-6606EFB100C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48E7DB-55BF-03D2-747C-3E850277C95F}"/>
              </a:ext>
            </a:extLst>
          </p:cNvPr>
          <p:cNvSpPr>
            <a:spLocks noGrp="1"/>
          </p:cNvSpPr>
          <p:nvPr>
            <p:ph type="dt" sz="half" idx="10"/>
          </p:nvPr>
        </p:nvSpPr>
        <p:spPr/>
        <p:txBody>
          <a:bodyPr/>
          <a:lstStyle/>
          <a:p>
            <a:fld id="{1DFC3DDB-3254-4B44-AF1A-1332E3F263AA}" type="datetimeFigureOut">
              <a:rPr lang="en-US" smtClean="0"/>
              <a:t>2/27/2026</a:t>
            </a:fld>
            <a:endParaRPr lang="en-US"/>
          </a:p>
        </p:txBody>
      </p:sp>
      <p:sp>
        <p:nvSpPr>
          <p:cNvPr id="5" name="Footer Placeholder 4">
            <a:extLst>
              <a:ext uri="{FF2B5EF4-FFF2-40B4-BE49-F238E27FC236}">
                <a16:creationId xmlns:a16="http://schemas.microsoft.com/office/drawing/2014/main" id="{4A6E244A-B1DD-9755-2D40-610B86172F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D9798C-0384-56F2-CEBE-2C5FA81B9918}"/>
              </a:ext>
            </a:extLst>
          </p:cNvPr>
          <p:cNvSpPr>
            <a:spLocks noGrp="1"/>
          </p:cNvSpPr>
          <p:nvPr>
            <p:ph type="sldNum" sz="quarter" idx="12"/>
          </p:nvPr>
        </p:nvSpPr>
        <p:spPr/>
        <p:txBody>
          <a:bodyPr/>
          <a:lstStyle/>
          <a:p>
            <a:fld id="{63F6D993-70CC-49F7-B403-AE2621891486}" type="slidenum">
              <a:rPr lang="en-US" smtClean="0"/>
              <a:t>‹#›</a:t>
            </a:fld>
            <a:endParaRPr lang="en-US"/>
          </a:p>
        </p:txBody>
      </p:sp>
    </p:spTree>
    <p:extLst>
      <p:ext uri="{BB962C8B-B14F-4D97-AF65-F5344CB8AC3E}">
        <p14:creationId xmlns:p14="http://schemas.microsoft.com/office/powerpoint/2010/main" val="26003688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4E659041-7ADC-62BC-6910-5620613E9E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R"/>
          </a:p>
        </p:txBody>
      </p:sp>
      <p:sp>
        <p:nvSpPr>
          <p:cNvPr id="4" name="Marcador de fecha 3">
            <a:extLst>
              <a:ext uri="{FF2B5EF4-FFF2-40B4-BE49-F238E27FC236}">
                <a16:creationId xmlns:a16="http://schemas.microsoft.com/office/drawing/2014/main" id="{340333AB-DD6B-8268-4367-48E8155074A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A3ADE5-809A-F847-849A-CF38205A1D8E}" type="datetimeFigureOut">
              <a:rPr lang="es-CR" smtClean="0"/>
              <a:t>27/2/2026</a:t>
            </a:fld>
            <a:endParaRPr lang="es-CR"/>
          </a:p>
        </p:txBody>
      </p:sp>
      <p:sp>
        <p:nvSpPr>
          <p:cNvPr id="6" name="Marcador de número de diapositiva 5">
            <a:extLst>
              <a:ext uri="{FF2B5EF4-FFF2-40B4-BE49-F238E27FC236}">
                <a16:creationId xmlns:a16="http://schemas.microsoft.com/office/drawing/2014/main" id="{EB71165C-2410-72E9-B41A-2B2E95CD3D6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3356CB7-7D20-A748-9388-BFDA1817F9B8}" type="slidenum">
              <a:rPr lang="es-CR" smtClean="0"/>
              <a:t>‹#›</a:t>
            </a:fld>
            <a:endParaRPr lang="es-CR"/>
          </a:p>
        </p:txBody>
      </p:sp>
    </p:spTree>
    <p:extLst>
      <p:ext uri="{BB962C8B-B14F-4D97-AF65-F5344CB8AC3E}">
        <p14:creationId xmlns:p14="http://schemas.microsoft.com/office/powerpoint/2010/main" val="563156582"/>
      </p:ext>
    </p:extLst>
  </p:cSld>
  <p:clrMap bg1="lt1" tx1="dk1" bg2="lt2" tx2="dk2" accent1="accent1" accent2="accent2" accent3="accent3" accent4="accent4" accent5="accent5" accent6="accent6" hlink="hlink" folHlink="folHlink"/>
  <p:sldLayoutIdLst>
    <p:sldLayoutId id="2147483649" r:id="rId1"/>
    <p:sldLayoutId id="2147483655" r:id="rId2"/>
    <p:sldLayoutId id="2147483651" r:id="rId3"/>
    <p:sldLayoutId id="2147483652" r:id="rId4"/>
    <p:sldLayoutId id="2147483653" r:id="rId5"/>
    <p:sldLayoutId id="2147483659" r:id="rId6"/>
    <p:sldLayoutId id="2147483656" r:id="rId7"/>
    <p:sldLayoutId id="2147483657" r:id="rId8"/>
    <p:sldLayoutId id="2147483660"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4.xml"/><Relationship Id="rId5" Type="http://schemas.openxmlformats.org/officeDocument/2006/relationships/image" Target="../media/image27.pn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240.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image" Target="../media/image32.png"/><Relationship Id="rId1" Type="http://schemas.openxmlformats.org/officeDocument/2006/relationships/slideLayout" Target="../slideLayouts/slideLayout4.xml"/><Relationship Id="rId5" Type="http://schemas.openxmlformats.org/officeDocument/2006/relationships/image" Target="../media/image33.png"/><Relationship Id="rId4" Type="http://schemas.openxmlformats.org/officeDocument/2006/relationships/customXml" Target="../ink/ink1.xml"/></Relationships>
</file>

<file path=ppt/slides/_rels/slide20.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image" Target="../media/image27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9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image" Target="../media/image30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2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hyperlink" Target="https://doi.org/10.1007/978-3-031-37865-2" TargetMode="Externa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D761F7-B769-3D43-00ED-0BFDC3AC7954}"/>
              </a:ext>
            </a:extLst>
          </p:cNvPr>
          <p:cNvSpPr>
            <a:spLocks noGrp="1"/>
          </p:cNvSpPr>
          <p:nvPr>
            <p:ph type="ctrTitle"/>
          </p:nvPr>
        </p:nvSpPr>
        <p:spPr/>
        <p:txBody>
          <a:bodyPr>
            <a:normAutofit/>
          </a:bodyPr>
          <a:lstStyle/>
          <a:p>
            <a:r>
              <a:rPr lang="es-CR" sz="5400" dirty="0"/>
              <a:t>Unidad 4: Pruebas de hipótesis</a:t>
            </a:r>
          </a:p>
        </p:txBody>
      </p:sp>
      <p:sp>
        <p:nvSpPr>
          <p:cNvPr id="3" name="Subtítulo 2">
            <a:extLst>
              <a:ext uri="{FF2B5EF4-FFF2-40B4-BE49-F238E27FC236}">
                <a16:creationId xmlns:a16="http://schemas.microsoft.com/office/drawing/2014/main" id="{E6633BDD-7A3E-2C4B-BEF9-52FFB3723897}"/>
              </a:ext>
            </a:extLst>
          </p:cNvPr>
          <p:cNvSpPr>
            <a:spLocks noGrp="1"/>
          </p:cNvSpPr>
          <p:nvPr>
            <p:ph type="subTitle" idx="1"/>
          </p:nvPr>
        </p:nvSpPr>
        <p:spPr>
          <a:xfrm>
            <a:off x="2846057" y="4055104"/>
            <a:ext cx="7794912" cy="957689"/>
          </a:xfrm>
        </p:spPr>
        <p:txBody>
          <a:bodyPr>
            <a:normAutofit/>
          </a:bodyPr>
          <a:lstStyle/>
          <a:p>
            <a:r>
              <a:rPr lang="es-CR" dirty="0" err="1"/>
              <a:t>Prof</a:t>
            </a:r>
            <a:r>
              <a:rPr lang="es-CR" dirty="0"/>
              <a:t>: Fabián Brenes Trejos</a:t>
            </a:r>
          </a:p>
        </p:txBody>
      </p:sp>
    </p:spTree>
    <p:extLst>
      <p:ext uri="{BB962C8B-B14F-4D97-AF65-F5344CB8AC3E}">
        <p14:creationId xmlns:p14="http://schemas.microsoft.com/office/powerpoint/2010/main" val="33753814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61C7B05-9423-80AD-ABDC-E6E927A0E0CB}"/>
              </a:ext>
            </a:extLst>
          </p:cNvPr>
          <p:cNvSpPr>
            <a:spLocks noGrp="1"/>
          </p:cNvSpPr>
          <p:nvPr>
            <p:ph type="title"/>
          </p:nvPr>
        </p:nvSpPr>
        <p:spPr/>
        <p:txBody>
          <a:bodyPr/>
          <a:lstStyle/>
          <a:p>
            <a:r>
              <a:rPr lang="es-CR" dirty="0"/>
              <a:t>Contenido</a:t>
            </a:r>
          </a:p>
        </p:txBody>
      </p:sp>
      <p:sp>
        <p:nvSpPr>
          <p:cNvPr id="5" name="TextBox 4">
            <a:extLst>
              <a:ext uri="{FF2B5EF4-FFF2-40B4-BE49-F238E27FC236}">
                <a16:creationId xmlns:a16="http://schemas.microsoft.com/office/drawing/2014/main" id="{6D542AB4-C6E9-CFD1-1545-A52B284137FA}"/>
              </a:ext>
            </a:extLst>
          </p:cNvPr>
          <p:cNvSpPr txBox="1"/>
          <p:nvPr/>
        </p:nvSpPr>
        <p:spPr>
          <a:xfrm>
            <a:off x="932688" y="1792224"/>
            <a:ext cx="10326624" cy="1631216"/>
          </a:xfrm>
          <a:prstGeom prst="rect">
            <a:avLst/>
          </a:prstGeom>
          <a:noFill/>
        </p:spPr>
        <p:txBody>
          <a:bodyPr wrap="square" rtlCol="0">
            <a:spAutoFit/>
          </a:bodyPr>
          <a:lstStyle/>
          <a:p>
            <a:pPr marL="285750" indent="-285750">
              <a:buFont typeface="Arial" panose="020B0604020202020204" pitchFamily="34" charset="0"/>
              <a:buChar char="•"/>
            </a:pPr>
            <a:r>
              <a:rPr lang="es-CR" sz="2000" dirty="0"/>
              <a:t>Teorema del Límite Central</a:t>
            </a:r>
          </a:p>
          <a:p>
            <a:pPr marL="285750" indent="-285750">
              <a:buFont typeface="Arial" panose="020B0604020202020204" pitchFamily="34" charset="0"/>
              <a:buChar char="•"/>
            </a:pPr>
            <a:endParaRPr lang="es-CR" sz="2000" dirty="0"/>
          </a:p>
          <a:p>
            <a:pPr marL="285750" indent="-285750">
              <a:buFont typeface="Arial" panose="020B0604020202020204" pitchFamily="34" charset="0"/>
              <a:buChar char="•"/>
            </a:pPr>
            <a:r>
              <a:rPr lang="es-CR" sz="2000" dirty="0"/>
              <a:t>Prueba de hipótesis</a:t>
            </a:r>
          </a:p>
          <a:p>
            <a:endParaRPr lang="es-CR" sz="2000" dirty="0"/>
          </a:p>
          <a:p>
            <a:pPr marL="285750" indent="-285750">
              <a:buFont typeface="Arial" panose="020B0604020202020204" pitchFamily="34" charset="0"/>
              <a:buChar char="•"/>
            </a:pPr>
            <a:r>
              <a:rPr lang="es-CR" sz="2000" dirty="0"/>
              <a:t>Ejercicio en R</a:t>
            </a:r>
          </a:p>
        </p:txBody>
      </p:sp>
    </p:spTree>
    <p:extLst>
      <p:ext uri="{BB962C8B-B14F-4D97-AF65-F5344CB8AC3E}">
        <p14:creationId xmlns:p14="http://schemas.microsoft.com/office/powerpoint/2010/main" val="9000786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1C185-3AC6-6FF9-37A4-DB73602B74C2}"/>
              </a:ext>
            </a:extLst>
          </p:cNvPr>
          <p:cNvSpPr>
            <a:spLocks noGrp="1"/>
          </p:cNvSpPr>
          <p:nvPr>
            <p:ph type="title"/>
          </p:nvPr>
        </p:nvSpPr>
        <p:spPr/>
        <p:txBody>
          <a:bodyPr/>
          <a:lstStyle/>
          <a:p>
            <a:r>
              <a:rPr lang="es-CR" dirty="0"/>
              <a:t>Teorema del Límite Central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6A71D74-ECC1-1433-B01A-3A94AB43D355}"/>
                  </a:ext>
                </a:extLst>
              </p:cNvPr>
              <p:cNvSpPr>
                <a:spLocks noGrp="1"/>
              </p:cNvSpPr>
              <p:nvPr>
                <p:ph sz="half" idx="1"/>
              </p:nvPr>
            </p:nvSpPr>
            <p:spPr>
              <a:xfrm>
                <a:off x="172995" y="1901952"/>
                <a:ext cx="12019005" cy="4956048"/>
              </a:xfrm>
              <a:solidFill>
                <a:schemeClr val="bg1"/>
              </a:solidFill>
            </p:spPr>
            <p:txBody>
              <a:bodyPr>
                <a:normAutofit/>
              </a:bodyPr>
              <a:lstStyle/>
              <a:p>
                <a:pPr algn="just"/>
                <a:r>
                  <a:rPr lang="es-CR" sz="2000" dirty="0"/>
                  <a:t>Sea </a:t>
                </a:r>
                <a14:m>
                  <m:oMath xmlns:m="http://schemas.openxmlformats.org/officeDocument/2006/math">
                    <m:sSub>
                      <m:sSubPr>
                        <m:ctrlPr>
                          <a:rPr lang="es-CR" sz="2000" i="1" smtClean="0">
                            <a:latin typeface="Cambria Math" panose="02040503050406030204" pitchFamily="18" charset="0"/>
                          </a:rPr>
                        </m:ctrlPr>
                      </m:sSubPr>
                      <m:e>
                        <m:r>
                          <a:rPr lang="es-CR" sz="2000" b="0" i="1" smtClean="0">
                            <a:latin typeface="Cambria Math" panose="02040503050406030204" pitchFamily="18" charset="0"/>
                          </a:rPr>
                          <m:t>𝑋</m:t>
                        </m:r>
                      </m:e>
                      <m:sub>
                        <m:r>
                          <a:rPr lang="es-CR" sz="2000" b="0" i="1" smtClean="0">
                            <a:latin typeface="Cambria Math" panose="02040503050406030204" pitchFamily="18" charset="0"/>
                          </a:rPr>
                          <m:t>1</m:t>
                        </m:r>
                      </m:sub>
                    </m:sSub>
                    <m:r>
                      <a:rPr lang="es-CR" sz="2000" b="0" i="1" smtClean="0">
                        <a:latin typeface="Cambria Math" panose="02040503050406030204" pitchFamily="18" charset="0"/>
                      </a:rPr>
                      <m:t>,…,</m:t>
                    </m:r>
                    <m:sSub>
                      <m:sSubPr>
                        <m:ctrlPr>
                          <a:rPr lang="es-CR" sz="2000" b="0" i="1" smtClean="0">
                            <a:latin typeface="Cambria Math" panose="02040503050406030204" pitchFamily="18" charset="0"/>
                          </a:rPr>
                        </m:ctrlPr>
                      </m:sSubPr>
                      <m:e>
                        <m:r>
                          <a:rPr lang="es-CR" sz="2000" b="0" i="1" smtClean="0">
                            <a:latin typeface="Cambria Math" panose="02040503050406030204" pitchFamily="18" charset="0"/>
                          </a:rPr>
                          <m:t>𝑋</m:t>
                        </m:r>
                      </m:e>
                      <m:sub>
                        <m:r>
                          <a:rPr lang="es-CR" sz="2000" b="0" i="1" smtClean="0">
                            <a:latin typeface="Cambria Math" panose="02040503050406030204" pitchFamily="18" charset="0"/>
                          </a:rPr>
                          <m:t>𝑛</m:t>
                        </m:r>
                      </m:sub>
                    </m:sSub>
                    <m:r>
                      <a:rPr lang="es-CR" sz="2000" b="0" i="1" smtClean="0">
                        <a:latin typeface="Cambria Math" panose="02040503050406030204" pitchFamily="18" charset="0"/>
                      </a:rPr>
                      <m:t>, </m:t>
                    </m:r>
                  </m:oMath>
                </a14:m>
                <a:r>
                  <a:rPr lang="es-CR" sz="2000" dirty="0"/>
                  <a:t>variables aleatorias independientes con </a:t>
                </a:r>
                <a14:m>
                  <m:oMath xmlns:m="http://schemas.openxmlformats.org/officeDocument/2006/math">
                    <m:sSub>
                      <m:sSubPr>
                        <m:ctrlPr>
                          <a:rPr lang="es-CR" sz="2000" i="1">
                            <a:latin typeface="Cambria Math" panose="02040503050406030204" pitchFamily="18" charset="0"/>
                          </a:rPr>
                        </m:ctrlPr>
                      </m:sSubPr>
                      <m:e>
                        <m:r>
                          <a:rPr lang="es-CR" sz="2000" b="0" i="1" smtClean="0">
                            <a:latin typeface="Cambria Math" panose="02040503050406030204" pitchFamily="18" charset="0"/>
                          </a:rPr>
                          <m:t>𝐸</m:t>
                        </m:r>
                        <m:r>
                          <a:rPr lang="es-CR" sz="2000" b="0" i="1" smtClean="0">
                            <a:latin typeface="Cambria Math" panose="02040503050406030204" pitchFamily="18" charset="0"/>
                          </a:rPr>
                          <m:t>(</m:t>
                        </m:r>
                        <m:r>
                          <a:rPr lang="es-CR" sz="2000" i="1">
                            <a:latin typeface="Cambria Math" panose="02040503050406030204" pitchFamily="18" charset="0"/>
                          </a:rPr>
                          <m:t>𝑋</m:t>
                        </m:r>
                      </m:e>
                      <m:sub>
                        <m:r>
                          <a:rPr lang="es-CR" sz="2000" b="0" i="1" smtClean="0">
                            <a:latin typeface="Cambria Math" panose="02040503050406030204" pitchFamily="18" charset="0"/>
                          </a:rPr>
                          <m:t>𝑖</m:t>
                        </m:r>
                      </m:sub>
                    </m:sSub>
                    <m:r>
                      <a:rPr lang="es-CR" sz="2000" b="0" i="1" smtClean="0">
                        <a:latin typeface="Cambria Math" panose="02040503050406030204" pitchFamily="18" charset="0"/>
                      </a:rPr>
                      <m:t>)=</m:t>
                    </m:r>
                    <m:sSub>
                      <m:sSubPr>
                        <m:ctrlPr>
                          <a:rPr lang="es-CR" sz="2000" b="0" i="1" smtClean="0">
                            <a:latin typeface="Cambria Math" panose="02040503050406030204" pitchFamily="18" charset="0"/>
                          </a:rPr>
                        </m:ctrlPr>
                      </m:sSubPr>
                      <m:e>
                        <m:r>
                          <a:rPr lang="es-CR" sz="2000" i="1">
                            <a:latin typeface="Cambria Math" panose="02040503050406030204" pitchFamily="18" charset="0"/>
                            <a:ea typeface="Cambria Math" panose="02040503050406030204" pitchFamily="18" charset="0"/>
                          </a:rPr>
                          <m:t>𝜇</m:t>
                        </m:r>
                      </m:e>
                      <m:sub>
                        <m:r>
                          <a:rPr lang="es-CR" sz="2000" b="0" i="1" smtClean="0">
                            <a:latin typeface="Cambria Math" panose="02040503050406030204" pitchFamily="18" charset="0"/>
                          </a:rPr>
                          <m:t>𝑖</m:t>
                        </m:r>
                      </m:sub>
                    </m:sSub>
                    <m:r>
                      <a:rPr lang="es-CR" sz="2000" b="0" i="1" smtClean="0">
                        <a:latin typeface="Cambria Math" panose="02040503050406030204" pitchFamily="18" charset="0"/>
                      </a:rPr>
                      <m:t> </m:t>
                    </m:r>
                  </m:oMath>
                </a14:m>
                <a:r>
                  <a:rPr lang="es-CR" sz="2000" dirty="0"/>
                  <a:t>y </a:t>
                </a:r>
                <a14:m>
                  <m:oMath xmlns:m="http://schemas.openxmlformats.org/officeDocument/2006/math">
                    <m:sSub>
                      <m:sSubPr>
                        <m:ctrlPr>
                          <a:rPr lang="es-CR" sz="2000" i="1">
                            <a:latin typeface="Cambria Math" panose="02040503050406030204" pitchFamily="18" charset="0"/>
                          </a:rPr>
                        </m:ctrlPr>
                      </m:sSubPr>
                      <m:e>
                        <m:r>
                          <a:rPr lang="es-CR" sz="2000" b="0" i="1" smtClean="0">
                            <a:latin typeface="Cambria Math" panose="02040503050406030204" pitchFamily="18" charset="0"/>
                          </a:rPr>
                          <m:t>𝑉𝑎𝑟</m:t>
                        </m:r>
                        <m:r>
                          <a:rPr lang="es-CR" sz="2000" i="1">
                            <a:latin typeface="Cambria Math" panose="02040503050406030204" pitchFamily="18" charset="0"/>
                          </a:rPr>
                          <m:t>(</m:t>
                        </m:r>
                        <m:r>
                          <a:rPr lang="es-CR" sz="2000" i="1">
                            <a:latin typeface="Cambria Math" panose="02040503050406030204" pitchFamily="18" charset="0"/>
                          </a:rPr>
                          <m:t>𝑋</m:t>
                        </m:r>
                      </m:e>
                      <m:sub>
                        <m:r>
                          <a:rPr lang="es-CR" sz="2000" i="1">
                            <a:latin typeface="Cambria Math" panose="02040503050406030204" pitchFamily="18" charset="0"/>
                          </a:rPr>
                          <m:t>𝑖</m:t>
                        </m:r>
                      </m:sub>
                    </m:sSub>
                    <m:r>
                      <a:rPr lang="es-CR" sz="2000" i="1">
                        <a:latin typeface="Cambria Math" panose="02040503050406030204" pitchFamily="18" charset="0"/>
                      </a:rPr>
                      <m:t>)=</m:t>
                    </m:r>
                    <m:sSubSup>
                      <m:sSubSupPr>
                        <m:ctrlPr>
                          <a:rPr lang="es-CR" sz="2000" i="1" smtClean="0">
                            <a:latin typeface="Cambria Math" panose="02040503050406030204" pitchFamily="18" charset="0"/>
                          </a:rPr>
                        </m:ctrlPr>
                      </m:sSubSupPr>
                      <m:e>
                        <m:r>
                          <a:rPr lang="es-CR" sz="2000" i="1">
                            <a:latin typeface="Cambria Math" panose="02040503050406030204" pitchFamily="18" charset="0"/>
                            <a:ea typeface="Cambria Math" panose="02040503050406030204" pitchFamily="18" charset="0"/>
                          </a:rPr>
                          <m:t>𝜎</m:t>
                        </m:r>
                      </m:e>
                      <m:sub>
                        <m:r>
                          <a:rPr lang="es-CR" sz="2000" b="0" i="1" smtClean="0">
                            <a:latin typeface="Cambria Math" panose="02040503050406030204" pitchFamily="18" charset="0"/>
                          </a:rPr>
                          <m:t>𝑖</m:t>
                        </m:r>
                      </m:sub>
                      <m:sup>
                        <m:r>
                          <a:rPr lang="es-CR" sz="2000" b="0" i="1" smtClean="0">
                            <a:latin typeface="Cambria Math" panose="02040503050406030204" pitchFamily="18" charset="0"/>
                          </a:rPr>
                          <m:t>2</m:t>
                        </m:r>
                      </m:sup>
                    </m:sSubSup>
                  </m:oMath>
                </a14:m>
                <a:r>
                  <a:rPr lang="es-CR" sz="2000" dirty="0"/>
                  <a:t>. En donde </a:t>
                </a:r>
                <a14:m>
                  <m:oMath xmlns:m="http://schemas.openxmlformats.org/officeDocument/2006/math">
                    <m:sSub>
                      <m:sSubPr>
                        <m:ctrlPr>
                          <a:rPr lang="es-CR" sz="2000" b="0" i="1" smtClean="0">
                            <a:latin typeface="Cambria Math" panose="02040503050406030204" pitchFamily="18" charset="0"/>
                          </a:rPr>
                        </m:ctrlPr>
                      </m:sSubPr>
                      <m:e>
                        <m:r>
                          <a:rPr lang="es-CR" sz="2000" b="0" i="1" smtClean="0">
                            <a:latin typeface="Cambria Math" panose="02040503050406030204" pitchFamily="18" charset="0"/>
                          </a:rPr>
                          <m:t>𝑌</m:t>
                        </m:r>
                      </m:e>
                      <m:sub>
                        <m:r>
                          <a:rPr lang="es-CR" sz="2000" b="0" i="1" smtClean="0">
                            <a:latin typeface="Cambria Math" panose="02040503050406030204" pitchFamily="18" charset="0"/>
                          </a:rPr>
                          <m:t>𝑛</m:t>
                        </m:r>
                      </m:sub>
                    </m:sSub>
                    <m:r>
                      <a:rPr lang="es-CR" sz="2000" i="1">
                        <a:latin typeface="Cambria Math" panose="02040503050406030204" pitchFamily="18" charset="0"/>
                      </a:rPr>
                      <m:t>=</m:t>
                    </m:r>
                    <m:nary>
                      <m:naryPr>
                        <m:chr m:val="∑"/>
                        <m:ctrlPr>
                          <a:rPr lang="es-CR" sz="2000" i="1" smtClean="0">
                            <a:latin typeface="Cambria Math" panose="02040503050406030204" pitchFamily="18" charset="0"/>
                          </a:rPr>
                        </m:ctrlPr>
                      </m:naryPr>
                      <m:sub>
                        <m:r>
                          <m:rPr>
                            <m:brk m:alnAt="23"/>
                          </m:rPr>
                          <a:rPr lang="es-CR" sz="2000" b="0" i="1" smtClean="0">
                            <a:latin typeface="Cambria Math" panose="02040503050406030204" pitchFamily="18" charset="0"/>
                          </a:rPr>
                          <m:t>𝑖</m:t>
                        </m:r>
                        <m:r>
                          <a:rPr lang="es-CR" sz="2000" b="0" i="1" smtClean="0">
                            <a:latin typeface="Cambria Math" panose="02040503050406030204" pitchFamily="18" charset="0"/>
                          </a:rPr>
                          <m:t>=1</m:t>
                        </m:r>
                      </m:sub>
                      <m:sup>
                        <m:r>
                          <a:rPr lang="es-CR" sz="2000" b="0" i="1" smtClean="0">
                            <a:latin typeface="Cambria Math" panose="02040503050406030204" pitchFamily="18" charset="0"/>
                          </a:rPr>
                          <m:t>𝑛</m:t>
                        </m:r>
                      </m:sup>
                      <m:e>
                        <m:sSub>
                          <m:sSubPr>
                            <m:ctrlPr>
                              <a:rPr lang="es-CR" sz="2000" i="1" smtClean="0">
                                <a:latin typeface="Cambria Math" panose="02040503050406030204" pitchFamily="18" charset="0"/>
                              </a:rPr>
                            </m:ctrlPr>
                          </m:sSubPr>
                          <m:e>
                            <m:r>
                              <a:rPr lang="es-CR" sz="2000" b="0" i="1" smtClean="0">
                                <a:latin typeface="Cambria Math" panose="02040503050406030204" pitchFamily="18" charset="0"/>
                              </a:rPr>
                              <m:t>𝑋</m:t>
                            </m:r>
                          </m:e>
                          <m:sub>
                            <m:r>
                              <a:rPr lang="es-CR" sz="2000" b="0" i="1" smtClean="0">
                                <a:latin typeface="Cambria Math" panose="02040503050406030204" pitchFamily="18" charset="0"/>
                              </a:rPr>
                              <m:t>𝑖</m:t>
                            </m:r>
                          </m:sub>
                        </m:sSub>
                      </m:e>
                    </m:nary>
                    <m:r>
                      <a:rPr lang="es-CR" sz="2000" b="0" i="1" smtClean="0">
                        <a:latin typeface="Cambria Math" panose="02040503050406030204" pitchFamily="18" charset="0"/>
                      </a:rPr>
                      <m:t>.</m:t>
                    </m:r>
                  </m:oMath>
                </a14:m>
                <a:r>
                  <a:rPr lang="es-CR" sz="2000" dirty="0"/>
                  <a:t>Entonces para un </a:t>
                </a:r>
                <a:r>
                  <a:rPr lang="es-CR" sz="2000" b="1" i="1" dirty="0"/>
                  <a:t>n </a:t>
                </a:r>
                <a:r>
                  <a:rPr lang="es-CR" sz="2000" dirty="0"/>
                  <a:t>suficientemente grande, el teorema del límite central indica que </a:t>
                </a:r>
                <a14:m>
                  <m:oMath xmlns:m="http://schemas.openxmlformats.org/officeDocument/2006/math">
                    <m:sSub>
                      <m:sSubPr>
                        <m:ctrlPr>
                          <a:rPr lang="es-CR" sz="2000" i="1">
                            <a:latin typeface="Cambria Math" panose="02040503050406030204" pitchFamily="18" charset="0"/>
                          </a:rPr>
                        </m:ctrlPr>
                      </m:sSubPr>
                      <m:e>
                        <m:r>
                          <a:rPr lang="es-CR" sz="2000" i="1">
                            <a:latin typeface="Cambria Math" panose="02040503050406030204" pitchFamily="18" charset="0"/>
                          </a:rPr>
                          <m:t>𝑌</m:t>
                        </m:r>
                      </m:e>
                      <m:sub>
                        <m:r>
                          <a:rPr lang="es-CR" sz="2000" i="1">
                            <a:latin typeface="Cambria Math" panose="02040503050406030204" pitchFamily="18" charset="0"/>
                          </a:rPr>
                          <m:t>𝑛</m:t>
                        </m:r>
                      </m:sub>
                    </m:sSub>
                  </m:oMath>
                </a14:m>
                <a:r>
                  <a:rPr lang="es-CR" sz="2000" dirty="0"/>
                  <a:t> sigue aproximadamente una distribución normal con   </a:t>
                </a:r>
                <a:endParaRPr lang="es-CR" sz="2000" b="1" i="1" dirty="0"/>
              </a:p>
              <a:p>
                <a:pPr marL="0" indent="0" algn="just">
                  <a:buNone/>
                </a:pPr>
                <a:r>
                  <a:rPr lang="es-CR" sz="2000" dirty="0"/>
                  <a:t> 				</a:t>
                </a:r>
                <a14:m>
                  <m:oMath xmlns:m="http://schemas.openxmlformats.org/officeDocument/2006/math">
                    <m:r>
                      <m:rPr>
                        <m:sty m:val="p"/>
                      </m:rPr>
                      <a:rPr lang="es-CR" sz="2000" b="0" i="0" smtClean="0">
                        <a:latin typeface="Cambria Math" panose="02040503050406030204" pitchFamily="18" charset="0"/>
                      </a:rPr>
                      <m:t>E</m:t>
                    </m:r>
                    <m:d>
                      <m:dPr>
                        <m:ctrlPr>
                          <a:rPr lang="es-CR" sz="2000" b="0" i="1" smtClean="0">
                            <a:latin typeface="Cambria Math" panose="02040503050406030204" pitchFamily="18" charset="0"/>
                          </a:rPr>
                        </m:ctrlPr>
                      </m:dPr>
                      <m:e>
                        <m:sSub>
                          <m:sSubPr>
                            <m:ctrlPr>
                              <a:rPr lang="es-CR" sz="2000" b="0" i="1" smtClean="0">
                                <a:latin typeface="Cambria Math" panose="02040503050406030204" pitchFamily="18" charset="0"/>
                              </a:rPr>
                            </m:ctrlPr>
                          </m:sSubPr>
                          <m:e>
                            <m:r>
                              <a:rPr lang="es-CR" sz="2000" b="0" i="1" smtClean="0">
                                <a:latin typeface="Cambria Math" panose="02040503050406030204" pitchFamily="18" charset="0"/>
                              </a:rPr>
                              <m:t>𝑌</m:t>
                            </m:r>
                          </m:e>
                          <m:sub>
                            <m:r>
                              <a:rPr lang="es-CR" sz="2000" b="0" i="1" smtClean="0">
                                <a:latin typeface="Cambria Math" panose="02040503050406030204" pitchFamily="18" charset="0"/>
                              </a:rPr>
                              <m:t>𝑛</m:t>
                            </m:r>
                          </m:sub>
                        </m:sSub>
                      </m:e>
                    </m:d>
                    <m:r>
                      <a:rPr lang="es-CR" sz="2000" i="1">
                        <a:latin typeface="Cambria Math" panose="02040503050406030204" pitchFamily="18" charset="0"/>
                      </a:rPr>
                      <m:t>=</m:t>
                    </m:r>
                    <m:nary>
                      <m:naryPr>
                        <m:chr m:val="∑"/>
                        <m:ctrlPr>
                          <a:rPr lang="es-CR" sz="2000" i="1" smtClean="0">
                            <a:latin typeface="Cambria Math" panose="02040503050406030204" pitchFamily="18" charset="0"/>
                          </a:rPr>
                        </m:ctrlPr>
                      </m:naryPr>
                      <m:sub>
                        <m:r>
                          <m:rPr>
                            <m:brk m:alnAt="23"/>
                          </m:rPr>
                          <a:rPr lang="es-CR" sz="2000" b="0" i="1" smtClean="0">
                            <a:latin typeface="Cambria Math" panose="02040503050406030204" pitchFamily="18" charset="0"/>
                          </a:rPr>
                          <m:t>𝑖</m:t>
                        </m:r>
                        <m:r>
                          <a:rPr lang="es-CR" sz="2000" b="0" i="1" smtClean="0">
                            <a:latin typeface="Cambria Math" panose="02040503050406030204" pitchFamily="18" charset="0"/>
                          </a:rPr>
                          <m:t>=1</m:t>
                        </m:r>
                      </m:sub>
                      <m:sup>
                        <m:r>
                          <a:rPr lang="es-CR" sz="2000" b="0" i="1" smtClean="0">
                            <a:latin typeface="Cambria Math" panose="02040503050406030204" pitchFamily="18" charset="0"/>
                          </a:rPr>
                          <m:t>𝑛</m:t>
                        </m:r>
                      </m:sup>
                      <m:e>
                        <m:sSub>
                          <m:sSubPr>
                            <m:ctrlPr>
                              <a:rPr lang="es-CR" sz="2000" i="1" smtClean="0">
                                <a:latin typeface="Cambria Math" panose="02040503050406030204" pitchFamily="18" charset="0"/>
                              </a:rPr>
                            </m:ctrlPr>
                          </m:sSubPr>
                          <m:e>
                            <m:r>
                              <a:rPr lang="es-CR" sz="2000" b="0" i="1" smtClean="0">
                                <a:latin typeface="Cambria Math" panose="02040503050406030204" pitchFamily="18" charset="0"/>
                              </a:rPr>
                              <m:t>𝑢</m:t>
                            </m:r>
                          </m:e>
                          <m:sub>
                            <m:r>
                              <a:rPr lang="es-CR" sz="2000" b="0" i="1" smtClean="0">
                                <a:latin typeface="Cambria Math" panose="02040503050406030204" pitchFamily="18" charset="0"/>
                              </a:rPr>
                              <m:t>𝑖</m:t>
                            </m:r>
                          </m:sub>
                        </m:sSub>
                      </m:e>
                    </m:nary>
                  </m:oMath>
                </a14:m>
                <a:r>
                  <a:rPr lang="es-CR" sz="2000" dirty="0"/>
                  <a:t>, </a:t>
                </a:r>
                <a:endParaRPr lang="es-CR" sz="2000" dirty="0">
                  <a:latin typeface="Cambria Math" panose="02040503050406030204" pitchFamily="18" charset="0"/>
                </a:endParaRPr>
              </a:p>
              <a:p>
                <a:pPr marL="0" indent="0" algn="just">
                  <a:buNone/>
                </a:pPr>
                <a:r>
                  <a:rPr lang="es-CR" sz="2000" dirty="0"/>
                  <a:t>                                                                </a:t>
                </a:r>
                <a14:m>
                  <m:oMath xmlns:m="http://schemas.openxmlformats.org/officeDocument/2006/math">
                    <m:r>
                      <m:rPr>
                        <m:sty m:val="p"/>
                      </m:rPr>
                      <a:rPr lang="es-CR" sz="2000" b="0" i="0" smtClean="0">
                        <a:latin typeface="Cambria Math" panose="02040503050406030204" pitchFamily="18" charset="0"/>
                      </a:rPr>
                      <m:t>Var</m:t>
                    </m:r>
                    <m:d>
                      <m:dPr>
                        <m:ctrlPr>
                          <a:rPr lang="es-CR" sz="2000" i="1">
                            <a:latin typeface="Cambria Math" panose="02040503050406030204" pitchFamily="18" charset="0"/>
                          </a:rPr>
                        </m:ctrlPr>
                      </m:dPr>
                      <m:e>
                        <m:sSub>
                          <m:sSubPr>
                            <m:ctrlPr>
                              <a:rPr lang="es-CR" sz="2000" i="1">
                                <a:latin typeface="Cambria Math" panose="02040503050406030204" pitchFamily="18" charset="0"/>
                              </a:rPr>
                            </m:ctrlPr>
                          </m:sSubPr>
                          <m:e>
                            <m:r>
                              <a:rPr lang="es-CR" sz="2000" i="1">
                                <a:latin typeface="Cambria Math" panose="02040503050406030204" pitchFamily="18" charset="0"/>
                              </a:rPr>
                              <m:t>𝑌</m:t>
                            </m:r>
                          </m:e>
                          <m:sub>
                            <m:r>
                              <a:rPr lang="es-CR" sz="2000" i="1">
                                <a:latin typeface="Cambria Math" panose="02040503050406030204" pitchFamily="18" charset="0"/>
                              </a:rPr>
                              <m:t>𝑛</m:t>
                            </m:r>
                          </m:sub>
                        </m:sSub>
                      </m:e>
                    </m:d>
                    <m:r>
                      <a:rPr lang="es-CR" sz="2000" i="1">
                        <a:latin typeface="Cambria Math" panose="02040503050406030204" pitchFamily="18" charset="0"/>
                      </a:rPr>
                      <m:t>=</m:t>
                    </m:r>
                    <m:nary>
                      <m:naryPr>
                        <m:chr m:val="∑"/>
                        <m:ctrlPr>
                          <a:rPr lang="es-CR" sz="2000" i="1">
                            <a:latin typeface="Cambria Math" panose="02040503050406030204" pitchFamily="18" charset="0"/>
                          </a:rPr>
                        </m:ctrlPr>
                      </m:naryPr>
                      <m:sub>
                        <m:r>
                          <m:rPr>
                            <m:brk m:alnAt="23"/>
                          </m:rPr>
                          <a:rPr lang="es-CR" sz="2000" i="1">
                            <a:latin typeface="Cambria Math" panose="02040503050406030204" pitchFamily="18" charset="0"/>
                          </a:rPr>
                          <m:t>𝑖</m:t>
                        </m:r>
                        <m:r>
                          <a:rPr lang="es-CR" sz="2000" i="1">
                            <a:latin typeface="Cambria Math" panose="02040503050406030204" pitchFamily="18" charset="0"/>
                          </a:rPr>
                          <m:t>=1</m:t>
                        </m:r>
                      </m:sub>
                      <m:sup>
                        <m:r>
                          <a:rPr lang="es-CR" sz="2000" i="1">
                            <a:latin typeface="Cambria Math" panose="02040503050406030204" pitchFamily="18" charset="0"/>
                          </a:rPr>
                          <m:t>𝑛</m:t>
                        </m:r>
                      </m:sup>
                      <m:e>
                        <m:sSubSup>
                          <m:sSubSupPr>
                            <m:ctrlPr>
                              <a:rPr lang="es-CR" sz="2000" i="1" smtClean="0">
                                <a:latin typeface="Cambria Math" panose="02040503050406030204" pitchFamily="18" charset="0"/>
                              </a:rPr>
                            </m:ctrlPr>
                          </m:sSubSupPr>
                          <m:e>
                            <m:r>
                              <a:rPr lang="es-CR" sz="2000" i="1" smtClean="0">
                                <a:latin typeface="Cambria Math" panose="02040503050406030204" pitchFamily="18" charset="0"/>
                                <a:ea typeface="Cambria Math" panose="02040503050406030204" pitchFamily="18" charset="0"/>
                              </a:rPr>
                              <m:t>𝜎</m:t>
                            </m:r>
                          </m:e>
                          <m:sub>
                            <m:r>
                              <a:rPr lang="es-CR" sz="2000" b="0" i="1" smtClean="0">
                                <a:latin typeface="Cambria Math" panose="02040503050406030204" pitchFamily="18" charset="0"/>
                              </a:rPr>
                              <m:t>𝑖</m:t>
                            </m:r>
                          </m:sub>
                          <m:sup>
                            <m:r>
                              <a:rPr lang="es-CR" sz="2000" b="0" i="1" smtClean="0">
                                <a:latin typeface="Cambria Math" panose="02040503050406030204" pitchFamily="18" charset="0"/>
                              </a:rPr>
                              <m:t>2</m:t>
                            </m:r>
                          </m:sup>
                        </m:sSubSup>
                      </m:e>
                    </m:nary>
                  </m:oMath>
                </a14:m>
                <a:r>
                  <a:rPr lang="es-CR" sz="2000" dirty="0"/>
                  <a:t>,</a:t>
                </a:r>
              </a:p>
              <a:p>
                <a:pPr marL="0" indent="0" algn="just">
                  <a:buNone/>
                </a:pPr>
                <a:endParaRPr lang="es-CR" sz="2000" dirty="0"/>
              </a:p>
              <a:p>
                <a:pPr marL="0" indent="0" algn="just">
                  <a:buNone/>
                </a:pPr>
                <a:r>
                  <a:rPr lang="es-CR" sz="2000" dirty="0"/>
                  <a:t>Esto implica que </a:t>
                </a:r>
                <a14:m>
                  <m:oMath xmlns:m="http://schemas.openxmlformats.org/officeDocument/2006/math">
                    <m:sSub>
                      <m:sSubPr>
                        <m:ctrlPr>
                          <a:rPr lang="es-CR" sz="2000" b="0" i="1" smtClean="0">
                            <a:latin typeface="Cambria Math" panose="02040503050406030204" pitchFamily="18" charset="0"/>
                          </a:rPr>
                        </m:ctrlPr>
                      </m:sSubPr>
                      <m:e>
                        <m:acc>
                          <m:accPr>
                            <m:chr m:val="̅"/>
                            <m:ctrlPr>
                              <a:rPr lang="es-CR" sz="2000" i="1">
                                <a:latin typeface="Cambria Math" panose="02040503050406030204" pitchFamily="18" charset="0"/>
                              </a:rPr>
                            </m:ctrlPr>
                          </m:accPr>
                          <m:e>
                            <m:r>
                              <a:rPr lang="es-CR" sz="2000" i="1">
                                <a:latin typeface="Cambria Math" panose="02040503050406030204" pitchFamily="18" charset="0"/>
                              </a:rPr>
                              <m:t>𝑋</m:t>
                            </m:r>
                          </m:e>
                        </m:acc>
                      </m:e>
                      <m:sub>
                        <m:r>
                          <a:rPr lang="es-CR" sz="2000" b="0" i="1" smtClean="0">
                            <a:latin typeface="Cambria Math" panose="02040503050406030204" pitchFamily="18" charset="0"/>
                          </a:rPr>
                          <m:t>𝑛</m:t>
                        </m:r>
                      </m:sub>
                    </m:sSub>
                    <m:r>
                      <a:rPr lang="es-CR" sz="2000" i="1">
                        <a:latin typeface="Cambria Math" panose="02040503050406030204" pitchFamily="18" charset="0"/>
                      </a:rPr>
                      <m:t>=</m:t>
                    </m:r>
                    <m:f>
                      <m:fPr>
                        <m:ctrlPr>
                          <a:rPr lang="es-CR" sz="2000" i="1" smtClean="0">
                            <a:latin typeface="Cambria Math" panose="02040503050406030204" pitchFamily="18" charset="0"/>
                          </a:rPr>
                        </m:ctrlPr>
                      </m:fPr>
                      <m:num>
                        <m:r>
                          <a:rPr lang="es-CR" sz="2000" b="0" i="1" smtClean="0">
                            <a:latin typeface="Cambria Math" panose="02040503050406030204" pitchFamily="18" charset="0"/>
                          </a:rPr>
                          <m:t>1</m:t>
                        </m:r>
                      </m:num>
                      <m:den>
                        <m:r>
                          <a:rPr lang="es-CR" sz="2000" b="0" i="1" smtClean="0">
                            <a:latin typeface="Cambria Math" panose="02040503050406030204" pitchFamily="18" charset="0"/>
                          </a:rPr>
                          <m:t>𝑛</m:t>
                        </m:r>
                      </m:den>
                    </m:f>
                    <m:sSub>
                      <m:sSubPr>
                        <m:ctrlPr>
                          <a:rPr lang="es-CR" sz="2000" i="1" smtClean="0">
                            <a:latin typeface="Cambria Math" panose="02040503050406030204" pitchFamily="18" charset="0"/>
                          </a:rPr>
                        </m:ctrlPr>
                      </m:sSubPr>
                      <m:e>
                        <m:r>
                          <a:rPr lang="es-CR" sz="2000" b="0" i="1" smtClean="0">
                            <a:latin typeface="Cambria Math" panose="02040503050406030204" pitchFamily="18" charset="0"/>
                          </a:rPr>
                          <m:t>𝑌</m:t>
                        </m:r>
                      </m:e>
                      <m:sub>
                        <m:r>
                          <a:rPr lang="es-CR" sz="2000" b="0" i="1" smtClean="0">
                            <a:latin typeface="Cambria Math" panose="02040503050406030204" pitchFamily="18" charset="0"/>
                          </a:rPr>
                          <m:t>𝑛</m:t>
                        </m:r>
                      </m:sub>
                    </m:sSub>
                  </m:oMath>
                </a14:m>
                <a:r>
                  <a:rPr lang="es-CR" sz="2000" dirty="0"/>
                  <a:t> también sigue una aproximadamente una distribución normal, conforme </a:t>
                </a:r>
                <a14:m>
                  <m:oMath xmlns:m="http://schemas.openxmlformats.org/officeDocument/2006/math">
                    <m:r>
                      <a:rPr lang="es-CR" sz="2000" b="0" i="1" smtClean="0">
                        <a:latin typeface="Cambria Math" panose="02040503050406030204" pitchFamily="18" charset="0"/>
                      </a:rPr>
                      <m:t>𝑛</m:t>
                    </m:r>
                    <m:r>
                      <a:rPr lang="es-CR" sz="2000" b="0" i="1" smtClean="0">
                        <a:latin typeface="Cambria Math" panose="02040503050406030204" pitchFamily="18" charset="0"/>
                      </a:rPr>
                      <m:t> →∞</m:t>
                    </m:r>
                  </m:oMath>
                </a14:m>
                <a:r>
                  <a:rPr lang="es-CR" sz="2000" dirty="0"/>
                  <a:t>. </a:t>
                </a:r>
              </a:p>
              <a:p>
                <a:pPr marL="0" indent="0" algn="just">
                  <a:buNone/>
                </a:pPr>
                <a14:m>
                  <m:oMathPara xmlns:m="http://schemas.openxmlformats.org/officeDocument/2006/math">
                    <m:oMathParaPr>
                      <m:jc m:val="centerGroup"/>
                    </m:oMathParaPr>
                    <m:oMath xmlns:m="http://schemas.openxmlformats.org/officeDocument/2006/math">
                      <m:sSub>
                        <m:sSubPr>
                          <m:ctrlPr>
                            <a:rPr lang="es-CR" sz="2000" b="0" i="1" smtClean="0">
                              <a:latin typeface="Cambria Math" panose="02040503050406030204" pitchFamily="18" charset="0"/>
                            </a:rPr>
                          </m:ctrlPr>
                        </m:sSubPr>
                        <m:e>
                          <m:acc>
                            <m:accPr>
                              <m:chr m:val="̅"/>
                              <m:ctrlPr>
                                <a:rPr lang="es-CR" sz="2000" i="1">
                                  <a:latin typeface="Cambria Math" panose="02040503050406030204" pitchFamily="18" charset="0"/>
                                </a:rPr>
                              </m:ctrlPr>
                            </m:accPr>
                            <m:e>
                              <m:r>
                                <a:rPr lang="es-CR" sz="2000" i="1">
                                  <a:latin typeface="Cambria Math" panose="02040503050406030204" pitchFamily="18" charset="0"/>
                                </a:rPr>
                                <m:t>𝑋</m:t>
                              </m:r>
                            </m:e>
                          </m:acc>
                        </m:e>
                        <m:sub>
                          <m:r>
                            <a:rPr lang="es-CR" sz="2000" b="0" i="1" smtClean="0">
                              <a:latin typeface="Cambria Math" panose="02040503050406030204" pitchFamily="18" charset="0"/>
                            </a:rPr>
                            <m:t>𝑛</m:t>
                          </m:r>
                        </m:sub>
                      </m:sSub>
                      <m:r>
                        <a:rPr lang="es-CR" sz="2000" b="0" i="1" smtClean="0">
                          <a:latin typeface="Cambria Math" panose="02040503050406030204" pitchFamily="18" charset="0"/>
                          <a:ea typeface="Cambria Math" panose="02040503050406030204" pitchFamily="18" charset="0"/>
                        </a:rPr>
                        <m:t>∼</m:t>
                      </m:r>
                      <m:r>
                        <a:rPr lang="es-CR" sz="2000" b="0" i="1" smtClean="0">
                          <a:latin typeface="Cambria Math" panose="02040503050406030204" pitchFamily="18" charset="0"/>
                          <a:ea typeface="Cambria Math" panose="02040503050406030204" pitchFamily="18" charset="0"/>
                        </a:rPr>
                        <m:t>𝑁</m:t>
                      </m:r>
                      <m:r>
                        <a:rPr lang="es-CR" sz="2000" b="0" i="1" smtClean="0">
                          <a:latin typeface="Cambria Math" panose="02040503050406030204" pitchFamily="18" charset="0"/>
                          <a:ea typeface="Cambria Math" panose="02040503050406030204" pitchFamily="18" charset="0"/>
                        </a:rPr>
                        <m:t>(</m:t>
                      </m:r>
                      <m:r>
                        <a:rPr lang="es-CR" sz="2000" b="0" i="1" smtClean="0">
                          <a:latin typeface="Cambria Math" panose="02040503050406030204" pitchFamily="18" charset="0"/>
                          <a:ea typeface="Cambria Math" panose="02040503050406030204" pitchFamily="18" charset="0"/>
                        </a:rPr>
                        <m:t>𝜇</m:t>
                      </m:r>
                      <m:r>
                        <a:rPr lang="es-CR" sz="2000" b="0" i="1" smtClean="0">
                          <a:latin typeface="Cambria Math" panose="02040503050406030204" pitchFamily="18" charset="0"/>
                          <a:ea typeface="Cambria Math" panose="02040503050406030204" pitchFamily="18" charset="0"/>
                        </a:rPr>
                        <m:t>, </m:t>
                      </m:r>
                      <m:f>
                        <m:fPr>
                          <m:ctrlPr>
                            <a:rPr lang="es-CR" sz="2000" b="0" i="1" smtClean="0">
                              <a:latin typeface="Cambria Math" panose="02040503050406030204" pitchFamily="18" charset="0"/>
                              <a:ea typeface="Cambria Math" panose="02040503050406030204" pitchFamily="18" charset="0"/>
                            </a:rPr>
                          </m:ctrlPr>
                        </m:fPr>
                        <m:num>
                          <m:sSup>
                            <m:sSupPr>
                              <m:ctrlPr>
                                <a:rPr lang="es-CR" sz="2000" b="0" i="1" smtClean="0">
                                  <a:latin typeface="Cambria Math" panose="02040503050406030204" pitchFamily="18" charset="0"/>
                                  <a:ea typeface="Cambria Math" panose="02040503050406030204" pitchFamily="18" charset="0"/>
                                </a:rPr>
                              </m:ctrlPr>
                            </m:sSupPr>
                            <m:e>
                              <m:r>
                                <a:rPr lang="es-CR" sz="2000" b="0" i="1" smtClean="0">
                                  <a:latin typeface="Cambria Math" panose="02040503050406030204" pitchFamily="18" charset="0"/>
                                  <a:ea typeface="Cambria Math" panose="02040503050406030204" pitchFamily="18" charset="0"/>
                                </a:rPr>
                                <m:t>𝜎</m:t>
                              </m:r>
                            </m:e>
                            <m:sup>
                              <m:r>
                                <a:rPr lang="es-CR" sz="2000" b="0" i="1" smtClean="0">
                                  <a:latin typeface="Cambria Math" panose="02040503050406030204" pitchFamily="18" charset="0"/>
                                  <a:ea typeface="Cambria Math" panose="02040503050406030204" pitchFamily="18" charset="0"/>
                                </a:rPr>
                                <m:t>2</m:t>
                              </m:r>
                            </m:sup>
                          </m:sSup>
                        </m:num>
                        <m:den>
                          <m:r>
                            <a:rPr lang="es-CR" sz="2000" b="0" i="1" smtClean="0">
                              <a:latin typeface="Cambria Math" panose="02040503050406030204" pitchFamily="18" charset="0"/>
                              <a:ea typeface="Cambria Math" panose="02040503050406030204" pitchFamily="18" charset="0"/>
                            </a:rPr>
                            <m:t>𝑛</m:t>
                          </m:r>
                        </m:den>
                      </m:f>
                      <m:r>
                        <a:rPr lang="es-CR" sz="2000" b="0" i="1" smtClean="0">
                          <a:latin typeface="Cambria Math" panose="02040503050406030204" pitchFamily="18" charset="0"/>
                          <a:ea typeface="Cambria Math" panose="02040503050406030204" pitchFamily="18" charset="0"/>
                        </a:rPr>
                        <m:t>)</m:t>
                      </m:r>
                    </m:oMath>
                  </m:oMathPara>
                </a14:m>
                <a:endParaRPr lang="es-CR" sz="2000" dirty="0"/>
              </a:p>
              <a:p>
                <a:pPr marL="0" indent="0" algn="just">
                  <a:buNone/>
                </a:pPr>
                <a:endParaRPr lang="es-CR" sz="2000" dirty="0"/>
              </a:p>
              <a:p>
                <a:pPr marL="0" indent="0" algn="just">
                  <a:buNone/>
                </a:pPr>
                <a:endParaRPr lang="es-CR" sz="2000" dirty="0"/>
              </a:p>
              <a:p>
                <a:pPr marL="0" indent="0" algn="just">
                  <a:buNone/>
                </a:pPr>
                <a:endParaRPr lang="es-CR" dirty="0"/>
              </a:p>
              <a:p>
                <a:pPr marL="0" indent="0" algn="just">
                  <a:buNone/>
                </a:pPr>
                <a:endParaRPr lang="es-CR" dirty="0"/>
              </a:p>
            </p:txBody>
          </p:sp>
        </mc:Choice>
        <mc:Fallback xmlns="">
          <p:sp>
            <p:nvSpPr>
              <p:cNvPr id="3" name="Content Placeholder 2">
                <a:extLst>
                  <a:ext uri="{FF2B5EF4-FFF2-40B4-BE49-F238E27FC236}">
                    <a16:creationId xmlns:a16="http://schemas.microsoft.com/office/drawing/2014/main" id="{B6A71D74-ECC1-1433-B01A-3A94AB43D355}"/>
                  </a:ext>
                </a:extLst>
              </p:cNvPr>
              <p:cNvSpPr>
                <a:spLocks noGrp="1" noRot="1" noChangeAspect="1" noMove="1" noResize="1" noEditPoints="1" noAdjustHandles="1" noChangeArrowheads="1" noChangeShapeType="1" noTextEdit="1"/>
              </p:cNvSpPr>
              <p:nvPr>
                <p:ph sz="half" idx="1"/>
              </p:nvPr>
            </p:nvSpPr>
            <p:spPr>
              <a:xfrm>
                <a:off x="172995" y="1901952"/>
                <a:ext cx="12019005" cy="4956048"/>
              </a:xfrm>
              <a:blipFill>
                <a:blip r:embed="rId3"/>
                <a:stretch>
                  <a:fillRect l="-1166" t="-4674" r="-507"/>
                </a:stretch>
              </a:blipFill>
            </p:spPr>
            <p:txBody>
              <a:bodyPr/>
              <a:lstStyle/>
              <a:p>
                <a:r>
                  <a:rPr lang="es-CR">
                    <a:noFill/>
                  </a:rPr>
                  <a:t> </a:t>
                </a:r>
              </a:p>
            </p:txBody>
          </p:sp>
        </mc:Fallback>
      </mc:AlternateContent>
    </p:spTree>
    <p:extLst>
      <p:ext uri="{BB962C8B-B14F-4D97-AF65-F5344CB8AC3E}">
        <p14:creationId xmlns:p14="http://schemas.microsoft.com/office/powerpoint/2010/main" val="19640101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A5DD098-37FF-6041-297F-E756ACD2F3F8}"/>
              </a:ext>
            </a:extLst>
          </p:cNvPr>
          <p:cNvSpPr>
            <a:spLocks noGrp="1"/>
          </p:cNvSpPr>
          <p:nvPr>
            <p:ph type="ctrTitle"/>
          </p:nvPr>
        </p:nvSpPr>
        <p:spPr/>
        <p:txBody>
          <a:bodyPr/>
          <a:lstStyle/>
          <a:p>
            <a:r>
              <a:rPr lang="en-US" dirty="0" err="1"/>
              <a:t>Prueba</a:t>
            </a:r>
            <a:r>
              <a:rPr lang="en-US" dirty="0"/>
              <a:t> de Hip</a:t>
            </a:r>
            <a:r>
              <a:rPr lang="es-CR" dirty="0" err="1"/>
              <a:t>ótesis</a:t>
            </a:r>
            <a:endParaRPr lang="es-CR" dirty="0"/>
          </a:p>
        </p:txBody>
      </p:sp>
    </p:spTree>
    <p:extLst>
      <p:ext uri="{BB962C8B-B14F-4D97-AF65-F5344CB8AC3E}">
        <p14:creationId xmlns:p14="http://schemas.microsoft.com/office/powerpoint/2010/main" val="13785444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A09EF-A249-505D-1D67-06D49D63F30E}"/>
              </a:ext>
            </a:extLst>
          </p:cNvPr>
          <p:cNvSpPr>
            <a:spLocks noGrp="1"/>
          </p:cNvSpPr>
          <p:nvPr>
            <p:ph type="title"/>
          </p:nvPr>
        </p:nvSpPr>
        <p:spPr/>
        <p:txBody>
          <a:bodyPr/>
          <a:lstStyle/>
          <a:p>
            <a:r>
              <a:rPr lang="es-CR" dirty="0"/>
              <a:t>Definición</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1E6A48B-0628-DC4A-09BE-25DE0F7C0DFC}"/>
                  </a:ext>
                </a:extLst>
              </p:cNvPr>
              <p:cNvSpPr txBox="1"/>
              <p:nvPr/>
            </p:nvSpPr>
            <p:spPr>
              <a:xfrm>
                <a:off x="914401" y="2097024"/>
                <a:ext cx="10241280" cy="4524315"/>
              </a:xfrm>
              <a:prstGeom prst="rect">
                <a:avLst/>
              </a:prstGeom>
              <a:noFill/>
            </p:spPr>
            <p:txBody>
              <a:bodyPr wrap="square" rtlCol="0">
                <a:spAutoFit/>
              </a:bodyPr>
              <a:lstStyle/>
              <a:p>
                <a:pPr algn="just"/>
                <a:r>
                  <a:rPr lang="es-CR" sz="2400" dirty="0"/>
                  <a:t>Las pruebas de hipótesis consisten en contrastar un supuesto, con base en datos observados de una muestra. </a:t>
                </a:r>
              </a:p>
              <a:p>
                <a:pPr algn="just"/>
                <a:endParaRPr lang="es-CR" sz="2400" dirty="0"/>
              </a:p>
              <a:p>
                <a:pPr algn="just"/>
                <a:r>
                  <a:rPr lang="es-CR" sz="2400" dirty="0"/>
                  <a:t>Ejemplo: La vida útil de un bombillo eléctrico es de 60 meses con una varianza de 25 meses. Se asume que sigue una distribución normal, con </a:t>
                </a:r>
                <a14:m>
                  <m:oMath xmlns:m="http://schemas.openxmlformats.org/officeDocument/2006/math">
                    <m:r>
                      <a:rPr lang="es-CR" sz="2400" i="1" smtClean="0">
                        <a:latin typeface="Cambria Math" panose="02040503050406030204" pitchFamily="18" charset="0"/>
                        <a:ea typeface="Cambria Math" panose="02040503050406030204" pitchFamily="18" charset="0"/>
                      </a:rPr>
                      <m:t>𝜇</m:t>
                    </m:r>
                    <m:r>
                      <a:rPr lang="es-CR" sz="2400" b="0" i="1" smtClean="0">
                        <a:latin typeface="Cambria Math" panose="02040503050406030204" pitchFamily="18" charset="0"/>
                        <a:ea typeface="Cambria Math" panose="02040503050406030204" pitchFamily="18" charset="0"/>
                      </a:rPr>
                      <m:t>=60, </m:t>
                    </m:r>
                    <m:r>
                      <a:rPr lang="es-CR" sz="2400" b="0" i="1" smtClean="0">
                        <a:latin typeface="Cambria Math" panose="02040503050406030204" pitchFamily="18" charset="0"/>
                        <a:ea typeface="Cambria Math" panose="02040503050406030204" pitchFamily="18" charset="0"/>
                      </a:rPr>
                      <m:t>𝑦</m:t>
                    </m:r>
                    <m:r>
                      <a:rPr lang="es-CR" sz="2400" b="0" i="1" smtClean="0">
                        <a:latin typeface="Cambria Math" panose="02040503050406030204" pitchFamily="18" charset="0"/>
                        <a:ea typeface="Cambria Math" panose="02040503050406030204" pitchFamily="18" charset="0"/>
                      </a:rPr>
                      <m:t> </m:t>
                    </m:r>
                    <m:sSup>
                      <m:sSupPr>
                        <m:ctrlPr>
                          <a:rPr lang="es-CR" sz="2400" i="1">
                            <a:latin typeface="Cambria Math" panose="02040503050406030204" pitchFamily="18" charset="0"/>
                            <a:ea typeface="Cambria Math" panose="02040503050406030204" pitchFamily="18" charset="0"/>
                          </a:rPr>
                        </m:ctrlPr>
                      </m:sSupPr>
                      <m:e>
                        <m:r>
                          <a:rPr lang="es-CR" sz="2400" i="1" smtClean="0">
                            <a:latin typeface="Cambria Math" panose="02040503050406030204" pitchFamily="18" charset="0"/>
                            <a:ea typeface="Cambria Math" panose="02040503050406030204" pitchFamily="18" charset="0"/>
                          </a:rPr>
                          <m:t>𝜎</m:t>
                        </m:r>
                      </m:e>
                      <m:sup>
                        <m:r>
                          <a:rPr lang="es-CR" sz="2400" b="0" i="1" smtClean="0">
                            <a:latin typeface="Cambria Math" panose="02040503050406030204" pitchFamily="18" charset="0"/>
                            <a:ea typeface="Cambria Math" panose="02040503050406030204" pitchFamily="18" charset="0"/>
                          </a:rPr>
                          <m:t>2</m:t>
                        </m:r>
                      </m:sup>
                    </m:sSup>
                    <m:r>
                      <a:rPr lang="es-CR" sz="2400" b="0" i="1" smtClean="0">
                        <a:latin typeface="Cambria Math" panose="02040503050406030204" pitchFamily="18" charset="0"/>
                        <a:ea typeface="Cambria Math" panose="02040503050406030204" pitchFamily="18" charset="0"/>
                      </a:rPr>
                      <m:t>=25.</m:t>
                    </m:r>
                  </m:oMath>
                </a14:m>
                <a:r>
                  <a:rPr lang="es-CR" sz="2400" dirty="0"/>
                  <a:t> </a:t>
                </a:r>
              </a:p>
              <a:p>
                <a:pPr algn="just"/>
                <a:r>
                  <a:rPr lang="es-CR" sz="2400" dirty="0"/>
                  <a:t>Se implementan mejoras en la fabricación del dispositivo que se espera aumente la vida útil a 70 meses, y se empiezan a fabricar los dispositivos y se recopila la información.   </a:t>
                </a:r>
              </a:p>
              <a:p>
                <a:pPr algn="just"/>
                <a:r>
                  <a:rPr lang="es-CR" sz="2400" b="0" dirty="0"/>
                  <a:t>                                               </a:t>
                </a:r>
                <a14:m>
                  <m:oMath xmlns:m="http://schemas.openxmlformats.org/officeDocument/2006/math">
                    <m:r>
                      <a:rPr lang="es-CR" sz="2400" b="0" i="1" smtClean="0">
                        <a:latin typeface="Cambria Math" panose="02040503050406030204" pitchFamily="18" charset="0"/>
                      </a:rPr>
                      <m:t>𝐻𝑖𝑝</m:t>
                    </m:r>
                    <m:r>
                      <a:rPr lang="es-CR" sz="2400" b="0" i="1" smtClean="0">
                        <a:latin typeface="Cambria Math" panose="02040503050406030204" pitchFamily="18" charset="0"/>
                      </a:rPr>
                      <m:t>ó</m:t>
                    </m:r>
                    <m:r>
                      <a:rPr lang="es-CR" sz="2400" b="0" i="1" smtClean="0">
                        <a:latin typeface="Cambria Math" panose="02040503050406030204" pitchFamily="18" charset="0"/>
                      </a:rPr>
                      <m:t>𝑡𝑒𝑠𝑖𝑠</m:t>
                    </m:r>
                    <m:r>
                      <a:rPr lang="es-CR" sz="2400" b="0" i="1" smtClean="0">
                        <a:latin typeface="Cambria Math" panose="02040503050406030204" pitchFamily="18" charset="0"/>
                      </a:rPr>
                      <m:t> </m:t>
                    </m:r>
                    <m:r>
                      <a:rPr lang="es-CR" sz="2400" b="0" i="1" smtClean="0">
                        <a:latin typeface="Cambria Math" panose="02040503050406030204" pitchFamily="18" charset="0"/>
                      </a:rPr>
                      <m:t>𝑛𝑢𝑙𝑎</m:t>
                    </m:r>
                    <m:r>
                      <a:rPr lang="es-CR" sz="2400" b="0" i="1" smtClean="0">
                        <a:latin typeface="Cambria Math" panose="02040503050406030204" pitchFamily="18" charset="0"/>
                      </a:rPr>
                      <m:t> </m:t>
                    </m:r>
                    <m:r>
                      <a:rPr lang="es-CR" sz="2400" b="0" i="1" smtClean="0">
                        <a:latin typeface="Cambria Math" panose="02040503050406030204" pitchFamily="18" charset="0"/>
                      </a:rPr>
                      <m:t>𝑠𝑖𝑚𝑝𝑙𝑒</m:t>
                    </m:r>
                    <m:r>
                      <a:rPr lang="es-CR" sz="2400" b="0" i="1" smtClean="0">
                        <a:latin typeface="Cambria Math" panose="02040503050406030204" pitchFamily="18" charset="0"/>
                      </a:rPr>
                      <m:t> </m:t>
                    </m:r>
                    <m:sSub>
                      <m:sSubPr>
                        <m:ctrlPr>
                          <a:rPr lang="es-CR" sz="2400" i="1" smtClean="0">
                            <a:latin typeface="Cambria Math" panose="02040503050406030204" pitchFamily="18" charset="0"/>
                          </a:rPr>
                        </m:ctrlPr>
                      </m:sSubPr>
                      <m:e>
                        <m:r>
                          <a:rPr lang="es-CR" sz="2400" b="0" i="1" smtClean="0">
                            <a:latin typeface="Cambria Math" panose="02040503050406030204" pitchFamily="18" charset="0"/>
                          </a:rPr>
                          <m:t>𝐻</m:t>
                        </m:r>
                      </m:e>
                      <m:sub>
                        <m:r>
                          <a:rPr lang="es-CR" sz="2400" b="0" i="1" smtClean="0">
                            <a:latin typeface="Cambria Math" panose="02040503050406030204" pitchFamily="18" charset="0"/>
                          </a:rPr>
                          <m:t>0</m:t>
                        </m:r>
                      </m:sub>
                    </m:sSub>
                    <m:r>
                      <a:rPr lang="es-CR" sz="2400" b="0" i="1" smtClean="0">
                        <a:latin typeface="Cambria Math" panose="02040503050406030204" pitchFamily="18" charset="0"/>
                      </a:rPr>
                      <m:t>: </m:t>
                    </m:r>
                    <m:r>
                      <a:rPr lang="es-CR" sz="2400" b="0" i="1" smtClean="0">
                        <a:latin typeface="Cambria Math" panose="02040503050406030204" pitchFamily="18" charset="0"/>
                        <a:ea typeface="Cambria Math" panose="02040503050406030204" pitchFamily="18" charset="0"/>
                      </a:rPr>
                      <m:t>𝜇</m:t>
                    </m:r>
                    <m:r>
                      <a:rPr lang="es-CR" sz="2400" b="0" i="1" smtClean="0">
                        <a:latin typeface="Cambria Math" panose="02040503050406030204" pitchFamily="18" charset="0"/>
                        <a:ea typeface="Cambria Math" panose="02040503050406030204" pitchFamily="18" charset="0"/>
                      </a:rPr>
                      <m:t>=60</m:t>
                    </m:r>
                  </m:oMath>
                </a14:m>
                <a:endParaRPr lang="es-CR" sz="2400" dirty="0"/>
              </a:p>
              <a:p>
                <a:pPr algn="just"/>
                <a14:m>
                  <m:oMathPara xmlns:m="http://schemas.openxmlformats.org/officeDocument/2006/math">
                    <m:oMathParaPr>
                      <m:jc m:val="centerGroup"/>
                    </m:oMathParaPr>
                    <m:oMath xmlns:m="http://schemas.openxmlformats.org/officeDocument/2006/math">
                      <m:sSub>
                        <m:sSubPr>
                          <m:ctrlPr>
                            <a:rPr lang="es-CR" sz="2400" i="1" smtClean="0">
                              <a:latin typeface="Cambria Math" panose="02040503050406030204" pitchFamily="18" charset="0"/>
                            </a:rPr>
                          </m:ctrlPr>
                        </m:sSubPr>
                        <m:e>
                          <m:r>
                            <a:rPr lang="es-CR" sz="2400" b="0" i="1" smtClean="0">
                              <a:latin typeface="Cambria Math" panose="02040503050406030204" pitchFamily="18" charset="0"/>
                            </a:rPr>
                            <m:t>𝐻𝑖𝑝</m:t>
                          </m:r>
                          <m:r>
                            <a:rPr lang="es-CR" sz="2400" b="0" i="1" smtClean="0">
                              <a:latin typeface="Cambria Math" panose="02040503050406030204" pitchFamily="18" charset="0"/>
                            </a:rPr>
                            <m:t>ó</m:t>
                          </m:r>
                          <m:r>
                            <a:rPr lang="es-CR" sz="2400" b="0" i="1" smtClean="0">
                              <a:latin typeface="Cambria Math" panose="02040503050406030204" pitchFamily="18" charset="0"/>
                            </a:rPr>
                            <m:t>𝑡𝑒𝑠𝑖𝑠</m:t>
                          </m:r>
                          <m:r>
                            <a:rPr lang="es-CR" sz="2400" b="0" i="1" smtClean="0">
                              <a:latin typeface="Cambria Math" panose="02040503050406030204" pitchFamily="18" charset="0"/>
                            </a:rPr>
                            <m:t> </m:t>
                          </m:r>
                          <m:r>
                            <a:rPr lang="es-CR" sz="2400" b="0" i="1" smtClean="0">
                              <a:latin typeface="Cambria Math" panose="02040503050406030204" pitchFamily="18" charset="0"/>
                            </a:rPr>
                            <m:t>𝑎𝑙𝑡𝑒𝑟𝑛𝑎𝑡𝑖𝑣𝑎</m:t>
                          </m:r>
                          <m:r>
                            <a:rPr lang="es-CR" sz="2400" b="0" i="1" smtClean="0">
                              <a:latin typeface="Cambria Math" panose="02040503050406030204" pitchFamily="18" charset="0"/>
                            </a:rPr>
                            <m:t> </m:t>
                          </m:r>
                          <m:r>
                            <a:rPr lang="es-CR" sz="2400" b="0" i="1" smtClean="0">
                              <a:latin typeface="Cambria Math" panose="02040503050406030204" pitchFamily="18" charset="0"/>
                            </a:rPr>
                            <m:t>𝑠𝑖𝑚𝑝𝑙𝑒</m:t>
                          </m:r>
                          <m:r>
                            <a:rPr lang="es-CR" sz="2400" b="0" i="1" smtClean="0">
                              <a:latin typeface="Cambria Math" panose="02040503050406030204" pitchFamily="18" charset="0"/>
                            </a:rPr>
                            <m:t> </m:t>
                          </m:r>
                          <m:r>
                            <a:rPr lang="es-CR" sz="2400" b="0" i="1" smtClean="0">
                              <a:latin typeface="Cambria Math" panose="02040503050406030204" pitchFamily="18" charset="0"/>
                            </a:rPr>
                            <m:t>𝐻</m:t>
                          </m:r>
                        </m:e>
                        <m:sub>
                          <m:r>
                            <a:rPr lang="es-CR" sz="2400" b="0" i="1" smtClean="0">
                              <a:latin typeface="Cambria Math" panose="02040503050406030204" pitchFamily="18" charset="0"/>
                            </a:rPr>
                            <m:t>1</m:t>
                          </m:r>
                        </m:sub>
                      </m:sSub>
                      <m:r>
                        <a:rPr lang="es-CR" sz="2400" b="0" i="1" smtClean="0">
                          <a:latin typeface="Cambria Math" panose="02040503050406030204" pitchFamily="18" charset="0"/>
                        </a:rPr>
                        <m:t>: </m:t>
                      </m:r>
                      <m:r>
                        <a:rPr lang="es-CR" sz="2400" b="0" i="1" smtClean="0">
                          <a:latin typeface="Cambria Math" panose="02040503050406030204" pitchFamily="18" charset="0"/>
                          <a:ea typeface="Cambria Math" panose="02040503050406030204" pitchFamily="18" charset="0"/>
                        </a:rPr>
                        <m:t>𝜇</m:t>
                      </m:r>
                      <m:r>
                        <a:rPr lang="es-CR" sz="2400" b="0" i="1" smtClean="0">
                          <a:latin typeface="Cambria Math" panose="02040503050406030204" pitchFamily="18" charset="0"/>
                          <a:ea typeface="Cambria Math" panose="02040503050406030204" pitchFamily="18" charset="0"/>
                        </a:rPr>
                        <m:t>=70</m:t>
                      </m:r>
                    </m:oMath>
                  </m:oMathPara>
                </a14:m>
                <a:endParaRPr lang="es-CR" sz="2400" b="0" dirty="0">
                  <a:ea typeface="Cambria Math" panose="02040503050406030204" pitchFamily="18" charset="0"/>
                </a:endParaRPr>
              </a:p>
              <a:p>
                <a:pPr algn="just"/>
                <a:endParaRPr lang="es-CR" sz="2400" dirty="0"/>
              </a:p>
              <a:p>
                <a:pPr algn="just"/>
                <a:endParaRPr lang="es-CR" sz="2400" dirty="0"/>
              </a:p>
            </p:txBody>
          </p:sp>
        </mc:Choice>
        <mc:Fallback xmlns="">
          <p:sp>
            <p:nvSpPr>
              <p:cNvPr id="4" name="TextBox 3">
                <a:extLst>
                  <a:ext uri="{FF2B5EF4-FFF2-40B4-BE49-F238E27FC236}">
                    <a16:creationId xmlns:a16="http://schemas.microsoft.com/office/drawing/2014/main" id="{91E6A48B-0628-DC4A-09BE-25DE0F7C0DFC}"/>
                  </a:ext>
                </a:extLst>
              </p:cNvPr>
              <p:cNvSpPr txBox="1">
                <a:spLocks noRot="1" noChangeAspect="1" noMove="1" noResize="1" noEditPoints="1" noAdjustHandles="1" noChangeArrowheads="1" noChangeShapeType="1" noTextEdit="1"/>
              </p:cNvSpPr>
              <p:nvPr/>
            </p:nvSpPr>
            <p:spPr>
              <a:xfrm>
                <a:off x="914401" y="2097024"/>
                <a:ext cx="10241280" cy="4524315"/>
              </a:xfrm>
              <a:prstGeom prst="rect">
                <a:avLst/>
              </a:prstGeom>
              <a:blipFill>
                <a:blip r:embed="rId2"/>
                <a:stretch>
                  <a:fillRect l="-893" t="-1078" r="-893"/>
                </a:stretch>
              </a:blipFill>
            </p:spPr>
            <p:txBody>
              <a:bodyPr/>
              <a:lstStyle/>
              <a:p>
                <a:r>
                  <a:rPr lang="es-CR">
                    <a:noFill/>
                  </a:rPr>
                  <a:t> </a:t>
                </a:r>
              </a:p>
            </p:txBody>
          </p:sp>
        </mc:Fallback>
      </mc:AlternateContent>
    </p:spTree>
    <p:extLst>
      <p:ext uri="{BB962C8B-B14F-4D97-AF65-F5344CB8AC3E}">
        <p14:creationId xmlns:p14="http://schemas.microsoft.com/office/powerpoint/2010/main" val="13186414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D6627-174B-E706-968E-DBB9945A0919}"/>
              </a:ext>
            </a:extLst>
          </p:cNvPr>
          <p:cNvSpPr>
            <a:spLocks noGrp="1"/>
          </p:cNvSpPr>
          <p:nvPr>
            <p:ph type="title"/>
          </p:nvPr>
        </p:nvSpPr>
        <p:spPr/>
        <p:txBody>
          <a:bodyPr/>
          <a:lstStyle/>
          <a:p>
            <a:r>
              <a:rPr lang="es-CR" dirty="0"/>
              <a:t>Siguiendo con el ejemplo…</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E9C594E-4EB7-771F-55E7-E68912B93E2C}"/>
                  </a:ext>
                </a:extLst>
              </p:cNvPr>
              <p:cNvSpPr txBox="1"/>
              <p:nvPr/>
            </p:nvSpPr>
            <p:spPr>
              <a:xfrm>
                <a:off x="914401" y="2097024"/>
                <a:ext cx="10241280" cy="3416320"/>
              </a:xfrm>
              <a:prstGeom prst="rect">
                <a:avLst/>
              </a:prstGeom>
              <a:noFill/>
            </p:spPr>
            <p:txBody>
              <a:bodyPr wrap="square" rtlCol="0">
                <a:spAutoFit/>
              </a:bodyPr>
              <a:lstStyle/>
              <a:p>
                <a:pPr algn="just"/>
                <a:r>
                  <a:rPr lang="es-CR" sz="2400" dirty="0"/>
                  <a:t>Para probar la hipótesis se tiene que definir una regla basada en la nueva vida útil de los bombillos (que corresponde a una nueva distribución), por tanto, se divide el espacio muestral en dos partes, C y C</a:t>
                </a:r>
                <a:r>
                  <a:rPr lang="en-US" sz="2400" dirty="0"/>
                  <a:t>’, </a:t>
                </a:r>
                <a:r>
                  <a:rPr lang="en-US" sz="2400" dirty="0" err="1"/>
                  <a:t>en</a:t>
                </a:r>
                <a:r>
                  <a:rPr lang="en-US" sz="2400" dirty="0"/>
                  <a:t> </a:t>
                </a:r>
                <a:r>
                  <a:rPr lang="en-US" sz="2400" dirty="0" err="1"/>
                  <a:t>donde</a:t>
                </a:r>
                <a:r>
                  <a:rPr lang="es-CR" sz="2400" dirty="0"/>
                  <a:t>:</a:t>
                </a:r>
              </a:p>
              <a:p>
                <a:pPr marL="342900" indent="-342900" algn="just">
                  <a:buFontTx/>
                  <a:buChar char="-"/>
                </a:pPr>
                <a:r>
                  <a:rPr lang="es-CR" sz="2400" dirty="0"/>
                  <a:t>Si </a:t>
                </a:r>
                <a14:m>
                  <m:oMath xmlns:m="http://schemas.openxmlformats.org/officeDocument/2006/math">
                    <m:d>
                      <m:dPr>
                        <m:ctrlPr>
                          <a:rPr lang="es-CR" sz="2400" b="0" i="1" smtClean="0">
                            <a:latin typeface="Cambria Math" panose="02040503050406030204" pitchFamily="18" charset="0"/>
                          </a:rPr>
                        </m:ctrlPr>
                      </m:dPr>
                      <m:e>
                        <m:sSub>
                          <m:sSubPr>
                            <m:ctrlPr>
                              <a:rPr lang="es-CR" sz="2400" b="0" i="1" smtClean="0">
                                <a:latin typeface="Cambria Math" panose="02040503050406030204" pitchFamily="18" charset="0"/>
                              </a:rPr>
                            </m:ctrlPr>
                          </m:sSubPr>
                          <m:e>
                            <m:r>
                              <a:rPr lang="es-CR" sz="2400" b="0" i="1" smtClean="0">
                                <a:latin typeface="Cambria Math" panose="02040503050406030204" pitchFamily="18" charset="0"/>
                              </a:rPr>
                              <m:t>𝑥</m:t>
                            </m:r>
                          </m:e>
                          <m:sub>
                            <m:r>
                              <a:rPr lang="es-CR" sz="2400" b="0" i="1" smtClean="0">
                                <a:latin typeface="Cambria Math" panose="02040503050406030204" pitchFamily="18" charset="0"/>
                              </a:rPr>
                              <m:t>1</m:t>
                            </m:r>
                          </m:sub>
                        </m:sSub>
                        <m:r>
                          <a:rPr lang="es-CR" sz="2400" b="0" i="1" smtClean="0">
                            <a:latin typeface="Cambria Math" panose="02040503050406030204" pitchFamily="18" charset="0"/>
                          </a:rPr>
                          <m:t>,</m:t>
                        </m:r>
                        <m:sSub>
                          <m:sSubPr>
                            <m:ctrlPr>
                              <a:rPr lang="es-CR" sz="2400" i="1">
                                <a:latin typeface="Cambria Math" panose="02040503050406030204" pitchFamily="18" charset="0"/>
                              </a:rPr>
                            </m:ctrlPr>
                          </m:sSubPr>
                          <m:e>
                            <m:r>
                              <a:rPr lang="es-CR" sz="2400" i="1">
                                <a:latin typeface="Cambria Math" panose="02040503050406030204" pitchFamily="18" charset="0"/>
                              </a:rPr>
                              <m:t>𝑥</m:t>
                            </m:r>
                          </m:e>
                          <m:sub>
                            <m:r>
                              <a:rPr lang="es-CR" sz="2400" b="0" i="1" smtClean="0">
                                <a:latin typeface="Cambria Math" panose="02040503050406030204" pitchFamily="18" charset="0"/>
                              </a:rPr>
                              <m:t>2</m:t>
                            </m:r>
                          </m:sub>
                        </m:sSub>
                        <m:r>
                          <a:rPr lang="es-CR" sz="2400" b="0" i="1" smtClean="0">
                            <a:latin typeface="Cambria Math" panose="02040503050406030204" pitchFamily="18" charset="0"/>
                          </a:rPr>
                          <m:t>, …,</m:t>
                        </m:r>
                        <m:sSub>
                          <m:sSubPr>
                            <m:ctrlPr>
                              <a:rPr lang="es-CR" sz="2400" i="1">
                                <a:latin typeface="Cambria Math" panose="02040503050406030204" pitchFamily="18" charset="0"/>
                              </a:rPr>
                            </m:ctrlPr>
                          </m:sSubPr>
                          <m:e>
                            <m:r>
                              <a:rPr lang="es-CR" sz="2400" i="1">
                                <a:latin typeface="Cambria Math" panose="02040503050406030204" pitchFamily="18" charset="0"/>
                              </a:rPr>
                              <m:t>𝑥</m:t>
                            </m:r>
                          </m:e>
                          <m:sub>
                            <m:r>
                              <a:rPr lang="es-CR" sz="2400" b="0" i="1" smtClean="0">
                                <a:latin typeface="Cambria Math" panose="02040503050406030204" pitchFamily="18" charset="0"/>
                              </a:rPr>
                              <m:t>𝑛</m:t>
                            </m:r>
                          </m:sub>
                        </m:sSub>
                      </m:e>
                    </m:d>
                    <m:r>
                      <a:rPr lang="es-CR" sz="2400" b="0" i="1" smtClean="0">
                        <a:latin typeface="Cambria Math" panose="02040503050406030204" pitchFamily="18" charset="0"/>
                        <a:ea typeface="Cambria Math" panose="02040503050406030204" pitchFamily="18" charset="0"/>
                      </a:rPr>
                      <m:t>∈</m:t>
                    </m:r>
                    <m:r>
                      <a:rPr lang="es-CR" sz="2400" b="0" i="1" smtClean="0">
                        <a:latin typeface="Cambria Math" panose="02040503050406030204" pitchFamily="18" charset="0"/>
                      </a:rPr>
                      <m:t>𝐶</m:t>
                    </m:r>
                    <m:r>
                      <a:rPr lang="es-CR" sz="2400" b="0" i="1" smtClean="0">
                        <a:latin typeface="Cambria Math" panose="02040503050406030204" pitchFamily="18" charset="0"/>
                      </a:rPr>
                      <m:t>, </m:t>
                    </m:r>
                    <m:r>
                      <a:rPr lang="es-CR" sz="2400" b="0" i="1" smtClean="0">
                        <a:latin typeface="Cambria Math" panose="02040503050406030204" pitchFamily="18" charset="0"/>
                      </a:rPr>
                      <m:t>𝑠𝑒</m:t>
                    </m:r>
                    <m:r>
                      <a:rPr lang="es-CR" sz="2400" b="0" i="1" smtClean="0">
                        <a:latin typeface="Cambria Math" panose="02040503050406030204" pitchFamily="18" charset="0"/>
                      </a:rPr>
                      <m:t> </m:t>
                    </m:r>
                    <m:r>
                      <a:rPr lang="es-CR" sz="2400" b="0" i="1" smtClean="0">
                        <a:latin typeface="Cambria Math" panose="02040503050406030204" pitchFamily="18" charset="0"/>
                      </a:rPr>
                      <m:t>𝑟𝑒𝑐h𝑎𝑧𝑎</m:t>
                    </m:r>
                    <m:r>
                      <a:rPr lang="es-CR" sz="2400" b="0" i="1" smtClean="0">
                        <a:latin typeface="Cambria Math" panose="02040503050406030204" pitchFamily="18" charset="0"/>
                      </a:rPr>
                      <m:t> </m:t>
                    </m:r>
                    <m:sSub>
                      <m:sSubPr>
                        <m:ctrlPr>
                          <a:rPr lang="es-CR" sz="2400" b="0" i="1" smtClean="0">
                            <a:latin typeface="Cambria Math" panose="02040503050406030204" pitchFamily="18" charset="0"/>
                          </a:rPr>
                        </m:ctrlPr>
                      </m:sSubPr>
                      <m:e>
                        <m:r>
                          <a:rPr lang="es-CR" sz="2400" b="0" i="1" smtClean="0">
                            <a:latin typeface="Cambria Math" panose="02040503050406030204" pitchFamily="18" charset="0"/>
                          </a:rPr>
                          <m:t>𝐻</m:t>
                        </m:r>
                      </m:e>
                      <m:sub>
                        <m:r>
                          <a:rPr lang="es-CR" sz="2400" b="0" i="1" smtClean="0">
                            <a:latin typeface="Cambria Math" panose="02040503050406030204" pitchFamily="18" charset="0"/>
                          </a:rPr>
                          <m:t>0</m:t>
                        </m:r>
                      </m:sub>
                    </m:sSub>
                  </m:oMath>
                </a14:m>
                <a:endParaRPr lang="es-CR" sz="2400" dirty="0"/>
              </a:p>
              <a:p>
                <a:pPr marL="342900" indent="-342900" algn="just">
                  <a:buFontTx/>
                  <a:buChar char="-"/>
                </a:pPr>
                <a:r>
                  <a:rPr lang="es-CR" sz="2400" dirty="0"/>
                  <a:t>Si </a:t>
                </a:r>
                <a14:m>
                  <m:oMath xmlns:m="http://schemas.openxmlformats.org/officeDocument/2006/math">
                    <m:d>
                      <m:dPr>
                        <m:ctrlPr>
                          <a:rPr lang="es-CR" sz="2400" b="0" i="1" smtClean="0">
                            <a:latin typeface="Cambria Math" panose="02040503050406030204" pitchFamily="18" charset="0"/>
                          </a:rPr>
                        </m:ctrlPr>
                      </m:dPr>
                      <m:e>
                        <m:sSub>
                          <m:sSubPr>
                            <m:ctrlPr>
                              <a:rPr lang="es-CR" sz="2400" b="0" i="1" smtClean="0">
                                <a:latin typeface="Cambria Math" panose="02040503050406030204" pitchFamily="18" charset="0"/>
                              </a:rPr>
                            </m:ctrlPr>
                          </m:sSubPr>
                          <m:e>
                            <m:r>
                              <a:rPr lang="es-CR" sz="2400" b="0" i="1" smtClean="0">
                                <a:latin typeface="Cambria Math" panose="02040503050406030204" pitchFamily="18" charset="0"/>
                              </a:rPr>
                              <m:t>𝑥</m:t>
                            </m:r>
                          </m:e>
                          <m:sub>
                            <m:r>
                              <a:rPr lang="es-CR" sz="2400" b="0" i="1" smtClean="0">
                                <a:latin typeface="Cambria Math" panose="02040503050406030204" pitchFamily="18" charset="0"/>
                              </a:rPr>
                              <m:t>1</m:t>
                            </m:r>
                          </m:sub>
                        </m:sSub>
                        <m:r>
                          <a:rPr lang="es-CR" sz="2400" b="0" i="1" smtClean="0">
                            <a:latin typeface="Cambria Math" panose="02040503050406030204" pitchFamily="18" charset="0"/>
                          </a:rPr>
                          <m:t>,</m:t>
                        </m:r>
                        <m:sSub>
                          <m:sSubPr>
                            <m:ctrlPr>
                              <a:rPr lang="es-CR" sz="2400" i="1">
                                <a:latin typeface="Cambria Math" panose="02040503050406030204" pitchFamily="18" charset="0"/>
                              </a:rPr>
                            </m:ctrlPr>
                          </m:sSubPr>
                          <m:e>
                            <m:r>
                              <a:rPr lang="es-CR" sz="2400" i="1">
                                <a:latin typeface="Cambria Math" panose="02040503050406030204" pitchFamily="18" charset="0"/>
                              </a:rPr>
                              <m:t>𝑥</m:t>
                            </m:r>
                          </m:e>
                          <m:sub>
                            <m:r>
                              <a:rPr lang="es-CR" sz="2400" b="0" i="1" smtClean="0">
                                <a:latin typeface="Cambria Math" panose="02040503050406030204" pitchFamily="18" charset="0"/>
                              </a:rPr>
                              <m:t>2</m:t>
                            </m:r>
                          </m:sub>
                        </m:sSub>
                        <m:r>
                          <a:rPr lang="es-CR" sz="2400" b="0" i="1" smtClean="0">
                            <a:latin typeface="Cambria Math" panose="02040503050406030204" pitchFamily="18" charset="0"/>
                          </a:rPr>
                          <m:t>, …,</m:t>
                        </m:r>
                        <m:sSub>
                          <m:sSubPr>
                            <m:ctrlPr>
                              <a:rPr lang="es-CR" sz="2400" i="1">
                                <a:latin typeface="Cambria Math" panose="02040503050406030204" pitchFamily="18" charset="0"/>
                              </a:rPr>
                            </m:ctrlPr>
                          </m:sSubPr>
                          <m:e>
                            <m:r>
                              <a:rPr lang="es-CR" sz="2400" i="1">
                                <a:latin typeface="Cambria Math" panose="02040503050406030204" pitchFamily="18" charset="0"/>
                              </a:rPr>
                              <m:t>𝑥</m:t>
                            </m:r>
                          </m:e>
                          <m:sub>
                            <m:r>
                              <a:rPr lang="es-CR" sz="2400" b="0" i="1" smtClean="0">
                                <a:latin typeface="Cambria Math" panose="02040503050406030204" pitchFamily="18" charset="0"/>
                              </a:rPr>
                              <m:t>𝑛</m:t>
                            </m:r>
                          </m:sub>
                        </m:sSub>
                      </m:e>
                    </m:d>
                    <m:r>
                      <a:rPr lang="es-CR" sz="2400" b="0" i="1" smtClean="0">
                        <a:latin typeface="Cambria Math" panose="02040503050406030204" pitchFamily="18" charset="0"/>
                        <a:ea typeface="Cambria Math" panose="02040503050406030204" pitchFamily="18" charset="0"/>
                      </a:rPr>
                      <m:t>∈</m:t>
                    </m:r>
                    <m:sSup>
                      <m:sSupPr>
                        <m:ctrlPr>
                          <a:rPr lang="es-CR" sz="2400" b="0" i="1" smtClean="0">
                            <a:latin typeface="Cambria Math" panose="02040503050406030204" pitchFamily="18" charset="0"/>
                          </a:rPr>
                        </m:ctrlPr>
                      </m:sSupPr>
                      <m:e>
                        <m:r>
                          <a:rPr lang="es-CR" sz="2400" b="0" i="1" smtClean="0">
                            <a:latin typeface="Cambria Math" panose="02040503050406030204" pitchFamily="18" charset="0"/>
                          </a:rPr>
                          <m:t>𝐶</m:t>
                        </m:r>
                      </m:e>
                      <m:sup>
                        <m:r>
                          <a:rPr lang="es-CR" sz="2400" b="0" i="1" smtClean="0">
                            <a:latin typeface="Cambria Math" panose="02040503050406030204" pitchFamily="18" charset="0"/>
                          </a:rPr>
                          <m:t>′</m:t>
                        </m:r>
                      </m:sup>
                    </m:sSup>
                    <m:r>
                      <a:rPr lang="es-CR" sz="2400" b="0" i="1" smtClean="0">
                        <a:latin typeface="Cambria Math" panose="02040503050406030204" pitchFamily="18" charset="0"/>
                      </a:rPr>
                      <m:t>,  </m:t>
                    </m:r>
                    <m:r>
                      <a:rPr lang="es-CR" sz="2400" b="0" i="1" smtClean="0">
                        <a:latin typeface="Cambria Math" panose="02040503050406030204" pitchFamily="18" charset="0"/>
                      </a:rPr>
                      <m:t>𝑛𝑜</m:t>
                    </m:r>
                    <m:r>
                      <a:rPr lang="es-CR" sz="2400" b="0" i="1" smtClean="0">
                        <a:latin typeface="Cambria Math" panose="02040503050406030204" pitchFamily="18" charset="0"/>
                      </a:rPr>
                      <m:t> </m:t>
                    </m:r>
                    <m:r>
                      <a:rPr lang="es-CR" sz="2400" b="0" i="1" smtClean="0">
                        <a:latin typeface="Cambria Math" panose="02040503050406030204" pitchFamily="18" charset="0"/>
                      </a:rPr>
                      <m:t>𝑠𝑒</m:t>
                    </m:r>
                    <m:r>
                      <a:rPr lang="es-CR" sz="2400" b="0" i="1" smtClean="0">
                        <a:latin typeface="Cambria Math" panose="02040503050406030204" pitchFamily="18" charset="0"/>
                      </a:rPr>
                      <m:t> </m:t>
                    </m:r>
                    <m:r>
                      <a:rPr lang="es-CR" sz="2400" b="0" i="1" smtClean="0">
                        <a:latin typeface="Cambria Math" panose="02040503050406030204" pitchFamily="18" charset="0"/>
                      </a:rPr>
                      <m:t>𝑟𝑒𝑐h𝑎𝑧𝑎</m:t>
                    </m:r>
                    <m:r>
                      <a:rPr lang="es-CR" sz="2400" b="0" i="1" smtClean="0">
                        <a:latin typeface="Cambria Math" panose="02040503050406030204" pitchFamily="18" charset="0"/>
                      </a:rPr>
                      <m:t> </m:t>
                    </m:r>
                    <m:sSub>
                      <m:sSubPr>
                        <m:ctrlPr>
                          <a:rPr lang="es-CR" sz="2400" b="0" i="1" smtClean="0">
                            <a:latin typeface="Cambria Math" panose="02040503050406030204" pitchFamily="18" charset="0"/>
                          </a:rPr>
                        </m:ctrlPr>
                      </m:sSubPr>
                      <m:e>
                        <m:r>
                          <a:rPr lang="es-CR" sz="2400" b="0" i="1" smtClean="0">
                            <a:latin typeface="Cambria Math" panose="02040503050406030204" pitchFamily="18" charset="0"/>
                          </a:rPr>
                          <m:t>𝐻</m:t>
                        </m:r>
                      </m:e>
                      <m:sub>
                        <m:r>
                          <a:rPr lang="es-CR" sz="2400" b="0" i="1" smtClean="0">
                            <a:latin typeface="Cambria Math" panose="02040503050406030204" pitchFamily="18" charset="0"/>
                          </a:rPr>
                          <m:t>0</m:t>
                        </m:r>
                      </m:sub>
                    </m:sSub>
                  </m:oMath>
                </a14:m>
                <a:endParaRPr lang="es-CR" sz="2400" b="0" dirty="0"/>
              </a:p>
              <a:p>
                <a:pPr algn="just"/>
                <a:endParaRPr lang="es-CR" sz="2400" dirty="0"/>
              </a:p>
              <a:p>
                <a:pPr algn="just"/>
                <a:r>
                  <a:rPr lang="es-CR" sz="2400" dirty="0"/>
                  <a:t>Por tanto </a:t>
                </a:r>
                <a:r>
                  <a:rPr lang="es-CR" sz="2400" b="1" i="1" dirty="0"/>
                  <a:t>C</a:t>
                </a:r>
                <a:r>
                  <a:rPr lang="es-CR" sz="2400" dirty="0"/>
                  <a:t> corresponde a la región crítica de la prueba</a:t>
                </a:r>
              </a:p>
              <a:p>
                <a:pPr marL="342900" indent="-342900" algn="just">
                  <a:buFontTx/>
                  <a:buChar char="-"/>
                </a:pPr>
                <a:endParaRPr lang="es-CR" sz="2400" dirty="0"/>
              </a:p>
              <a:p>
                <a:pPr algn="just"/>
                <a:endParaRPr lang="es-CR" sz="2400" dirty="0"/>
              </a:p>
            </p:txBody>
          </p:sp>
        </mc:Choice>
        <mc:Fallback xmlns="">
          <p:sp>
            <p:nvSpPr>
              <p:cNvPr id="3" name="TextBox 2">
                <a:extLst>
                  <a:ext uri="{FF2B5EF4-FFF2-40B4-BE49-F238E27FC236}">
                    <a16:creationId xmlns:a16="http://schemas.microsoft.com/office/drawing/2014/main" id="{EE9C594E-4EB7-771F-55E7-E68912B93E2C}"/>
                  </a:ext>
                </a:extLst>
              </p:cNvPr>
              <p:cNvSpPr txBox="1">
                <a:spLocks noRot="1" noChangeAspect="1" noMove="1" noResize="1" noEditPoints="1" noAdjustHandles="1" noChangeArrowheads="1" noChangeShapeType="1" noTextEdit="1"/>
              </p:cNvSpPr>
              <p:nvPr/>
            </p:nvSpPr>
            <p:spPr>
              <a:xfrm>
                <a:off x="914401" y="2097024"/>
                <a:ext cx="10241280" cy="3416320"/>
              </a:xfrm>
              <a:prstGeom prst="rect">
                <a:avLst/>
              </a:prstGeom>
              <a:blipFill>
                <a:blip r:embed="rId2"/>
                <a:stretch>
                  <a:fillRect l="-952" t="-1429" r="-893"/>
                </a:stretch>
              </a:blipFill>
            </p:spPr>
            <p:txBody>
              <a:bodyPr/>
              <a:lstStyle/>
              <a:p>
                <a:r>
                  <a:rPr lang="es-CR">
                    <a:noFill/>
                  </a:rPr>
                  <a:t> </a:t>
                </a:r>
              </a:p>
            </p:txBody>
          </p:sp>
        </mc:Fallback>
      </mc:AlternateContent>
    </p:spTree>
    <p:extLst>
      <p:ext uri="{BB962C8B-B14F-4D97-AF65-F5344CB8AC3E}">
        <p14:creationId xmlns:p14="http://schemas.microsoft.com/office/powerpoint/2010/main" val="22697919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B9403-50B0-4E6E-94FA-3860B9733E62}"/>
              </a:ext>
            </a:extLst>
          </p:cNvPr>
          <p:cNvSpPr>
            <a:spLocks noGrp="1"/>
          </p:cNvSpPr>
          <p:nvPr>
            <p:ph type="title"/>
          </p:nvPr>
        </p:nvSpPr>
        <p:spPr/>
        <p:txBody>
          <a:bodyPr/>
          <a:lstStyle/>
          <a:p>
            <a:r>
              <a:rPr lang="es-CR" dirty="0"/>
              <a:t>Error tipo I y error tipo II</a:t>
            </a: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7FF359F7-2952-8284-BB23-715DD7F88F68}"/>
                  </a:ext>
                </a:extLst>
              </p:cNvPr>
              <p:cNvGraphicFramePr>
                <a:graphicFrameLocks noGrp="1"/>
              </p:cNvGraphicFramePr>
              <p:nvPr>
                <p:extLst>
                  <p:ext uri="{D42A27DB-BD31-4B8C-83A1-F6EECF244321}">
                    <p14:modId xmlns:p14="http://schemas.microsoft.com/office/powerpoint/2010/main" val="1618608721"/>
                  </p:ext>
                </p:extLst>
              </p:nvPr>
            </p:nvGraphicFramePr>
            <p:xfrm>
              <a:off x="1670304" y="2036064"/>
              <a:ext cx="8148319" cy="2121408"/>
            </p:xfrm>
            <a:graphic>
              <a:graphicData uri="http://schemas.openxmlformats.org/drawingml/2006/table">
                <a:tbl>
                  <a:tblPr firstRow="1">
                    <a:tableStyleId>{8799B23B-EC83-4686-B30A-512413B5E67A}</a:tableStyleId>
                  </a:tblPr>
                  <a:tblGrid>
                    <a:gridCol w="2729653">
                      <a:extLst>
                        <a:ext uri="{9D8B030D-6E8A-4147-A177-3AD203B41FA5}">
                          <a16:colId xmlns:a16="http://schemas.microsoft.com/office/drawing/2014/main" val="2541576496"/>
                        </a:ext>
                      </a:extLst>
                    </a:gridCol>
                    <a:gridCol w="2709333">
                      <a:extLst>
                        <a:ext uri="{9D8B030D-6E8A-4147-A177-3AD203B41FA5}">
                          <a16:colId xmlns:a16="http://schemas.microsoft.com/office/drawing/2014/main" val="2945829690"/>
                        </a:ext>
                      </a:extLst>
                    </a:gridCol>
                    <a:gridCol w="2709333">
                      <a:extLst>
                        <a:ext uri="{9D8B030D-6E8A-4147-A177-3AD203B41FA5}">
                          <a16:colId xmlns:a16="http://schemas.microsoft.com/office/drawing/2014/main" val="1491324886"/>
                        </a:ext>
                      </a:extLst>
                    </a:gridCol>
                  </a:tblGrid>
                  <a:tr h="707136">
                    <a:tc>
                      <a:txBody>
                        <a:bodyPr/>
                        <a:lstStyle/>
                        <a:p>
                          <a:endParaRPr lang="es-CR" dirty="0"/>
                        </a:p>
                      </a:txBody>
                      <a:tcPr/>
                    </a:tc>
                    <a:tc>
                      <a:txBody>
                        <a:bodyPr/>
                        <a:lstStyle/>
                        <a:p>
                          <a:pPr algn="ctr"/>
                          <a14:m>
                            <m:oMath xmlns:m="http://schemas.openxmlformats.org/officeDocument/2006/math">
                              <m:sSub>
                                <m:sSubPr>
                                  <m:ctrlPr>
                                    <a:rPr lang="es-CR" sz="2800" b="1" i="1" dirty="0" smtClean="0">
                                      <a:latin typeface="Cambria Math" panose="02040503050406030204" pitchFamily="18" charset="0"/>
                                    </a:rPr>
                                  </m:ctrlPr>
                                </m:sSubPr>
                                <m:e>
                                  <m:r>
                                    <a:rPr lang="es-CR" sz="2800" b="1" i="1" dirty="0" smtClean="0">
                                      <a:latin typeface="Cambria Math" panose="02040503050406030204" pitchFamily="18" charset="0"/>
                                    </a:rPr>
                                    <m:t>𝑯</m:t>
                                  </m:r>
                                </m:e>
                                <m:sub>
                                  <m:r>
                                    <a:rPr lang="es-CR" sz="2800" b="1" i="1" dirty="0" smtClean="0">
                                      <a:latin typeface="Cambria Math" panose="02040503050406030204" pitchFamily="18" charset="0"/>
                                    </a:rPr>
                                    <m:t>𝟎</m:t>
                                  </m:r>
                                </m:sub>
                              </m:sSub>
                            </m:oMath>
                          </a14:m>
                          <a:r>
                            <a:rPr lang="es-CR" sz="2800" dirty="0"/>
                            <a:t> Es verdadera </a:t>
                          </a:r>
                        </a:p>
                      </a:txBody>
                      <a:tcPr anchor="ctr"/>
                    </a:tc>
                    <a:tc>
                      <a:txBody>
                        <a:bodyPr/>
                        <a:lstStyle/>
                        <a:p>
                          <a:pPr algn="ctr"/>
                          <a14:m>
                            <m:oMath xmlns:m="http://schemas.openxmlformats.org/officeDocument/2006/math">
                              <m:sSub>
                                <m:sSubPr>
                                  <m:ctrlPr>
                                    <a:rPr lang="es-CR" sz="2800" b="1" i="1" dirty="0" smtClean="0">
                                      <a:latin typeface="Cambria Math" panose="02040503050406030204" pitchFamily="18" charset="0"/>
                                    </a:rPr>
                                  </m:ctrlPr>
                                </m:sSubPr>
                                <m:e>
                                  <m:r>
                                    <a:rPr lang="es-CR" sz="2800" b="1" i="1" dirty="0" smtClean="0">
                                      <a:latin typeface="Cambria Math" panose="02040503050406030204" pitchFamily="18" charset="0"/>
                                    </a:rPr>
                                    <m:t>𝑯</m:t>
                                  </m:r>
                                </m:e>
                                <m:sub>
                                  <m:r>
                                    <a:rPr lang="es-CR" sz="2800" b="1" i="1" dirty="0" smtClean="0">
                                      <a:latin typeface="Cambria Math" panose="02040503050406030204" pitchFamily="18" charset="0"/>
                                    </a:rPr>
                                    <m:t>𝟎</m:t>
                                  </m:r>
                                </m:sub>
                              </m:sSub>
                            </m:oMath>
                          </a14:m>
                          <a:r>
                            <a:rPr lang="es-CR" sz="2800" dirty="0"/>
                            <a:t> es Falsa</a:t>
                          </a:r>
                        </a:p>
                      </a:txBody>
                      <a:tcPr anchor="ctr"/>
                    </a:tc>
                    <a:extLst>
                      <a:ext uri="{0D108BD9-81ED-4DB2-BD59-A6C34878D82A}">
                        <a16:rowId xmlns:a16="http://schemas.microsoft.com/office/drawing/2014/main" val="606168204"/>
                      </a:ext>
                    </a:extLst>
                  </a:tr>
                  <a:tr h="707136">
                    <a:tc>
                      <a:txBody>
                        <a:bodyPr/>
                        <a:lstStyle/>
                        <a:p>
                          <a:pPr algn="ctr"/>
                          <a:r>
                            <a:rPr lang="es-CR" sz="2800" b="1" dirty="0"/>
                            <a:t>Rechazar </a:t>
                          </a:r>
                          <a14:m>
                            <m:oMath xmlns:m="http://schemas.openxmlformats.org/officeDocument/2006/math">
                              <m:sSub>
                                <m:sSubPr>
                                  <m:ctrlPr>
                                    <a:rPr lang="es-CR" sz="2800" b="1" i="1" dirty="0" smtClean="0">
                                      <a:latin typeface="Cambria Math" panose="02040503050406030204" pitchFamily="18" charset="0"/>
                                    </a:rPr>
                                  </m:ctrlPr>
                                </m:sSubPr>
                                <m:e>
                                  <m:r>
                                    <a:rPr lang="es-CR" sz="2800" b="1" i="1" dirty="0" smtClean="0">
                                      <a:latin typeface="Cambria Math" panose="02040503050406030204" pitchFamily="18" charset="0"/>
                                    </a:rPr>
                                    <m:t>𝑯</m:t>
                                  </m:r>
                                </m:e>
                                <m:sub>
                                  <m:r>
                                    <a:rPr lang="es-CR" sz="2800" b="1" i="1" dirty="0" smtClean="0">
                                      <a:latin typeface="Cambria Math" panose="02040503050406030204" pitchFamily="18" charset="0"/>
                                    </a:rPr>
                                    <m:t>𝟎</m:t>
                                  </m:r>
                                </m:sub>
                              </m:sSub>
                            </m:oMath>
                          </a14:m>
                          <a:endParaRPr lang="es-CR" sz="2800" b="1" dirty="0"/>
                        </a:p>
                      </a:txBody>
                      <a:tcPr anchor="ctr"/>
                    </a:tc>
                    <a:tc>
                      <a:txBody>
                        <a:bodyPr/>
                        <a:lstStyle/>
                        <a:p>
                          <a:pPr algn="ctr"/>
                          <a:r>
                            <a:rPr lang="es-CR" sz="2800" b="0" dirty="0"/>
                            <a:t>Error tipo I</a:t>
                          </a:r>
                        </a:p>
                      </a:txBody>
                      <a:tcPr anchor="ctr">
                        <a:solidFill>
                          <a:schemeClr val="tx2">
                            <a:lumMod val="20000"/>
                            <a:lumOff val="80000"/>
                          </a:schemeClr>
                        </a:solidFill>
                      </a:tcPr>
                    </a:tc>
                    <a:tc>
                      <a:txBody>
                        <a:bodyPr/>
                        <a:lstStyle/>
                        <a:p>
                          <a:pPr algn="ctr"/>
                          <a:r>
                            <a:rPr lang="es-CR" sz="2800" b="0" dirty="0"/>
                            <a:t>Correcto</a:t>
                          </a:r>
                        </a:p>
                      </a:txBody>
                      <a:tcPr anchor="ctr"/>
                    </a:tc>
                    <a:extLst>
                      <a:ext uri="{0D108BD9-81ED-4DB2-BD59-A6C34878D82A}">
                        <a16:rowId xmlns:a16="http://schemas.microsoft.com/office/drawing/2014/main" val="2700864431"/>
                      </a:ext>
                    </a:extLst>
                  </a:tr>
                  <a:tr h="707136">
                    <a:tc>
                      <a:txBody>
                        <a:bodyPr/>
                        <a:lstStyle/>
                        <a:p>
                          <a:pPr algn="ctr"/>
                          <a:r>
                            <a:rPr lang="es-CR" sz="2800" b="1" kern="1200" dirty="0">
                              <a:solidFill>
                                <a:schemeClr val="tx1"/>
                              </a:solidFill>
                              <a:latin typeface="+mn-lt"/>
                              <a:ea typeface="+mn-ea"/>
                              <a:cs typeface="+mn-cs"/>
                            </a:rPr>
                            <a:t>No Rechazar </a:t>
                          </a:r>
                          <a14:m>
                            <m:oMath xmlns:m="http://schemas.openxmlformats.org/officeDocument/2006/math">
                              <m:sSub>
                                <m:sSubPr>
                                  <m:ctrlPr>
                                    <a:rPr lang="es-CR" sz="2800" b="1" i="1" kern="1200" dirty="0" smtClean="0">
                                      <a:solidFill>
                                        <a:schemeClr val="tx1"/>
                                      </a:solidFill>
                                      <a:latin typeface="Cambria Math" panose="02040503050406030204" pitchFamily="18" charset="0"/>
                                      <a:ea typeface="+mn-ea"/>
                                      <a:cs typeface="+mn-cs"/>
                                    </a:rPr>
                                  </m:ctrlPr>
                                </m:sSubPr>
                                <m:e>
                                  <m:r>
                                    <a:rPr lang="es-CR" sz="2800" b="1" kern="1200" dirty="0" smtClean="0">
                                      <a:solidFill>
                                        <a:schemeClr val="tx1"/>
                                      </a:solidFill>
                                      <a:latin typeface="Cambria Math" panose="02040503050406030204" pitchFamily="18" charset="0"/>
                                      <a:ea typeface="+mn-ea"/>
                                      <a:cs typeface="+mn-cs"/>
                                    </a:rPr>
                                    <m:t>𝑯</m:t>
                                  </m:r>
                                </m:e>
                                <m:sub>
                                  <m:r>
                                    <a:rPr lang="es-CR" sz="2800" b="1" kern="1200" dirty="0" smtClean="0">
                                      <a:solidFill>
                                        <a:schemeClr val="tx1"/>
                                      </a:solidFill>
                                      <a:latin typeface="Cambria Math" panose="02040503050406030204" pitchFamily="18" charset="0"/>
                                      <a:ea typeface="+mn-ea"/>
                                      <a:cs typeface="+mn-cs"/>
                                    </a:rPr>
                                    <m:t>𝟎</m:t>
                                  </m:r>
                                </m:sub>
                              </m:sSub>
                            </m:oMath>
                          </a14:m>
                          <a:endParaRPr lang="es-CR" sz="2800" b="1" kern="1200" dirty="0">
                            <a:solidFill>
                              <a:schemeClr val="tx1"/>
                            </a:solidFill>
                            <a:latin typeface="+mn-lt"/>
                            <a:ea typeface="+mn-ea"/>
                            <a:cs typeface="+mn-cs"/>
                          </a:endParaRPr>
                        </a:p>
                      </a:txBody>
                      <a:tcPr anchor="ctr"/>
                    </a:tc>
                    <a:tc>
                      <a:txBody>
                        <a:bodyPr/>
                        <a:lstStyle/>
                        <a:p>
                          <a:pPr algn="ctr"/>
                          <a:r>
                            <a:rPr lang="es-CR" sz="2800" b="0" dirty="0"/>
                            <a:t>Correcto</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R" sz="2800" b="0" dirty="0"/>
                            <a:t>Error tipo II</a:t>
                          </a:r>
                        </a:p>
                      </a:txBody>
                      <a:tcPr anchor="ctr">
                        <a:solidFill>
                          <a:schemeClr val="tx2">
                            <a:lumMod val="20000"/>
                            <a:lumOff val="80000"/>
                          </a:schemeClr>
                        </a:solidFill>
                      </a:tcPr>
                    </a:tc>
                    <a:extLst>
                      <a:ext uri="{0D108BD9-81ED-4DB2-BD59-A6C34878D82A}">
                        <a16:rowId xmlns:a16="http://schemas.microsoft.com/office/drawing/2014/main" val="3056654348"/>
                      </a:ext>
                    </a:extLst>
                  </a:tr>
                </a:tbl>
              </a:graphicData>
            </a:graphic>
          </p:graphicFrame>
        </mc:Choice>
        <mc:Fallback xmlns="">
          <p:graphicFrame>
            <p:nvGraphicFramePr>
              <p:cNvPr id="3" name="Table 2">
                <a:extLst>
                  <a:ext uri="{FF2B5EF4-FFF2-40B4-BE49-F238E27FC236}">
                    <a16:creationId xmlns:a16="http://schemas.microsoft.com/office/drawing/2014/main" id="{7FF359F7-2952-8284-BB23-715DD7F88F68}"/>
                  </a:ext>
                </a:extLst>
              </p:cNvPr>
              <p:cNvGraphicFramePr>
                <a:graphicFrameLocks noGrp="1"/>
              </p:cNvGraphicFramePr>
              <p:nvPr>
                <p:extLst>
                  <p:ext uri="{D42A27DB-BD31-4B8C-83A1-F6EECF244321}">
                    <p14:modId xmlns:p14="http://schemas.microsoft.com/office/powerpoint/2010/main" val="1618608721"/>
                  </p:ext>
                </p:extLst>
              </p:nvPr>
            </p:nvGraphicFramePr>
            <p:xfrm>
              <a:off x="1670304" y="2036064"/>
              <a:ext cx="8148319" cy="2121408"/>
            </p:xfrm>
            <a:graphic>
              <a:graphicData uri="http://schemas.openxmlformats.org/drawingml/2006/table">
                <a:tbl>
                  <a:tblPr firstRow="1">
                    <a:tableStyleId>{8799B23B-EC83-4686-B30A-512413B5E67A}</a:tableStyleId>
                  </a:tblPr>
                  <a:tblGrid>
                    <a:gridCol w="2729653">
                      <a:extLst>
                        <a:ext uri="{9D8B030D-6E8A-4147-A177-3AD203B41FA5}">
                          <a16:colId xmlns:a16="http://schemas.microsoft.com/office/drawing/2014/main" val="2541576496"/>
                        </a:ext>
                      </a:extLst>
                    </a:gridCol>
                    <a:gridCol w="2709333">
                      <a:extLst>
                        <a:ext uri="{9D8B030D-6E8A-4147-A177-3AD203B41FA5}">
                          <a16:colId xmlns:a16="http://schemas.microsoft.com/office/drawing/2014/main" val="2945829690"/>
                        </a:ext>
                      </a:extLst>
                    </a:gridCol>
                    <a:gridCol w="2709333">
                      <a:extLst>
                        <a:ext uri="{9D8B030D-6E8A-4147-A177-3AD203B41FA5}">
                          <a16:colId xmlns:a16="http://schemas.microsoft.com/office/drawing/2014/main" val="1491324886"/>
                        </a:ext>
                      </a:extLst>
                    </a:gridCol>
                  </a:tblGrid>
                  <a:tr h="707136">
                    <a:tc>
                      <a:txBody>
                        <a:bodyPr/>
                        <a:lstStyle/>
                        <a:p>
                          <a:endParaRPr lang="es-CR" dirty="0"/>
                        </a:p>
                      </a:txBody>
                      <a:tcPr/>
                    </a:tc>
                    <a:tc>
                      <a:txBody>
                        <a:bodyPr/>
                        <a:lstStyle/>
                        <a:p>
                          <a:endParaRPr lang="en-US"/>
                        </a:p>
                      </a:txBody>
                      <a:tcPr anchor="ctr">
                        <a:blipFill>
                          <a:blip r:embed="rId3"/>
                          <a:stretch>
                            <a:fillRect l="-101351" t="-1724" r="-100901" b="-211207"/>
                          </a:stretch>
                        </a:blipFill>
                      </a:tcPr>
                    </a:tc>
                    <a:tc>
                      <a:txBody>
                        <a:bodyPr/>
                        <a:lstStyle/>
                        <a:p>
                          <a:endParaRPr lang="en-US"/>
                        </a:p>
                      </a:txBody>
                      <a:tcPr anchor="ctr">
                        <a:blipFill>
                          <a:blip r:embed="rId3"/>
                          <a:stretch>
                            <a:fillRect l="-200899" t="-1724" r="-674" b="-211207"/>
                          </a:stretch>
                        </a:blipFill>
                      </a:tcPr>
                    </a:tc>
                    <a:extLst>
                      <a:ext uri="{0D108BD9-81ED-4DB2-BD59-A6C34878D82A}">
                        <a16:rowId xmlns:a16="http://schemas.microsoft.com/office/drawing/2014/main" val="606168204"/>
                      </a:ext>
                    </a:extLst>
                  </a:tr>
                  <a:tr h="707136">
                    <a:tc>
                      <a:txBody>
                        <a:bodyPr/>
                        <a:lstStyle/>
                        <a:p>
                          <a:endParaRPr lang="en-US"/>
                        </a:p>
                      </a:txBody>
                      <a:tcPr anchor="ctr">
                        <a:blipFill>
                          <a:blip r:embed="rId3"/>
                          <a:stretch>
                            <a:fillRect l="-446" t="-101724" r="-199107" b="-111207"/>
                          </a:stretch>
                        </a:blipFill>
                      </a:tcPr>
                    </a:tc>
                    <a:tc>
                      <a:txBody>
                        <a:bodyPr/>
                        <a:lstStyle/>
                        <a:p>
                          <a:pPr algn="ctr"/>
                          <a:r>
                            <a:rPr lang="es-CR" sz="2800" b="0" dirty="0"/>
                            <a:t>Error tipo I</a:t>
                          </a:r>
                        </a:p>
                      </a:txBody>
                      <a:tcPr anchor="ctr">
                        <a:solidFill>
                          <a:schemeClr val="tx2">
                            <a:lumMod val="20000"/>
                            <a:lumOff val="80000"/>
                          </a:schemeClr>
                        </a:solidFill>
                      </a:tcPr>
                    </a:tc>
                    <a:tc>
                      <a:txBody>
                        <a:bodyPr/>
                        <a:lstStyle/>
                        <a:p>
                          <a:pPr algn="ctr"/>
                          <a:r>
                            <a:rPr lang="es-CR" sz="2800" b="0" dirty="0"/>
                            <a:t>Correcto</a:t>
                          </a:r>
                        </a:p>
                      </a:txBody>
                      <a:tcPr anchor="ctr"/>
                    </a:tc>
                    <a:extLst>
                      <a:ext uri="{0D108BD9-81ED-4DB2-BD59-A6C34878D82A}">
                        <a16:rowId xmlns:a16="http://schemas.microsoft.com/office/drawing/2014/main" val="2700864431"/>
                      </a:ext>
                    </a:extLst>
                  </a:tr>
                  <a:tr h="707136">
                    <a:tc>
                      <a:txBody>
                        <a:bodyPr/>
                        <a:lstStyle/>
                        <a:p>
                          <a:endParaRPr lang="en-US"/>
                        </a:p>
                      </a:txBody>
                      <a:tcPr anchor="ctr">
                        <a:blipFill>
                          <a:blip r:embed="rId3"/>
                          <a:stretch>
                            <a:fillRect l="-446" t="-201724" r="-199107" b="-11207"/>
                          </a:stretch>
                        </a:blipFill>
                      </a:tcPr>
                    </a:tc>
                    <a:tc>
                      <a:txBody>
                        <a:bodyPr/>
                        <a:lstStyle/>
                        <a:p>
                          <a:pPr algn="ctr"/>
                          <a:r>
                            <a:rPr lang="es-CR" sz="2800" b="0" dirty="0"/>
                            <a:t>Correcto</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R" sz="2800" b="0" dirty="0"/>
                            <a:t>Error tipo II</a:t>
                          </a:r>
                        </a:p>
                      </a:txBody>
                      <a:tcPr anchor="ctr">
                        <a:solidFill>
                          <a:schemeClr val="tx2">
                            <a:lumMod val="20000"/>
                            <a:lumOff val="80000"/>
                          </a:schemeClr>
                        </a:solidFill>
                      </a:tcPr>
                    </a:tc>
                    <a:extLst>
                      <a:ext uri="{0D108BD9-81ED-4DB2-BD59-A6C34878D82A}">
                        <a16:rowId xmlns:a16="http://schemas.microsoft.com/office/drawing/2014/main" val="3056654348"/>
                      </a:ext>
                    </a:extLst>
                  </a:tr>
                </a:tbl>
              </a:graphicData>
            </a:graphic>
          </p:graphicFrame>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997786A-CAB5-4DC3-BDB7-E43C50B21BBD}"/>
                  </a:ext>
                </a:extLst>
              </p:cNvPr>
              <p:cNvSpPr txBox="1"/>
              <p:nvPr/>
            </p:nvSpPr>
            <p:spPr>
              <a:xfrm>
                <a:off x="0" y="4706112"/>
                <a:ext cx="11448288"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CR" b="0" i="1" smtClean="0">
                          <a:latin typeface="Cambria Math" panose="02040503050406030204" pitchFamily="18" charset="0"/>
                          <a:ea typeface="Cambria Math" panose="02040503050406030204" pitchFamily="18" charset="0"/>
                        </a:rPr>
                        <m:t> </m:t>
                      </m:r>
                      <m:r>
                        <a:rPr lang="es-CR" i="1" smtClean="0">
                          <a:latin typeface="Cambria Math" panose="02040503050406030204" pitchFamily="18" charset="0"/>
                          <a:ea typeface="Cambria Math" panose="02040503050406030204" pitchFamily="18" charset="0"/>
                        </a:rPr>
                        <m:t>𝛼</m:t>
                      </m:r>
                      <m:r>
                        <a:rPr lang="es-CR" b="0" i="1" smtClean="0">
                          <a:latin typeface="Cambria Math" panose="02040503050406030204" pitchFamily="18" charset="0"/>
                          <a:ea typeface="Cambria Math" panose="02040503050406030204" pitchFamily="18" charset="0"/>
                        </a:rPr>
                        <m:t>=</m:t>
                      </m:r>
                      <m:r>
                        <a:rPr lang="es-CR" b="0" i="1" smtClean="0">
                          <a:latin typeface="Cambria Math" panose="02040503050406030204" pitchFamily="18" charset="0"/>
                          <a:ea typeface="Cambria Math" panose="02040503050406030204" pitchFamily="18" charset="0"/>
                        </a:rPr>
                        <m:t>𝑃</m:t>
                      </m:r>
                      <m:d>
                        <m:dPr>
                          <m:ctrlPr>
                            <a:rPr lang="es-CR" b="0" i="1" smtClean="0">
                              <a:latin typeface="Cambria Math" panose="02040503050406030204" pitchFamily="18" charset="0"/>
                              <a:ea typeface="Cambria Math" panose="02040503050406030204" pitchFamily="18" charset="0"/>
                            </a:rPr>
                          </m:ctrlPr>
                        </m:dPr>
                        <m:e>
                          <m:r>
                            <a:rPr lang="es-CR" b="0" i="1" smtClean="0">
                              <a:latin typeface="Cambria Math" panose="02040503050406030204" pitchFamily="18" charset="0"/>
                              <a:ea typeface="Cambria Math" panose="02040503050406030204" pitchFamily="18" charset="0"/>
                            </a:rPr>
                            <m:t>𝐸𝑟𝑟𝑜𝑟</m:t>
                          </m:r>
                          <m:r>
                            <a:rPr lang="es-CR" b="0" i="1" smtClean="0">
                              <a:latin typeface="Cambria Math" panose="02040503050406030204" pitchFamily="18" charset="0"/>
                              <a:ea typeface="Cambria Math" panose="02040503050406030204" pitchFamily="18" charset="0"/>
                            </a:rPr>
                            <m:t>  </m:t>
                          </m:r>
                          <m:r>
                            <a:rPr lang="es-CR" b="0" i="1" smtClean="0">
                              <a:latin typeface="Cambria Math" panose="02040503050406030204" pitchFamily="18" charset="0"/>
                              <a:ea typeface="Cambria Math" panose="02040503050406030204" pitchFamily="18" charset="0"/>
                            </a:rPr>
                            <m:t>𝑡𝑖𝑝𝑜</m:t>
                          </m:r>
                          <m:r>
                            <a:rPr lang="es-CR" b="0" i="1" smtClean="0">
                              <a:latin typeface="Cambria Math" panose="02040503050406030204" pitchFamily="18" charset="0"/>
                              <a:ea typeface="Cambria Math" panose="02040503050406030204" pitchFamily="18" charset="0"/>
                            </a:rPr>
                            <m:t> </m:t>
                          </m:r>
                          <m:r>
                            <a:rPr lang="es-CR" b="0" i="1" smtClean="0">
                              <a:latin typeface="Cambria Math" panose="02040503050406030204" pitchFamily="18" charset="0"/>
                              <a:ea typeface="Cambria Math" panose="02040503050406030204" pitchFamily="18" charset="0"/>
                            </a:rPr>
                            <m:t>𝐼</m:t>
                          </m:r>
                        </m:e>
                      </m:d>
                      <m:r>
                        <a:rPr lang="es-CR" b="0" i="1" smtClean="0">
                          <a:latin typeface="Cambria Math" panose="02040503050406030204" pitchFamily="18" charset="0"/>
                          <a:ea typeface="Cambria Math" panose="02040503050406030204" pitchFamily="18" charset="0"/>
                        </a:rPr>
                        <m:t>=</m:t>
                      </m:r>
                      <m:r>
                        <a:rPr lang="es-CR" b="0" i="1" smtClean="0">
                          <a:latin typeface="Cambria Math" panose="02040503050406030204" pitchFamily="18" charset="0"/>
                          <a:ea typeface="Cambria Math" panose="02040503050406030204" pitchFamily="18" charset="0"/>
                        </a:rPr>
                        <m:t>𝑃</m:t>
                      </m:r>
                      <m:d>
                        <m:dPr>
                          <m:ctrlPr>
                            <a:rPr lang="es-CR" b="0" i="1" smtClean="0">
                              <a:latin typeface="Cambria Math" panose="02040503050406030204" pitchFamily="18" charset="0"/>
                              <a:ea typeface="Cambria Math" panose="02040503050406030204" pitchFamily="18" charset="0"/>
                            </a:rPr>
                          </m:ctrlPr>
                        </m:dPr>
                        <m:e>
                          <m:r>
                            <a:rPr lang="es-CR" b="0" i="1" smtClean="0">
                              <a:latin typeface="Cambria Math" panose="02040503050406030204" pitchFamily="18" charset="0"/>
                              <a:ea typeface="Cambria Math" panose="02040503050406030204" pitchFamily="18" charset="0"/>
                            </a:rPr>
                            <m:t>𝑋</m:t>
                          </m:r>
                          <m:r>
                            <a:rPr lang="es-CR" b="0" i="1" smtClean="0">
                              <a:latin typeface="Cambria Math" panose="02040503050406030204" pitchFamily="18" charset="0"/>
                              <a:ea typeface="Cambria Math" panose="02040503050406030204" pitchFamily="18" charset="0"/>
                            </a:rPr>
                            <m:t>∈</m:t>
                          </m:r>
                          <m:r>
                            <a:rPr lang="es-CR" b="0" i="1" smtClean="0">
                              <a:latin typeface="Cambria Math" panose="02040503050406030204" pitchFamily="18" charset="0"/>
                              <a:ea typeface="Cambria Math" panose="02040503050406030204" pitchFamily="18" charset="0"/>
                            </a:rPr>
                            <m:t>𝐶</m:t>
                          </m:r>
                        </m:e>
                      </m:d>
                      <m:r>
                        <a:rPr lang="es-CR" b="0" i="1" smtClean="0">
                          <a:latin typeface="Cambria Math" panose="02040503050406030204" pitchFamily="18" charset="0"/>
                          <a:ea typeface="Cambria Math" panose="02040503050406030204" pitchFamily="18" charset="0"/>
                        </a:rPr>
                        <m:t>, </m:t>
                      </m:r>
                      <m:r>
                        <a:rPr lang="es-CR" b="0" i="1" smtClean="0">
                          <a:latin typeface="Cambria Math" panose="02040503050406030204" pitchFamily="18" charset="0"/>
                          <a:ea typeface="Cambria Math" panose="02040503050406030204" pitchFamily="18" charset="0"/>
                        </a:rPr>
                        <m:t>𝑠𝑖</m:t>
                      </m:r>
                      <m:r>
                        <a:rPr lang="es-CR" b="0" i="1" smtClean="0">
                          <a:latin typeface="Cambria Math" panose="02040503050406030204" pitchFamily="18" charset="0"/>
                          <a:ea typeface="Cambria Math" panose="02040503050406030204" pitchFamily="18" charset="0"/>
                        </a:rPr>
                        <m:t> </m:t>
                      </m:r>
                      <m:sSub>
                        <m:sSubPr>
                          <m:ctrlPr>
                            <a:rPr lang="es-CR" b="0" i="1" smtClean="0">
                              <a:latin typeface="Cambria Math" panose="02040503050406030204" pitchFamily="18" charset="0"/>
                              <a:ea typeface="Cambria Math" panose="02040503050406030204" pitchFamily="18" charset="0"/>
                            </a:rPr>
                          </m:ctrlPr>
                        </m:sSubPr>
                        <m:e>
                          <m:r>
                            <a:rPr lang="es-CR" b="0" i="1" smtClean="0">
                              <a:latin typeface="Cambria Math" panose="02040503050406030204" pitchFamily="18" charset="0"/>
                              <a:ea typeface="Cambria Math" panose="02040503050406030204" pitchFamily="18" charset="0"/>
                            </a:rPr>
                            <m:t>𝐻</m:t>
                          </m:r>
                        </m:e>
                        <m:sub>
                          <m:r>
                            <a:rPr lang="es-CR" b="0" i="1" smtClean="0">
                              <a:latin typeface="Cambria Math" panose="02040503050406030204" pitchFamily="18" charset="0"/>
                              <a:ea typeface="Cambria Math" panose="02040503050406030204" pitchFamily="18" charset="0"/>
                            </a:rPr>
                            <m:t>0</m:t>
                          </m:r>
                        </m:sub>
                      </m:sSub>
                      <m:r>
                        <a:rPr lang="es-CR" b="0" i="1" smtClean="0">
                          <a:latin typeface="Cambria Math" panose="02040503050406030204" pitchFamily="18" charset="0"/>
                          <a:ea typeface="Cambria Math" panose="02040503050406030204" pitchFamily="18" charset="0"/>
                        </a:rPr>
                        <m:t> </m:t>
                      </m:r>
                      <m:r>
                        <a:rPr lang="es-CR" b="0" i="1" smtClean="0">
                          <a:latin typeface="Cambria Math" panose="02040503050406030204" pitchFamily="18" charset="0"/>
                          <a:ea typeface="Cambria Math" panose="02040503050406030204" pitchFamily="18" charset="0"/>
                        </a:rPr>
                        <m:t>𝑒𝑠</m:t>
                      </m:r>
                      <m:r>
                        <a:rPr lang="es-CR" b="0" i="1" smtClean="0">
                          <a:latin typeface="Cambria Math" panose="02040503050406030204" pitchFamily="18" charset="0"/>
                          <a:ea typeface="Cambria Math" panose="02040503050406030204" pitchFamily="18" charset="0"/>
                        </a:rPr>
                        <m:t> </m:t>
                      </m:r>
                      <m:r>
                        <a:rPr lang="es-CR" b="0" i="1" smtClean="0">
                          <a:latin typeface="Cambria Math" panose="02040503050406030204" pitchFamily="18" charset="0"/>
                          <a:ea typeface="Cambria Math" panose="02040503050406030204" pitchFamily="18" charset="0"/>
                        </a:rPr>
                        <m:t>𝑣𝑒𝑟𝑑𝑎𝑑𝑒𝑟𝑎</m:t>
                      </m:r>
                      <m:r>
                        <a:rPr lang="es-CR" b="0" i="1" smtClean="0">
                          <a:latin typeface="Cambria Math" panose="02040503050406030204" pitchFamily="18" charset="0"/>
                          <a:ea typeface="Cambria Math" panose="02040503050406030204" pitchFamily="18" charset="0"/>
                        </a:rPr>
                        <m:t> </m:t>
                      </m:r>
                      <m:r>
                        <a:rPr lang="es-CR" b="1" i="1" smtClean="0">
                          <a:latin typeface="Cambria Math" panose="02040503050406030204" pitchFamily="18" charset="0"/>
                          <a:ea typeface="Cambria Math" panose="02040503050406030204" pitchFamily="18" charset="0"/>
                        </a:rPr>
                        <m:t>(</m:t>
                      </m:r>
                      <m:r>
                        <a:rPr lang="es-CR" b="1" i="1" smtClean="0">
                          <a:latin typeface="Cambria Math" panose="02040503050406030204" pitchFamily="18" charset="0"/>
                          <a:ea typeface="Cambria Math" panose="02040503050406030204" pitchFamily="18" charset="0"/>
                        </a:rPr>
                        <m:t>𝑵𝒊𝒗𝒆𝒍</m:t>
                      </m:r>
                      <m:r>
                        <a:rPr lang="es-CR" b="1" i="1" smtClean="0">
                          <a:latin typeface="Cambria Math" panose="02040503050406030204" pitchFamily="18" charset="0"/>
                          <a:ea typeface="Cambria Math" panose="02040503050406030204" pitchFamily="18" charset="0"/>
                        </a:rPr>
                        <m:t> </m:t>
                      </m:r>
                      <m:r>
                        <a:rPr lang="es-CR" b="1" i="1" smtClean="0">
                          <a:latin typeface="Cambria Math" panose="02040503050406030204" pitchFamily="18" charset="0"/>
                          <a:ea typeface="Cambria Math" panose="02040503050406030204" pitchFamily="18" charset="0"/>
                        </a:rPr>
                        <m:t>𝒅𝒆</m:t>
                      </m:r>
                      <m:r>
                        <a:rPr lang="es-CR" b="1" i="1" smtClean="0">
                          <a:latin typeface="Cambria Math" panose="02040503050406030204" pitchFamily="18" charset="0"/>
                          <a:ea typeface="Cambria Math" panose="02040503050406030204" pitchFamily="18" charset="0"/>
                        </a:rPr>
                        <m:t> </m:t>
                      </m:r>
                      <m:r>
                        <a:rPr lang="es-CR" b="1" i="1" smtClean="0">
                          <a:latin typeface="Cambria Math" panose="02040503050406030204" pitchFamily="18" charset="0"/>
                          <a:ea typeface="Cambria Math" panose="02040503050406030204" pitchFamily="18" charset="0"/>
                        </a:rPr>
                        <m:t>𝒔𝒊𝒈𝒏𝒊𝒇𝒊𝒄𝒂𝒏𝒄𝒊𝒂</m:t>
                      </m:r>
                      <m:r>
                        <a:rPr lang="es-CR" b="1" i="1" smtClean="0">
                          <a:latin typeface="Cambria Math" panose="02040503050406030204" pitchFamily="18" charset="0"/>
                          <a:ea typeface="Cambria Math" panose="02040503050406030204" pitchFamily="18" charset="0"/>
                        </a:rPr>
                        <m:t>)</m:t>
                      </m:r>
                    </m:oMath>
                  </m:oMathPara>
                </a14:m>
                <a:endParaRPr lang="es-CR" b="1" dirty="0">
                  <a:ea typeface="Cambria Math" panose="02040503050406030204" pitchFamily="18" charset="0"/>
                </a:endParaRPr>
              </a:p>
              <a:p>
                <a:r>
                  <a:rPr lang="es-CR" dirty="0">
                    <a:ea typeface="Cambria Math" panose="02040503050406030204" pitchFamily="18" charset="0"/>
                  </a:rPr>
                  <a:t>                               </a:t>
                </a:r>
                <a14:m>
                  <m:oMath xmlns:m="http://schemas.openxmlformats.org/officeDocument/2006/math">
                    <m:r>
                      <a:rPr lang="es-CR" i="1" smtClean="0">
                        <a:latin typeface="Cambria Math" panose="02040503050406030204" pitchFamily="18" charset="0"/>
                        <a:ea typeface="Cambria Math" panose="02040503050406030204" pitchFamily="18" charset="0"/>
                      </a:rPr>
                      <m:t>𝛽</m:t>
                    </m:r>
                    <m:r>
                      <a:rPr lang="es-CR" b="0" i="1" smtClean="0">
                        <a:latin typeface="Cambria Math" panose="02040503050406030204" pitchFamily="18" charset="0"/>
                        <a:ea typeface="Cambria Math" panose="02040503050406030204" pitchFamily="18" charset="0"/>
                      </a:rPr>
                      <m:t>=</m:t>
                    </m:r>
                    <m:r>
                      <a:rPr lang="es-CR" b="0" i="1" smtClean="0">
                        <a:latin typeface="Cambria Math" panose="02040503050406030204" pitchFamily="18" charset="0"/>
                        <a:ea typeface="Cambria Math" panose="02040503050406030204" pitchFamily="18" charset="0"/>
                      </a:rPr>
                      <m:t>𝑃</m:t>
                    </m:r>
                    <m:d>
                      <m:dPr>
                        <m:ctrlPr>
                          <a:rPr lang="es-CR" b="0" i="1" smtClean="0">
                            <a:latin typeface="Cambria Math" panose="02040503050406030204" pitchFamily="18" charset="0"/>
                            <a:ea typeface="Cambria Math" panose="02040503050406030204" pitchFamily="18" charset="0"/>
                          </a:rPr>
                        </m:ctrlPr>
                      </m:dPr>
                      <m:e>
                        <m:r>
                          <a:rPr lang="es-CR" b="0" i="1" smtClean="0">
                            <a:latin typeface="Cambria Math" panose="02040503050406030204" pitchFamily="18" charset="0"/>
                            <a:ea typeface="Cambria Math" panose="02040503050406030204" pitchFamily="18" charset="0"/>
                          </a:rPr>
                          <m:t>𝐸𝑟𝑟𝑜𝑟</m:t>
                        </m:r>
                        <m:r>
                          <a:rPr lang="es-CR" b="0" i="1" smtClean="0">
                            <a:latin typeface="Cambria Math" panose="02040503050406030204" pitchFamily="18" charset="0"/>
                            <a:ea typeface="Cambria Math" panose="02040503050406030204" pitchFamily="18" charset="0"/>
                          </a:rPr>
                          <m:t>  </m:t>
                        </m:r>
                        <m:r>
                          <a:rPr lang="es-CR" b="0" i="1" smtClean="0">
                            <a:latin typeface="Cambria Math" panose="02040503050406030204" pitchFamily="18" charset="0"/>
                            <a:ea typeface="Cambria Math" panose="02040503050406030204" pitchFamily="18" charset="0"/>
                          </a:rPr>
                          <m:t>𝑡𝑖𝑝𝑜</m:t>
                        </m:r>
                        <m:r>
                          <a:rPr lang="es-CR" b="0" i="1" smtClean="0">
                            <a:latin typeface="Cambria Math" panose="02040503050406030204" pitchFamily="18" charset="0"/>
                            <a:ea typeface="Cambria Math" panose="02040503050406030204" pitchFamily="18" charset="0"/>
                          </a:rPr>
                          <m:t> </m:t>
                        </m:r>
                        <m:r>
                          <a:rPr lang="es-CR" b="0" i="1" smtClean="0">
                            <a:latin typeface="Cambria Math" panose="02040503050406030204" pitchFamily="18" charset="0"/>
                            <a:ea typeface="Cambria Math" panose="02040503050406030204" pitchFamily="18" charset="0"/>
                          </a:rPr>
                          <m:t>𝐼𝐼</m:t>
                        </m:r>
                      </m:e>
                    </m:d>
                    <m:r>
                      <a:rPr lang="es-CR" b="0" i="1" smtClean="0">
                        <a:latin typeface="Cambria Math" panose="02040503050406030204" pitchFamily="18" charset="0"/>
                        <a:ea typeface="Cambria Math" panose="02040503050406030204" pitchFamily="18" charset="0"/>
                      </a:rPr>
                      <m:t>=</m:t>
                    </m:r>
                    <m:r>
                      <a:rPr lang="es-CR" b="0" i="1" smtClean="0">
                        <a:latin typeface="Cambria Math" panose="02040503050406030204" pitchFamily="18" charset="0"/>
                        <a:ea typeface="Cambria Math" panose="02040503050406030204" pitchFamily="18" charset="0"/>
                      </a:rPr>
                      <m:t>𝑃</m:t>
                    </m:r>
                    <m:d>
                      <m:dPr>
                        <m:ctrlPr>
                          <a:rPr lang="es-CR" b="0" i="1" smtClean="0">
                            <a:latin typeface="Cambria Math" panose="02040503050406030204" pitchFamily="18" charset="0"/>
                            <a:ea typeface="Cambria Math" panose="02040503050406030204" pitchFamily="18" charset="0"/>
                          </a:rPr>
                        </m:ctrlPr>
                      </m:dPr>
                      <m:e>
                        <m:r>
                          <a:rPr lang="es-CR" b="0" i="1" smtClean="0">
                            <a:latin typeface="Cambria Math" panose="02040503050406030204" pitchFamily="18" charset="0"/>
                            <a:ea typeface="Cambria Math" panose="02040503050406030204" pitchFamily="18" charset="0"/>
                          </a:rPr>
                          <m:t>𝑋</m:t>
                        </m:r>
                        <m:r>
                          <a:rPr lang="es-CR" b="0" i="1" smtClean="0">
                            <a:latin typeface="Cambria Math" panose="02040503050406030204" pitchFamily="18" charset="0"/>
                            <a:ea typeface="Cambria Math" panose="02040503050406030204" pitchFamily="18" charset="0"/>
                          </a:rPr>
                          <m:t>∉</m:t>
                        </m:r>
                        <m:r>
                          <a:rPr lang="es-CR" b="0" i="1" smtClean="0">
                            <a:latin typeface="Cambria Math" panose="02040503050406030204" pitchFamily="18" charset="0"/>
                            <a:ea typeface="Cambria Math" panose="02040503050406030204" pitchFamily="18" charset="0"/>
                          </a:rPr>
                          <m:t>𝐶</m:t>
                        </m:r>
                      </m:e>
                    </m:d>
                    <m:r>
                      <a:rPr lang="es-CR" b="0" i="1" smtClean="0">
                        <a:latin typeface="Cambria Math" panose="02040503050406030204" pitchFamily="18" charset="0"/>
                        <a:ea typeface="Cambria Math" panose="02040503050406030204" pitchFamily="18" charset="0"/>
                      </a:rPr>
                      <m:t>, </m:t>
                    </m:r>
                    <m:r>
                      <a:rPr lang="es-CR" b="0" i="1" smtClean="0">
                        <a:latin typeface="Cambria Math" panose="02040503050406030204" pitchFamily="18" charset="0"/>
                        <a:ea typeface="Cambria Math" panose="02040503050406030204" pitchFamily="18" charset="0"/>
                      </a:rPr>
                      <m:t>𝑠𝑖</m:t>
                    </m:r>
                    <m:r>
                      <a:rPr lang="es-CR" b="0" i="1" smtClean="0">
                        <a:latin typeface="Cambria Math" panose="02040503050406030204" pitchFamily="18" charset="0"/>
                        <a:ea typeface="Cambria Math" panose="02040503050406030204" pitchFamily="18" charset="0"/>
                      </a:rPr>
                      <m:t> </m:t>
                    </m:r>
                    <m:sSub>
                      <m:sSubPr>
                        <m:ctrlPr>
                          <a:rPr lang="es-CR" b="0" i="1" smtClean="0">
                            <a:latin typeface="Cambria Math" panose="02040503050406030204" pitchFamily="18" charset="0"/>
                            <a:ea typeface="Cambria Math" panose="02040503050406030204" pitchFamily="18" charset="0"/>
                          </a:rPr>
                        </m:ctrlPr>
                      </m:sSubPr>
                      <m:e>
                        <m:r>
                          <a:rPr lang="es-CR" b="0" i="1" smtClean="0">
                            <a:latin typeface="Cambria Math" panose="02040503050406030204" pitchFamily="18" charset="0"/>
                            <a:ea typeface="Cambria Math" panose="02040503050406030204" pitchFamily="18" charset="0"/>
                          </a:rPr>
                          <m:t>𝐻</m:t>
                        </m:r>
                      </m:e>
                      <m:sub>
                        <m:r>
                          <a:rPr lang="es-CR" b="0" i="1" smtClean="0">
                            <a:latin typeface="Cambria Math" panose="02040503050406030204" pitchFamily="18" charset="0"/>
                            <a:ea typeface="Cambria Math" panose="02040503050406030204" pitchFamily="18" charset="0"/>
                          </a:rPr>
                          <m:t>1</m:t>
                        </m:r>
                      </m:sub>
                    </m:sSub>
                    <m:r>
                      <a:rPr lang="es-CR" b="0" i="1" smtClean="0">
                        <a:latin typeface="Cambria Math" panose="02040503050406030204" pitchFamily="18" charset="0"/>
                        <a:ea typeface="Cambria Math" panose="02040503050406030204" pitchFamily="18" charset="0"/>
                      </a:rPr>
                      <m:t> </m:t>
                    </m:r>
                    <m:r>
                      <a:rPr lang="es-CR" b="0" i="1" smtClean="0">
                        <a:latin typeface="Cambria Math" panose="02040503050406030204" pitchFamily="18" charset="0"/>
                        <a:ea typeface="Cambria Math" panose="02040503050406030204" pitchFamily="18" charset="0"/>
                      </a:rPr>
                      <m:t>𝑒𝑠</m:t>
                    </m:r>
                    <m:r>
                      <a:rPr lang="es-CR" b="0" i="1" smtClean="0">
                        <a:latin typeface="Cambria Math" panose="02040503050406030204" pitchFamily="18" charset="0"/>
                        <a:ea typeface="Cambria Math" panose="02040503050406030204" pitchFamily="18" charset="0"/>
                      </a:rPr>
                      <m:t> </m:t>
                    </m:r>
                    <m:r>
                      <a:rPr lang="es-CR" b="0" i="1" smtClean="0">
                        <a:latin typeface="Cambria Math" panose="02040503050406030204" pitchFamily="18" charset="0"/>
                        <a:ea typeface="Cambria Math" panose="02040503050406030204" pitchFamily="18" charset="0"/>
                      </a:rPr>
                      <m:t>𝑣𝑒𝑟𝑑𝑎𝑑𝑒𝑟𝑎</m:t>
                    </m:r>
                    <m:r>
                      <a:rPr lang="es-CR" b="0" i="1" smtClean="0">
                        <a:latin typeface="Cambria Math" panose="02040503050406030204" pitchFamily="18" charset="0"/>
                        <a:ea typeface="Cambria Math" panose="02040503050406030204" pitchFamily="18" charset="0"/>
                      </a:rPr>
                      <m:t> </m:t>
                    </m:r>
                    <m:r>
                      <a:rPr lang="es-CR" b="1" i="1" smtClean="0">
                        <a:latin typeface="Cambria Math" panose="02040503050406030204" pitchFamily="18" charset="0"/>
                        <a:ea typeface="Cambria Math" panose="02040503050406030204" pitchFamily="18" charset="0"/>
                      </a:rPr>
                      <m:t>(</m:t>
                    </m:r>
                    <m:r>
                      <a:rPr lang="es-CR" b="1" i="1" smtClean="0">
                        <a:latin typeface="Cambria Math" panose="02040503050406030204" pitchFamily="18" charset="0"/>
                        <a:ea typeface="Cambria Math" panose="02040503050406030204" pitchFamily="18" charset="0"/>
                      </a:rPr>
                      <m:t>𝟏</m:t>
                    </m:r>
                    <m:r>
                      <a:rPr lang="es-CR" b="1" i="1" smtClean="0">
                        <a:latin typeface="Cambria Math" panose="02040503050406030204" pitchFamily="18" charset="0"/>
                        <a:ea typeface="Cambria Math" panose="02040503050406030204" pitchFamily="18" charset="0"/>
                      </a:rPr>
                      <m:t>−</m:t>
                    </m:r>
                    <m:r>
                      <a:rPr lang="es-CR" b="1" i="1" smtClean="0">
                        <a:latin typeface="Cambria Math" panose="02040503050406030204" pitchFamily="18" charset="0"/>
                        <a:ea typeface="Cambria Math" panose="02040503050406030204" pitchFamily="18" charset="0"/>
                      </a:rPr>
                      <m:t>𝜷</m:t>
                    </m:r>
                    <m:r>
                      <a:rPr lang="es-CR" b="1" i="1" smtClean="0">
                        <a:latin typeface="Cambria Math" panose="02040503050406030204" pitchFamily="18" charset="0"/>
                        <a:ea typeface="Cambria Math" panose="02040503050406030204" pitchFamily="18" charset="0"/>
                      </a:rPr>
                      <m:t>: </m:t>
                    </m:r>
                    <m:r>
                      <a:rPr lang="es-CR" b="1" i="1" smtClean="0">
                        <a:latin typeface="Cambria Math" panose="02040503050406030204" pitchFamily="18" charset="0"/>
                        <a:ea typeface="Cambria Math" panose="02040503050406030204" pitchFamily="18" charset="0"/>
                      </a:rPr>
                      <m:t>𝒑𝒐𝒕𝒆𝒏𝒄𝒊𝒂</m:t>
                    </m:r>
                    <m:r>
                      <a:rPr lang="es-CR" b="1" i="1" smtClean="0">
                        <a:latin typeface="Cambria Math" panose="02040503050406030204" pitchFamily="18" charset="0"/>
                        <a:ea typeface="Cambria Math" panose="02040503050406030204" pitchFamily="18" charset="0"/>
                      </a:rPr>
                      <m:t> </m:t>
                    </m:r>
                    <m:r>
                      <a:rPr lang="es-CR" b="1" i="1" smtClean="0">
                        <a:latin typeface="Cambria Math" panose="02040503050406030204" pitchFamily="18" charset="0"/>
                        <a:ea typeface="Cambria Math" panose="02040503050406030204" pitchFamily="18" charset="0"/>
                      </a:rPr>
                      <m:t>𝒅𝒆</m:t>
                    </m:r>
                    <m:r>
                      <a:rPr lang="es-CR" b="1" i="1" smtClean="0">
                        <a:latin typeface="Cambria Math" panose="02040503050406030204" pitchFamily="18" charset="0"/>
                        <a:ea typeface="Cambria Math" panose="02040503050406030204" pitchFamily="18" charset="0"/>
                      </a:rPr>
                      <m:t> </m:t>
                    </m:r>
                    <m:r>
                      <a:rPr lang="es-CR" b="1" i="1" smtClean="0">
                        <a:latin typeface="Cambria Math" panose="02040503050406030204" pitchFamily="18" charset="0"/>
                        <a:ea typeface="Cambria Math" panose="02040503050406030204" pitchFamily="18" charset="0"/>
                      </a:rPr>
                      <m:t>𝒍𝒂</m:t>
                    </m:r>
                    <m:r>
                      <a:rPr lang="es-CR" b="1" i="1" smtClean="0">
                        <a:latin typeface="Cambria Math" panose="02040503050406030204" pitchFamily="18" charset="0"/>
                        <a:ea typeface="Cambria Math" panose="02040503050406030204" pitchFamily="18" charset="0"/>
                      </a:rPr>
                      <m:t> </m:t>
                    </m:r>
                    <m:r>
                      <a:rPr lang="es-CR" b="1" i="1" smtClean="0">
                        <a:latin typeface="Cambria Math" panose="02040503050406030204" pitchFamily="18" charset="0"/>
                        <a:ea typeface="Cambria Math" panose="02040503050406030204" pitchFamily="18" charset="0"/>
                      </a:rPr>
                      <m:t>𝒑𝒓𝒖𝒆𝒃𝒂</m:t>
                    </m:r>
                    <m:r>
                      <a:rPr lang="es-CR" b="1" i="1" smtClean="0">
                        <a:latin typeface="Cambria Math" panose="02040503050406030204" pitchFamily="18" charset="0"/>
                        <a:ea typeface="Cambria Math" panose="02040503050406030204" pitchFamily="18" charset="0"/>
                      </a:rPr>
                      <m:t>)</m:t>
                    </m:r>
                  </m:oMath>
                </a14:m>
                <a:endParaRPr lang="es-CR" b="1" dirty="0"/>
              </a:p>
            </p:txBody>
          </p:sp>
        </mc:Choice>
        <mc:Fallback xmlns="">
          <p:sp>
            <p:nvSpPr>
              <p:cNvPr id="4" name="TextBox 3">
                <a:extLst>
                  <a:ext uri="{FF2B5EF4-FFF2-40B4-BE49-F238E27FC236}">
                    <a16:creationId xmlns:a16="http://schemas.microsoft.com/office/drawing/2014/main" id="{5997786A-CAB5-4DC3-BDB7-E43C50B21BBD}"/>
                  </a:ext>
                </a:extLst>
              </p:cNvPr>
              <p:cNvSpPr txBox="1">
                <a:spLocks noRot="1" noChangeAspect="1" noMove="1" noResize="1" noEditPoints="1" noAdjustHandles="1" noChangeArrowheads="1" noChangeShapeType="1" noTextEdit="1"/>
              </p:cNvSpPr>
              <p:nvPr/>
            </p:nvSpPr>
            <p:spPr>
              <a:xfrm>
                <a:off x="0" y="4706112"/>
                <a:ext cx="11448288" cy="646331"/>
              </a:xfrm>
              <a:prstGeom prst="rect">
                <a:avLst/>
              </a:prstGeom>
              <a:blipFill>
                <a:blip r:embed="rId4"/>
                <a:stretch>
                  <a:fillRect b="-7547"/>
                </a:stretch>
              </a:blipFill>
            </p:spPr>
            <p:txBody>
              <a:bodyPr/>
              <a:lstStyle/>
              <a:p>
                <a:r>
                  <a:rPr lang="es-CR">
                    <a:noFill/>
                  </a:rPr>
                  <a:t> </a:t>
                </a:r>
              </a:p>
            </p:txBody>
          </p:sp>
        </mc:Fallback>
      </mc:AlternateContent>
    </p:spTree>
    <p:extLst>
      <p:ext uri="{BB962C8B-B14F-4D97-AF65-F5344CB8AC3E}">
        <p14:creationId xmlns:p14="http://schemas.microsoft.com/office/powerpoint/2010/main" val="16725049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6D612-7484-BC6B-A40C-A9E1D1DA1F4F}"/>
              </a:ext>
            </a:extLst>
          </p:cNvPr>
          <p:cNvSpPr>
            <a:spLocks noGrp="1"/>
          </p:cNvSpPr>
          <p:nvPr>
            <p:ph type="title"/>
          </p:nvPr>
        </p:nvSpPr>
        <p:spPr>
          <a:xfrm>
            <a:off x="1367444" y="585169"/>
            <a:ext cx="9807633" cy="871794"/>
          </a:xfrm>
        </p:spPr>
        <p:txBody>
          <a:bodyPr>
            <a:normAutofit/>
          </a:bodyPr>
          <a:lstStyle/>
          <a:p>
            <a:r>
              <a:rPr lang="es-CR" dirty="0"/>
              <a:t>Valor p</a:t>
            </a:r>
          </a:p>
        </p:txBody>
      </p:sp>
      <p:pic>
        <p:nvPicPr>
          <p:cNvPr id="5" name="Picture 4" descr="A diagram of a function&#10;&#10;Description automatically generated">
            <a:extLst>
              <a:ext uri="{FF2B5EF4-FFF2-40B4-BE49-F238E27FC236}">
                <a16:creationId xmlns:a16="http://schemas.microsoft.com/office/drawing/2014/main" id="{13A1E0CC-9946-DE45-E510-8F9A16BA916B}"/>
              </a:ext>
            </a:extLst>
          </p:cNvPr>
          <p:cNvPicPr>
            <a:picLocks noChangeAspect="1"/>
          </p:cNvPicPr>
          <p:nvPr/>
        </p:nvPicPr>
        <p:blipFill>
          <a:blip r:embed="rId2"/>
          <a:stretch>
            <a:fillRect/>
          </a:stretch>
        </p:blipFill>
        <p:spPr>
          <a:xfrm>
            <a:off x="971493" y="2067983"/>
            <a:ext cx="4915014" cy="3735410"/>
          </a:xfrm>
          <a:prstGeom prst="rect">
            <a:avLst/>
          </a:prstGeom>
          <a:noFill/>
        </p:spPr>
      </p:pic>
      <p:sp>
        <p:nvSpPr>
          <p:cNvPr id="3" name="TextBox 2">
            <a:extLst>
              <a:ext uri="{FF2B5EF4-FFF2-40B4-BE49-F238E27FC236}">
                <a16:creationId xmlns:a16="http://schemas.microsoft.com/office/drawing/2014/main" id="{74CC99A8-A5DB-E779-C80E-802CF2971176}"/>
              </a:ext>
            </a:extLst>
          </p:cNvPr>
          <p:cNvSpPr txBox="1"/>
          <p:nvPr/>
        </p:nvSpPr>
        <p:spPr>
          <a:xfrm>
            <a:off x="6172200" y="2067983"/>
            <a:ext cx="5181600" cy="3735410"/>
          </a:xfrm>
          <a:prstGeom prst="rect">
            <a:avLst/>
          </a:prstGeom>
        </p:spPr>
        <p:txBody>
          <a:bodyPr vert="horz" lIns="91440" tIns="45720" rIns="91440" bIns="45720" rtlCol="0">
            <a:normAutofit/>
          </a:bodyPr>
          <a:lstStyle/>
          <a:p>
            <a:pPr marL="228600" indent="-228600">
              <a:lnSpc>
                <a:spcPct val="90000"/>
              </a:lnSpc>
              <a:spcBef>
                <a:spcPts val="1000"/>
              </a:spcBef>
              <a:buFont typeface="Arial" panose="020B0604020202020204" pitchFamily="34" charset="0"/>
              <a:buChar char="•"/>
            </a:pPr>
            <a:r>
              <a:rPr lang="en-US" sz="2800" dirty="0">
                <a:latin typeface="Trust Sans" pitchFamily="2" charset="77"/>
              </a:rPr>
              <a:t>Es la </a:t>
            </a:r>
            <a:r>
              <a:rPr lang="en-US" sz="2800" dirty="0" err="1">
                <a:latin typeface="Trust Sans" pitchFamily="2" charset="77"/>
              </a:rPr>
              <a:t>probabilidad</a:t>
            </a:r>
            <a:r>
              <a:rPr lang="en-US" sz="2800" dirty="0">
                <a:latin typeface="Trust Sans" pitchFamily="2" charset="77"/>
              </a:rPr>
              <a:t> </a:t>
            </a:r>
            <a:r>
              <a:rPr lang="en-US" sz="2800" dirty="0" err="1">
                <a:latin typeface="Trust Sans" pitchFamily="2" charset="77"/>
              </a:rPr>
              <a:t>asociada</a:t>
            </a:r>
            <a:r>
              <a:rPr lang="en-US" sz="2800" dirty="0">
                <a:latin typeface="Trust Sans" pitchFamily="2" charset="77"/>
              </a:rPr>
              <a:t> a las colas de la </a:t>
            </a:r>
            <a:r>
              <a:rPr lang="en-US" sz="2800" dirty="0" err="1">
                <a:latin typeface="Trust Sans" pitchFamily="2" charset="77"/>
              </a:rPr>
              <a:t>distribución</a:t>
            </a:r>
            <a:r>
              <a:rPr lang="en-US" sz="2800" dirty="0">
                <a:latin typeface="Trust Sans" pitchFamily="2" charset="77"/>
              </a:rPr>
              <a:t>. Valores </a:t>
            </a:r>
            <a:r>
              <a:rPr lang="en-US" sz="2800" dirty="0" err="1">
                <a:latin typeface="Trust Sans" pitchFamily="2" charset="77"/>
              </a:rPr>
              <a:t>bajos</a:t>
            </a:r>
            <a:r>
              <a:rPr lang="en-US" sz="2800" dirty="0">
                <a:latin typeface="Trust Sans" pitchFamily="2" charset="77"/>
              </a:rPr>
              <a:t> de p-value son </a:t>
            </a:r>
            <a:r>
              <a:rPr lang="en-US" sz="2800" dirty="0" err="1">
                <a:latin typeface="Trust Sans" pitchFamily="2" charset="77"/>
              </a:rPr>
              <a:t>evidencia</a:t>
            </a:r>
            <a:r>
              <a:rPr lang="en-US" sz="2800" dirty="0">
                <a:latin typeface="Trust Sans" pitchFamily="2" charset="77"/>
              </a:rPr>
              <a:t> a favor de la hipótesis </a:t>
            </a:r>
            <a:r>
              <a:rPr lang="en-US" sz="2800" dirty="0" err="1">
                <a:latin typeface="Trust Sans" pitchFamily="2" charset="77"/>
              </a:rPr>
              <a:t>alternativa</a:t>
            </a:r>
            <a:r>
              <a:rPr lang="en-US" sz="2800" dirty="0">
                <a:latin typeface="Trust Sans" pitchFamily="2" charset="77"/>
              </a:rPr>
              <a:t> </a:t>
            </a:r>
          </a:p>
        </p:txBody>
      </p:sp>
    </p:spTree>
    <p:extLst>
      <p:ext uri="{BB962C8B-B14F-4D97-AF65-F5344CB8AC3E}">
        <p14:creationId xmlns:p14="http://schemas.microsoft.com/office/powerpoint/2010/main" val="34591631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A10DB-5723-C8FC-F360-F1CA94B1CA61}"/>
              </a:ext>
            </a:extLst>
          </p:cNvPr>
          <p:cNvSpPr>
            <a:spLocks noGrp="1"/>
          </p:cNvSpPr>
          <p:nvPr>
            <p:ph type="title"/>
          </p:nvPr>
        </p:nvSpPr>
        <p:spPr/>
        <p:txBody>
          <a:bodyPr/>
          <a:lstStyle/>
          <a:p>
            <a:r>
              <a:rPr lang="es-CR" dirty="0"/>
              <a:t>Prueba de hipótesis de una media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38BB78C-DA85-1BF0-E9DF-445D8F2E6FB9}"/>
                  </a:ext>
                </a:extLst>
              </p:cNvPr>
              <p:cNvSpPr>
                <a:spLocks noGrp="1"/>
              </p:cNvSpPr>
              <p:nvPr>
                <p:ph sz="half" idx="1"/>
              </p:nvPr>
            </p:nvSpPr>
            <p:spPr>
              <a:xfrm>
                <a:off x="838200" y="2067983"/>
                <a:ext cx="10451592" cy="3735410"/>
              </a:xfrm>
            </p:spPr>
            <p:txBody>
              <a:bodyPr/>
              <a:lstStyle/>
              <a:p>
                <a:r>
                  <a:rPr lang="es-CR" dirty="0"/>
                  <a:t>Cuando se toman muestras de una distribución normal, la hipótesis nula es usualmente de la forma </a:t>
                </a:r>
                <a14:m>
                  <m:oMath xmlns:m="http://schemas.openxmlformats.org/officeDocument/2006/math">
                    <m:sSub>
                      <m:sSubPr>
                        <m:ctrlPr>
                          <a:rPr lang="es-CR" sz="2800" i="1" smtClean="0">
                            <a:latin typeface="Cambria Math" panose="02040503050406030204" pitchFamily="18" charset="0"/>
                          </a:rPr>
                        </m:ctrlPr>
                      </m:sSubPr>
                      <m:e>
                        <m:r>
                          <a:rPr lang="es-CR" sz="2800" b="0" i="1" smtClean="0">
                            <a:latin typeface="Cambria Math" panose="02040503050406030204" pitchFamily="18" charset="0"/>
                          </a:rPr>
                          <m:t>𝐻</m:t>
                        </m:r>
                      </m:e>
                      <m:sub>
                        <m:r>
                          <a:rPr lang="es-CR" sz="2800" b="0" i="1" smtClean="0">
                            <a:latin typeface="Cambria Math" panose="02040503050406030204" pitchFamily="18" charset="0"/>
                          </a:rPr>
                          <m:t>0</m:t>
                        </m:r>
                      </m:sub>
                    </m:sSub>
                    <m:r>
                      <a:rPr lang="es-CR" sz="2800" b="0" i="1" smtClean="0">
                        <a:latin typeface="Cambria Math" panose="02040503050406030204" pitchFamily="18" charset="0"/>
                      </a:rPr>
                      <m:t>: </m:t>
                    </m:r>
                    <m:r>
                      <a:rPr lang="es-CR" sz="2800" b="0" i="1" smtClean="0">
                        <a:latin typeface="Cambria Math" panose="02040503050406030204" pitchFamily="18" charset="0"/>
                        <a:ea typeface="Cambria Math" panose="02040503050406030204" pitchFamily="18" charset="0"/>
                      </a:rPr>
                      <m:t>𝜇</m:t>
                    </m:r>
                    <m:r>
                      <a:rPr lang="es-CR" sz="2800" b="0" i="1" smtClean="0">
                        <a:latin typeface="Cambria Math" panose="02040503050406030204" pitchFamily="18" charset="0"/>
                        <a:ea typeface="Cambria Math" panose="02040503050406030204" pitchFamily="18" charset="0"/>
                      </a:rPr>
                      <m:t>=</m:t>
                    </m:r>
                    <m:sSub>
                      <m:sSubPr>
                        <m:ctrlPr>
                          <a:rPr lang="es-CR" sz="2800" b="0" i="1" smtClean="0">
                            <a:latin typeface="Cambria Math" panose="02040503050406030204" pitchFamily="18" charset="0"/>
                            <a:ea typeface="Cambria Math" panose="02040503050406030204" pitchFamily="18" charset="0"/>
                          </a:rPr>
                        </m:ctrlPr>
                      </m:sSubPr>
                      <m:e>
                        <m:r>
                          <a:rPr lang="es-CR" i="1">
                            <a:latin typeface="Cambria Math" panose="02040503050406030204" pitchFamily="18" charset="0"/>
                            <a:ea typeface="Cambria Math" panose="02040503050406030204" pitchFamily="18" charset="0"/>
                          </a:rPr>
                          <m:t>𝜇</m:t>
                        </m:r>
                      </m:e>
                      <m:sub>
                        <m:r>
                          <a:rPr lang="es-CR" sz="2800" b="0" i="1" smtClean="0">
                            <a:latin typeface="Cambria Math" panose="02040503050406030204" pitchFamily="18" charset="0"/>
                            <a:ea typeface="Cambria Math" panose="02040503050406030204" pitchFamily="18" charset="0"/>
                          </a:rPr>
                          <m:t>0</m:t>
                        </m:r>
                      </m:sub>
                    </m:sSub>
                  </m:oMath>
                </a14:m>
                <a:r>
                  <a:rPr lang="es-CR" dirty="0"/>
                  <a:t> y existen tres posibles hipótesis alternativas compuestas:</a:t>
                </a:r>
              </a:p>
              <a:p>
                <a:pPr marL="0" indent="0">
                  <a:buNone/>
                </a:pPr>
                <a:endParaRPr lang="es-CR" dirty="0"/>
              </a:p>
              <a:p>
                <a:pPr marL="971550" lvl="1" indent="-514350">
                  <a:buFont typeface="+mj-lt"/>
                  <a:buAutoNum type="arabicPeriod"/>
                </a:pPr>
                <a14:m>
                  <m:oMath xmlns:m="http://schemas.openxmlformats.org/officeDocument/2006/math">
                    <m:sSub>
                      <m:sSubPr>
                        <m:ctrlPr>
                          <a:rPr lang="es-CR" sz="2400" i="1" smtClean="0">
                            <a:latin typeface="Cambria Math" panose="02040503050406030204" pitchFamily="18" charset="0"/>
                          </a:rPr>
                        </m:ctrlPr>
                      </m:sSubPr>
                      <m:e>
                        <m:r>
                          <a:rPr lang="es-CR" sz="2400" b="0" i="1" smtClean="0">
                            <a:latin typeface="Cambria Math" panose="02040503050406030204" pitchFamily="18" charset="0"/>
                          </a:rPr>
                          <m:t>𝐻</m:t>
                        </m:r>
                      </m:e>
                      <m:sub>
                        <m:r>
                          <a:rPr lang="es-CR" sz="2400" b="0" i="1" smtClean="0">
                            <a:latin typeface="Cambria Math" panose="02040503050406030204" pitchFamily="18" charset="0"/>
                          </a:rPr>
                          <m:t>1</m:t>
                        </m:r>
                      </m:sub>
                    </m:sSub>
                    <m:r>
                      <a:rPr lang="es-CR" sz="2400" b="0" i="1" smtClean="0">
                        <a:latin typeface="Cambria Math" panose="02040503050406030204" pitchFamily="18" charset="0"/>
                      </a:rPr>
                      <m:t>: </m:t>
                    </m:r>
                    <m:r>
                      <a:rPr lang="es-CR" sz="2400" b="0" i="1" smtClean="0">
                        <a:latin typeface="Cambria Math" panose="02040503050406030204" pitchFamily="18" charset="0"/>
                        <a:ea typeface="Cambria Math" panose="02040503050406030204" pitchFamily="18" charset="0"/>
                      </a:rPr>
                      <m:t>𝜇</m:t>
                    </m:r>
                    <m:r>
                      <a:rPr lang="es-CR" sz="2400" b="0" i="1" smtClean="0">
                        <a:latin typeface="Cambria Math" panose="02040503050406030204" pitchFamily="18" charset="0"/>
                        <a:ea typeface="Cambria Math" panose="02040503050406030204" pitchFamily="18" charset="0"/>
                      </a:rPr>
                      <m:t>&gt;</m:t>
                    </m:r>
                    <m:sSub>
                      <m:sSubPr>
                        <m:ctrlPr>
                          <a:rPr lang="es-CR" sz="2400" b="0" i="1" smtClean="0">
                            <a:latin typeface="Cambria Math" panose="02040503050406030204" pitchFamily="18" charset="0"/>
                            <a:ea typeface="Cambria Math" panose="02040503050406030204" pitchFamily="18" charset="0"/>
                          </a:rPr>
                        </m:ctrlPr>
                      </m:sSubPr>
                      <m:e>
                        <m:r>
                          <a:rPr lang="es-CR" i="1">
                            <a:latin typeface="Cambria Math" panose="02040503050406030204" pitchFamily="18" charset="0"/>
                            <a:ea typeface="Cambria Math" panose="02040503050406030204" pitchFamily="18" charset="0"/>
                          </a:rPr>
                          <m:t>𝜇</m:t>
                        </m:r>
                      </m:e>
                      <m:sub>
                        <m:r>
                          <a:rPr lang="es-CR" sz="2400" b="0" i="1" smtClean="0">
                            <a:latin typeface="Cambria Math" panose="02040503050406030204" pitchFamily="18" charset="0"/>
                            <a:ea typeface="Cambria Math" panose="02040503050406030204" pitchFamily="18" charset="0"/>
                          </a:rPr>
                          <m:t>0</m:t>
                        </m:r>
                      </m:sub>
                    </m:sSub>
                    <m:r>
                      <a:rPr lang="es-CR" i="1">
                        <a:latin typeface="Cambria Math" panose="02040503050406030204" pitchFamily="18" charset="0"/>
                        <a:ea typeface="Cambria Math" panose="02040503050406030204" pitchFamily="18" charset="0"/>
                      </a:rPr>
                      <m:t>:</m:t>
                    </m:r>
                    <m:r>
                      <a:rPr lang="es-CR" i="1">
                        <a:latin typeface="Cambria Math" panose="02040503050406030204" pitchFamily="18" charset="0"/>
                        <a:ea typeface="Cambria Math" panose="02040503050406030204" pitchFamily="18" charset="0"/>
                      </a:rPr>
                      <m:t>𝑞𝑢𝑒</m:t>
                    </m:r>
                    <m:r>
                      <a:rPr lang="es-CR" i="1">
                        <a:latin typeface="Cambria Math" panose="02040503050406030204" pitchFamily="18" charset="0"/>
                        <a:ea typeface="Cambria Math" panose="02040503050406030204" pitchFamily="18" charset="0"/>
                      </a:rPr>
                      <m:t> </m:t>
                    </m:r>
                    <m:r>
                      <a:rPr lang="es-CR" i="1">
                        <a:latin typeface="Cambria Math" panose="02040503050406030204" pitchFamily="18" charset="0"/>
                        <a:ea typeface="Cambria Math" panose="02040503050406030204" pitchFamily="18" charset="0"/>
                      </a:rPr>
                      <m:t>𝑙𝑎</m:t>
                    </m:r>
                    <m:r>
                      <a:rPr lang="es-CR" i="1">
                        <a:latin typeface="Cambria Math" panose="02040503050406030204" pitchFamily="18" charset="0"/>
                        <a:ea typeface="Cambria Math" panose="02040503050406030204" pitchFamily="18" charset="0"/>
                      </a:rPr>
                      <m:t> </m:t>
                    </m:r>
                    <m:r>
                      <a:rPr lang="es-CR" i="1">
                        <a:latin typeface="Cambria Math" panose="02040503050406030204" pitchFamily="18" charset="0"/>
                        <a:ea typeface="Cambria Math" panose="02040503050406030204" pitchFamily="18" charset="0"/>
                      </a:rPr>
                      <m:t>𝑚𝑒𝑑𝑖𝑎</m:t>
                    </m:r>
                    <m:r>
                      <a:rPr lang="es-CR" i="1">
                        <a:latin typeface="Cambria Math" panose="02040503050406030204" pitchFamily="18" charset="0"/>
                        <a:ea typeface="Cambria Math" panose="02040503050406030204" pitchFamily="18" charset="0"/>
                      </a:rPr>
                      <m:t> </m:t>
                    </m:r>
                    <m:r>
                      <a:rPr lang="es-CR" i="1">
                        <a:latin typeface="Cambria Math" panose="02040503050406030204" pitchFamily="18" charset="0"/>
                        <a:ea typeface="Cambria Math" panose="02040503050406030204" pitchFamily="18" charset="0"/>
                      </a:rPr>
                      <m:t>h𝑎𝑦𝑎</m:t>
                    </m:r>
                    <m:r>
                      <a:rPr lang="es-CR" i="1">
                        <a:latin typeface="Cambria Math" panose="02040503050406030204" pitchFamily="18" charset="0"/>
                        <a:ea typeface="Cambria Math" panose="02040503050406030204" pitchFamily="18" charset="0"/>
                      </a:rPr>
                      <m:t> </m:t>
                    </m:r>
                    <m:r>
                      <a:rPr lang="es-CR" i="1">
                        <a:latin typeface="Cambria Math" panose="02040503050406030204" pitchFamily="18" charset="0"/>
                        <a:ea typeface="Cambria Math" panose="02040503050406030204" pitchFamily="18" charset="0"/>
                      </a:rPr>
                      <m:t>𝑎𝑢𝑚𝑒𝑛𝑡𝑎𝑑𝑜</m:t>
                    </m:r>
                  </m:oMath>
                </a14:m>
                <a:endParaRPr lang="es-CR" sz="2400" b="0" dirty="0">
                  <a:ea typeface="Cambria Math" panose="02040503050406030204" pitchFamily="18" charset="0"/>
                </a:endParaRPr>
              </a:p>
              <a:p>
                <a:pPr marL="971550" lvl="1" indent="-514350">
                  <a:buFont typeface="+mj-lt"/>
                  <a:buAutoNum type="arabicPeriod"/>
                </a:pPr>
                <a14:m>
                  <m:oMath xmlns:m="http://schemas.openxmlformats.org/officeDocument/2006/math">
                    <m:sSub>
                      <m:sSubPr>
                        <m:ctrlPr>
                          <a:rPr lang="es-CR" sz="2400" i="1" smtClean="0">
                            <a:latin typeface="Cambria Math" panose="02040503050406030204" pitchFamily="18" charset="0"/>
                          </a:rPr>
                        </m:ctrlPr>
                      </m:sSubPr>
                      <m:e>
                        <m:r>
                          <a:rPr lang="es-CR" sz="2400" b="0" i="1" smtClean="0">
                            <a:latin typeface="Cambria Math" panose="02040503050406030204" pitchFamily="18" charset="0"/>
                          </a:rPr>
                          <m:t>𝐻</m:t>
                        </m:r>
                      </m:e>
                      <m:sub>
                        <m:r>
                          <a:rPr lang="es-CR" sz="2400" b="0" i="1" smtClean="0">
                            <a:latin typeface="Cambria Math" panose="02040503050406030204" pitchFamily="18" charset="0"/>
                          </a:rPr>
                          <m:t>1</m:t>
                        </m:r>
                      </m:sub>
                    </m:sSub>
                    <m:r>
                      <a:rPr lang="es-CR" sz="2400" b="0" i="1" smtClean="0">
                        <a:latin typeface="Cambria Math" panose="02040503050406030204" pitchFamily="18" charset="0"/>
                      </a:rPr>
                      <m:t>: </m:t>
                    </m:r>
                    <m:r>
                      <a:rPr lang="es-CR" sz="2400" b="0" i="1" smtClean="0">
                        <a:latin typeface="Cambria Math" panose="02040503050406030204" pitchFamily="18" charset="0"/>
                        <a:ea typeface="Cambria Math" panose="02040503050406030204" pitchFamily="18" charset="0"/>
                      </a:rPr>
                      <m:t>𝜇</m:t>
                    </m:r>
                    <m:r>
                      <a:rPr lang="es-CR" sz="2400" b="0" i="1" smtClean="0">
                        <a:latin typeface="Cambria Math" panose="02040503050406030204" pitchFamily="18" charset="0"/>
                        <a:ea typeface="Cambria Math" panose="02040503050406030204" pitchFamily="18" charset="0"/>
                      </a:rPr>
                      <m:t>&lt;</m:t>
                    </m:r>
                    <m:sSub>
                      <m:sSubPr>
                        <m:ctrlPr>
                          <a:rPr lang="es-CR" sz="2400" b="0" i="1" smtClean="0">
                            <a:latin typeface="Cambria Math" panose="02040503050406030204" pitchFamily="18" charset="0"/>
                            <a:ea typeface="Cambria Math" panose="02040503050406030204" pitchFamily="18" charset="0"/>
                          </a:rPr>
                        </m:ctrlPr>
                      </m:sSubPr>
                      <m:e>
                        <m:r>
                          <a:rPr lang="es-CR" i="1">
                            <a:latin typeface="Cambria Math" panose="02040503050406030204" pitchFamily="18" charset="0"/>
                            <a:ea typeface="Cambria Math" panose="02040503050406030204" pitchFamily="18" charset="0"/>
                          </a:rPr>
                          <m:t>𝜇</m:t>
                        </m:r>
                      </m:e>
                      <m:sub>
                        <m:r>
                          <a:rPr lang="es-CR" sz="2400" b="0" i="1" smtClean="0">
                            <a:latin typeface="Cambria Math" panose="02040503050406030204" pitchFamily="18" charset="0"/>
                            <a:ea typeface="Cambria Math" panose="02040503050406030204" pitchFamily="18" charset="0"/>
                          </a:rPr>
                          <m:t>0</m:t>
                        </m:r>
                      </m:sub>
                    </m:sSub>
                    <m:r>
                      <a:rPr lang="es-CR" sz="2400" b="0" i="1" smtClean="0">
                        <a:latin typeface="Cambria Math" panose="02040503050406030204" pitchFamily="18" charset="0"/>
                        <a:ea typeface="Cambria Math" panose="02040503050406030204" pitchFamily="18" charset="0"/>
                      </a:rPr>
                      <m:t>:</m:t>
                    </m:r>
                    <m:r>
                      <a:rPr lang="es-CR" sz="2400" b="0" i="1" smtClean="0">
                        <a:latin typeface="Cambria Math" panose="02040503050406030204" pitchFamily="18" charset="0"/>
                        <a:ea typeface="Cambria Math" panose="02040503050406030204" pitchFamily="18" charset="0"/>
                      </a:rPr>
                      <m:t>𝑞𝑢𝑒</m:t>
                    </m:r>
                    <m:r>
                      <a:rPr lang="es-CR" sz="2400" b="0" i="1" smtClean="0">
                        <a:latin typeface="Cambria Math" panose="02040503050406030204" pitchFamily="18" charset="0"/>
                        <a:ea typeface="Cambria Math" panose="02040503050406030204" pitchFamily="18" charset="0"/>
                      </a:rPr>
                      <m:t> </m:t>
                    </m:r>
                    <m:r>
                      <a:rPr lang="es-CR" sz="2400" b="0" i="1" smtClean="0">
                        <a:latin typeface="Cambria Math" panose="02040503050406030204" pitchFamily="18" charset="0"/>
                        <a:ea typeface="Cambria Math" panose="02040503050406030204" pitchFamily="18" charset="0"/>
                      </a:rPr>
                      <m:t>𝑙𝑎</m:t>
                    </m:r>
                    <m:r>
                      <a:rPr lang="es-CR" sz="2400" b="0" i="1" smtClean="0">
                        <a:latin typeface="Cambria Math" panose="02040503050406030204" pitchFamily="18" charset="0"/>
                        <a:ea typeface="Cambria Math" panose="02040503050406030204" pitchFamily="18" charset="0"/>
                      </a:rPr>
                      <m:t> </m:t>
                    </m:r>
                    <m:r>
                      <a:rPr lang="es-CR" sz="2400" b="0" i="1" smtClean="0">
                        <a:latin typeface="Cambria Math" panose="02040503050406030204" pitchFamily="18" charset="0"/>
                        <a:ea typeface="Cambria Math" panose="02040503050406030204" pitchFamily="18" charset="0"/>
                      </a:rPr>
                      <m:t>𝑚𝑒𝑑𝑖𝑎</m:t>
                    </m:r>
                    <m:r>
                      <a:rPr lang="es-CR" sz="2400" b="0" i="1" smtClean="0">
                        <a:latin typeface="Cambria Math" panose="02040503050406030204" pitchFamily="18" charset="0"/>
                        <a:ea typeface="Cambria Math" panose="02040503050406030204" pitchFamily="18" charset="0"/>
                      </a:rPr>
                      <m:t> </m:t>
                    </m:r>
                    <m:r>
                      <a:rPr lang="es-CR" sz="2400" b="0" i="1" smtClean="0">
                        <a:latin typeface="Cambria Math" panose="02040503050406030204" pitchFamily="18" charset="0"/>
                        <a:ea typeface="Cambria Math" panose="02040503050406030204" pitchFamily="18" charset="0"/>
                      </a:rPr>
                      <m:t>h𝑎𝑦𝑎</m:t>
                    </m:r>
                    <m:r>
                      <a:rPr lang="es-CR" sz="2400" b="0" i="1" smtClean="0">
                        <a:latin typeface="Cambria Math" panose="02040503050406030204" pitchFamily="18" charset="0"/>
                        <a:ea typeface="Cambria Math" panose="02040503050406030204" pitchFamily="18" charset="0"/>
                      </a:rPr>
                      <m:t> </m:t>
                    </m:r>
                    <m:r>
                      <a:rPr lang="es-CR" sz="2400" b="0" i="1" smtClean="0">
                        <a:latin typeface="Cambria Math" panose="02040503050406030204" pitchFamily="18" charset="0"/>
                        <a:ea typeface="Cambria Math" panose="02040503050406030204" pitchFamily="18" charset="0"/>
                      </a:rPr>
                      <m:t>𝑑𝑖𝑠𝑚𝑖𝑛𝑢𝑖𝑑𝑜</m:t>
                    </m:r>
                  </m:oMath>
                </a14:m>
                <a:endParaRPr lang="es-CR" dirty="0"/>
              </a:p>
              <a:p>
                <a:pPr marL="971550" lvl="1" indent="-514350">
                  <a:buFont typeface="+mj-lt"/>
                  <a:buAutoNum type="arabicPeriod"/>
                </a:pPr>
                <a14:m>
                  <m:oMath xmlns:m="http://schemas.openxmlformats.org/officeDocument/2006/math">
                    <m:sSub>
                      <m:sSubPr>
                        <m:ctrlPr>
                          <a:rPr lang="es-CR" sz="2400" i="1" smtClean="0">
                            <a:latin typeface="Cambria Math" panose="02040503050406030204" pitchFamily="18" charset="0"/>
                          </a:rPr>
                        </m:ctrlPr>
                      </m:sSubPr>
                      <m:e>
                        <m:r>
                          <a:rPr lang="es-CR" sz="2400" b="0" i="1" smtClean="0">
                            <a:latin typeface="Cambria Math" panose="02040503050406030204" pitchFamily="18" charset="0"/>
                          </a:rPr>
                          <m:t>𝐻</m:t>
                        </m:r>
                      </m:e>
                      <m:sub>
                        <m:r>
                          <a:rPr lang="es-CR" sz="2400" b="0" i="1" smtClean="0">
                            <a:latin typeface="Cambria Math" panose="02040503050406030204" pitchFamily="18" charset="0"/>
                          </a:rPr>
                          <m:t>1</m:t>
                        </m:r>
                      </m:sub>
                    </m:sSub>
                    <m:r>
                      <a:rPr lang="es-CR" sz="2400" b="0" i="1" smtClean="0">
                        <a:latin typeface="Cambria Math" panose="02040503050406030204" pitchFamily="18" charset="0"/>
                      </a:rPr>
                      <m:t>: </m:t>
                    </m:r>
                    <m:r>
                      <a:rPr lang="es-CR" sz="2400" b="0" i="1" smtClean="0">
                        <a:latin typeface="Cambria Math" panose="02040503050406030204" pitchFamily="18" charset="0"/>
                        <a:ea typeface="Cambria Math" panose="02040503050406030204" pitchFamily="18" charset="0"/>
                      </a:rPr>
                      <m:t>𝜇</m:t>
                    </m:r>
                    <m:r>
                      <a:rPr lang="es-CR" sz="2400" b="0" i="1" smtClean="0">
                        <a:latin typeface="Cambria Math" panose="02040503050406030204" pitchFamily="18" charset="0"/>
                        <a:ea typeface="Cambria Math" panose="02040503050406030204" pitchFamily="18" charset="0"/>
                      </a:rPr>
                      <m:t>≠</m:t>
                    </m:r>
                    <m:sSub>
                      <m:sSubPr>
                        <m:ctrlPr>
                          <a:rPr lang="es-CR" sz="2400" b="0" i="1" smtClean="0">
                            <a:latin typeface="Cambria Math" panose="02040503050406030204" pitchFamily="18" charset="0"/>
                            <a:ea typeface="Cambria Math" panose="02040503050406030204" pitchFamily="18" charset="0"/>
                          </a:rPr>
                        </m:ctrlPr>
                      </m:sSubPr>
                      <m:e>
                        <m:r>
                          <a:rPr lang="es-CR" i="1">
                            <a:latin typeface="Cambria Math" panose="02040503050406030204" pitchFamily="18" charset="0"/>
                            <a:ea typeface="Cambria Math" panose="02040503050406030204" pitchFamily="18" charset="0"/>
                          </a:rPr>
                          <m:t>𝜇</m:t>
                        </m:r>
                      </m:e>
                      <m:sub>
                        <m:r>
                          <a:rPr lang="es-CR" sz="2400" b="0" i="1" smtClean="0">
                            <a:latin typeface="Cambria Math" panose="02040503050406030204" pitchFamily="18" charset="0"/>
                            <a:ea typeface="Cambria Math" panose="02040503050406030204" pitchFamily="18" charset="0"/>
                          </a:rPr>
                          <m:t>0</m:t>
                        </m:r>
                      </m:sub>
                    </m:sSub>
                    <m:r>
                      <a:rPr lang="es-CR" sz="2400" b="0" i="1" smtClean="0">
                        <a:latin typeface="Cambria Math" panose="02040503050406030204" pitchFamily="18" charset="0"/>
                        <a:ea typeface="Cambria Math" panose="02040503050406030204" pitchFamily="18" charset="0"/>
                      </a:rPr>
                      <m:t>:</m:t>
                    </m:r>
                    <m:r>
                      <a:rPr lang="es-CR" sz="2400" b="0" i="1" smtClean="0">
                        <a:latin typeface="Cambria Math" panose="02040503050406030204" pitchFamily="18" charset="0"/>
                        <a:ea typeface="Cambria Math" panose="02040503050406030204" pitchFamily="18" charset="0"/>
                      </a:rPr>
                      <m:t>𝑞𝑢𝑒</m:t>
                    </m:r>
                    <m:r>
                      <a:rPr lang="es-CR" sz="2400" b="0" i="1" smtClean="0">
                        <a:latin typeface="Cambria Math" panose="02040503050406030204" pitchFamily="18" charset="0"/>
                        <a:ea typeface="Cambria Math" panose="02040503050406030204" pitchFamily="18" charset="0"/>
                      </a:rPr>
                      <m:t> </m:t>
                    </m:r>
                    <m:r>
                      <a:rPr lang="es-CR" sz="2400" b="0" i="1" smtClean="0">
                        <a:latin typeface="Cambria Math" panose="02040503050406030204" pitchFamily="18" charset="0"/>
                        <a:ea typeface="Cambria Math" panose="02040503050406030204" pitchFamily="18" charset="0"/>
                      </a:rPr>
                      <m:t>𝑙𝑎</m:t>
                    </m:r>
                    <m:r>
                      <a:rPr lang="es-CR" sz="2400" b="0" i="1" smtClean="0">
                        <a:latin typeface="Cambria Math" panose="02040503050406030204" pitchFamily="18" charset="0"/>
                        <a:ea typeface="Cambria Math" panose="02040503050406030204" pitchFamily="18" charset="0"/>
                      </a:rPr>
                      <m:t> </m:t>
                    </m:r>
                    <m:r>
                      <a:rPr lang="es-CR" sz="2400" b="0" i="1" smtClean="0">
                        <a:latin typeface="Cambria Math" panose="02040503050406030204" pitchFamily="18" charset="0"/>
                        <a:ea typeface="Cambria Math" panose="02040503050406030204" pitchFamily="18" charset="0"/>
                      </a:rPr>
                      <m:t>𝑚𝑒𝑑𝑖𝑎</m:t>
                    </m:r>
                    <m:r>
                      <a:rPr lang="es-CR" sz="2400" b="0" i="1" smtClean="0">
                        <a:latin typeface="Cambria Math" panose="02040503050406030204" pitchFamily="18" charset="0"/>
                        <a:ea typeface="Cambria Math" panose="02040503050406030204" pitchFamily="18" charset="0"/>
                      </a:rPr>
                      <m:t> </m:t>
                    </m:r>
                    <m:r>
                      <a:rPr lang="es-CR" sz="2400" b="0" i="1" smtClean="0">
                        <a:latin typeface="Cambria Math" panose="02040503050406030204" pitchFamily="18" charset="0"/>
                        <a:ea typeface="Cambria Math" panose="02040503050406030204" pitchFamily="18" charset="0"/>
                      </a:rPr>
                      <m:t>𝑠𝑒𝑎</m:t>
                    </m:r>
                    <m:r>
                      <a:rPr lang="es-CR" sz="2400" b="0" i="1" smtClean="0">
                        <a:latin typeface="Cambria Math" panose="02040503050406030204" pitchFamily="18" charset="0"/>
                        <a:ea typeface="Cambria Math" panose="02040503050406030204" pitchFamily="18" charset="0"/>
                      </a:rPr>
                      <m:t> </m:t>
                    </m:r>
                    <m:r>
                      <a:rPr lang="es-CR" sz="2400" b="0" i="1" smtClean="0">
                        <a:latin typeface="Cambria Math" panose="02040503050406030204" pitchFamily="18" charset="0"/>
                        <a:ea typeface="Cambria Math" panose="02040503050406030204" pitchFamily="18" charset="0"/>
                      </a:rPr>
                      <m:t>𝑑𝑖𝑓𝑒𝑟𝑒𝑛𝑡𝑒</m:t>
                    </m:r>
                  </m:oMath>
                </a14:m>
                <a:endParaRPr lang="es-CR" dirty="0"/>
              </a:p>
            </p:txBody>
          </p:sp>
        </mc:Choice>
        <mc:Fallback xmlns="">
          <p:sp>
            <p:nvSpPr>
              <p:cNvPr id="3" name="Content Placeholder 2">
                <a:extLst>
                  <a:ext uri="{FF2B5EF4-FFF2-40B4-BE49-F238E27FC236}">
                    <a16:creationId xmlns:a16="http://schemas.microsoft.com/office/drawing/2014/main" id="{C38BB78C-DA85-1BF0-E9DF-445D8F2E6FB9}"/>
                  </a:ext>
                </a:extLst>
              </p:cNvPr>
              <p:cNvSpPr>
                <a:spLocks noGrp="1" noRot="1" noChangeAspect="1" noMove="1" noResize="1" noEditPoints="1" noAdjustHandles="1" noChangeArrowheads="1" noChangeShapeType="1" noTextEdit="1"/>
              </p:cNvSpPr>
              <p:nvPr>
                <p:ph sz="half" idx="1"/>
              </p:nvPr>
            </p:nvSpPr>
            <p:spPr>
              <a:xfrm>
                <a:off x="838200" y="2067983"/>
                <a:ext cx="10451592" cy="3735410"/>
              </a:xfrm>
              <a:blipFill>
                <a:blip r:embed="rId2"/>
                <a:stretch>
                  <a:fillRect l="-1050" t="-2610"/>
                </a:stretch>
              </a:blipFill>
            </p:spPr>
            <p:txBody>
              <a:bodyPr/>
              <a:lstStyle/>
              <a:p>
                <a:r>
                  <a:rPr lang="es-CR">
                    <a:noFill/>
                  </a:rPr>
                  <a:t> </a:t>
                </a:r>
              </a:p>
            </p:txBody>
          </p:sp>
        </mc:Fallback>
      </mc:AlternateContent>
    </p:spTree>
    <p:extLst>
      <p:ext uri="{BB962C8B-B14F-4D97-AF65-F5344CB8AC3E}">
        <p14:creationId xmlns:p14="http://schemas.microsoft.com/office/powerpoint/2010/main" val="21082085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E10D0-43C0-FC42-FB78-6EE3675004FF}"/>
              </a:ext>
            </a:extLst>
          </p:cNvPr>
          <p:cNvSpPr>
            <a:spLocks noGrp="1"/>
          </p:cNvSpPr>
          <p:nvPr>
            <p:ph type="title"/>
          </p:nvPr>
        </p:nvSpPr>
        <p:spPr/>
        <p:txBody>
          <a:bodyPr/>
          <a:lstStyle/>
          <a:p>
            <a:r>
              <a:rPr lang="es-CR" dirty="0"/>
              <a:t>Prueba de hipótesis de una media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C11C1B0-E799-BE55-CBD4-067DAF1071A9}"/>
                  </a:ext>
                </a:extLst>
              </p:cNvPr>
              <p:cNvSpPr>
                <a:spLocks noGrp="1"/>
              </p:cNvSpPr>
              <p:nvPr>
                <p:ph sz="half" idx="1"/>
              </p:nvPr>
            </p:nvSpPr>
            <p:spPr>
              <a:xfrm>
                <a:off x="838199" y="2067983"/>
                <a:ext cx="10336877" cy="3735410"/>
              </a:xfrm>
            </p:spPr>
            <p:txBody>
              <a:bodyPr>
                <a:normAutofit lnSpcReduction="10000"/>
              </a:bodyPr>
              <a:lstStyle/>
              <a:p>
                <a:r>
                  <a:rPr lang="en-US" sz="2400" dirty="0"/>
                  <a:t>Para </a:t>
                </a:r>
                <a:r>
                  <a:rPr lang="en-US" sz="2400" dirty="0" err="1"/>
                  <a:t>probar</a:t>
                </a:r>
                <a:r>
                  <a:rPr lang="en-US" sz="2400" dirty="0"/>
                  <a:t> la </a:t>
                </a:r>
                <a14:m>
                  <m:oMath xmlns:m="http://schemas.openxmlformats.org/officeDocument/2006/math">
                    <m:sSub>
                      <m:sSubPr>
                        <m:ctrlPr>
                          <a:rPr lang="es-CR" sz="2400" i="1" smtClean="0">
                            <a:latin typeface="Cambria Math" panose="02040503050406030204" pitchFamily="18" charset="0"/>
                          </a:rPr>
                        </m:ctrlPr>
                      </m:sSubPr>
                      <m:e>
                        <m:r>
                          <a:rPr lang="es-CR" sz="2400" b="0" i="1" smtClean="0">
                            <a:latin typeface="Cambria Math" panose="02040503050406030204" pitchFamily="18" charset="0"/>
                          </a:rPr>
                          <m:t>𝐻</m:t>
                        </m:r>
                      </m:e>
                      <m:sub>
                        <m:r>
                          <a:rPr lang="es-CR" sz="2400" b="0" i="1" smtClean="0">
                            <a:latin typeface="Cambria Math" panose="02040503050406030204" pitchFamily="18" charset="0"/>
                          </a:rPr>
                          <m:t>0</m:t>
                        </m:r>
                      </m:sub>
                    </m:sSub>
                    <m:r>
                      <a:rPr lang="es-CR" sz="2400" b="0" i="1" smtClean="0">
                        <a:latin typeface="Cambria Math" panose="02040503050406030204" pitchFamily="18" charset="0"/>
                      </a:rPr>
                      <m:t>: </m:t>
                    </m:r>
                    <m:r>
                      <a:rPr lang="es-CR" sz="2400" b="0" i="1" smtClean="0">
                        <a:latin typeface="Cambria Math" panose="02040503050406030204" pitchFamily="18" charset="0"/>
                        <a:ea typeface="Cambria Math" panose="02040503050406030204" pitchFamily="18" charset="0"/>
                      </a:rPr>
                      <m:t>𝜇</m:t>
                    </m:r>
                    <m:r>
                      <a:rPr lang="es-CR" sz="2400" b="0" i="1" smtClean="0">
                        <a:latin typeface="Cambria Math" panose="02040503050406030204" pitchFamily="18" charset="0"/>
                        <a:ea typeface="Cambria Math" panose="02040503050406030204" pitchFamily="18" charset="0"/>
                      </a:rPr>
                      <m:t>=</m:t>
                    </m:r>
                    <m:sSub>
                      <m:sSubPr>
                        <m:ctrlPr>
                          <a:rPr lang="es-CR" sz="2400" b="0" i="1" smtClean="0">
                            <a:latin typeface="Cambria Math" panose="02040503050406030204" pitchFamily="18" charset="0"/>
                            <a:ea typeface="Cambria Math" panose="02040503050406030204" pitchFamily="18" charset="0"/>
                          </a:rPr>
                        </m:ctrlPr>
                      </m:sSubPr>
                      <m:e>
                        <m:r>
                          <a:rPr lang="es-CR" sz="2400" i="1">
                            <a:latin typeface="Cambria Math" panose="02040503050406030204" pitchFamily="18" charset="0"/>
                            <a:ea typeface="Cambria Math" panose="02040503050406030204" pitchFamily="18" charset="0"/>
                          </a:rPr>
                          <m:t>𝜇</m:t>
                        </m:r>
                      </m:e>
                      <m:sub>
                        <m:r>
                          <a:rPr lang="es-CR" sz="2400" b="0" i="1" smtClean="0">
                            <a:latin typeface="Cambria Math" panose="02040503050406030204" pitchFamily="18" charset="0"/>
                            <a:ea typeface="Cambria Math" panose="02040503050406030204" pitchFamily="18" charset="0"/>
                          </a:rPr>
                          <m:t>0</m:t>
                        </m:r>
                      </m:sub>
                    </m:sSub>
                  </m:oMath>
                </a14:m>
                <a:r>
                  <a:rPr lang="en-US" sz="2400" dirty="0"/>
                  <a:t> contra las hipótesis </a:t>
                </a:r>
                <a:r>
                  <a:rPr lang="en-US" sz="2400" dirty="0" err="1"/>
                  <a:t>alternativas</a:t>
                </a:r>
                <a:r>
                  <a:rPr lang="en-US" sz="2400" dirty="0"/>
                  <a:t>, se </a:t>
                </a:r>
                <a:r>
                  <a:rPr lang="en-US" sz="2400" dirty="0" err="1"/>
                  <a:t>toma</a:t>
                </a:r>
                <a:r>
                  <a:rPr lang="en-US" sz="2400" dirty="0"/>
                  <a:t> </a:t>
                </a:r>
                <a:r>
                  <a:rPr lang="en-US" sz="2400" dirty="0" err="1"/>
                  <a:t>una</a:t>
                </a:r>
                <a:r>
                  <a:rPr lang="en-US" sz="2400" dirty="0"/>
                  <a:t> </a:t>
                </a:r>
                <a:r>
                  <a:rPr lang="en-US" sz="2400" dirty="0" err="1"/>
                  <a:t>muestra</a:t>
                </a:r>
                <a:r>
                  <a:rPr lang="en-US" sz="2400" dirty="0"/>
                  <a:t> </a:t>
                </a:r>
                <a:r>
                  <a:rPr lang="en-US" sz="2400" dirty="0" err="1"/>
                  <a:t>aleatoria</a:t>
                </a:r>
                <a:r>
                  <a:rPr lang="en-US" sz="2400" dirty="0"/>
                  <a:t> de la </a:t>
                </a:r>
                <a:r>
                  <a:rPr lang="en-US" sz="2400" dirty="0" err="1"/>
                  <a:t>distribución</a:t>
                </a:r>
                <a:r>
                  <a:rPr lang="en-US" sz="2400" dirty="0"/>
                  <a:t> y se </a:t>
                </a:r>
                <a:r>
                  <a:rPr lang="en-US" sz="2400" dirty="0" err="1"/>
                  <a:t>calcula</a:t>
                </a:r>
                <a:r>
                  <a:rPr lang="en-US" sz="2400" dirty="0"/>
                  <a:t>  </a:t>
                </a:r>
                <a:r>
                  <a:rPr lang="en-US" sz="2400" dirty="0" err="1"/>
                  <a:t>una</a:t>
                </a:r>
                <a:r>
                  <a:rPr lang="en-US" sz="2400" dirty="0"/>
                  <a:t> media </a:t>
                </a:r>
                <a:r>
                  <a:rPr lang="en-US" sz="2400" dirty="0" err="1"/>
                  <a:t>muestral</a:t>
                </a:r>
                <a:r>
                  <a:rPr lang="en-US" sz="2400" dirty="0"/>
                  <a:t> (</a:t>
                </a:r>
                <a14:m>
                  <m:oMath xmlns:m="http://schemas.openxmlformats.org/officeDocument/2006/math">
                    <m:acc>
                      <m:accPr>
                        <m:chr m:val="̅"/>
                        <m:ctrlPr>
                          <a:rPr lang="en-US" sz="2400" i="1" smtClean="0">
                            <a:latin typeface="Cambria Math" panose="02040503050406030204" pitchFamily="18" charset="0"/>
                          </a:rPr>
                        </m:ctrlPr>
                      </m:accPr>
                      <m:e>
                        <m:r>
                          <a:rPr lang="en-US" sz="2400" b="0" i="1" smtClean="0">
                            <a:latin typeface="Cambria Math" panose="02040503050406030204" pitchFamily="18" charset="0"/>
                          </a:rPr>
                          <m:t>𝑥</m:t>
                        </m:r>
                      </m:e>
                    </m:acc>
                  </m:oMath>
                </a14:m>
                <a:r>
                  <a:rPr lang="en-US" sz="2400" dirty="0"/>
                  <a:t>). </a:t>
                </a:r>
              </a:p>
              <a:p>
                <a:r>
                  <a:rPr lang="en-US" sz="2400" dirty="0"/>
                  <a:t>Que tan </a:t>
                </a:r>
                <a:r>
                  <a:rPr lang="en-US" sz="2400" dirty="0" err="1"/>
                  <a:t>cerca</a:t>
                </a:r>
                <a:r>
                  <a:rPr lang="en-US" sz="2400" dirty="0"/>
                  <a:t> se </a:t>
                </a:r>
                <a:r>
                  <a:rPr lang="en-US" sz="2400" dirty="0" err="1"/>
                  <a:t>encuentre</a:t>
                </a:r>
                <a:r>
                  <a:rPr lang="en-US" sz="2400" dirty="0"/>
                  <a:t> la media </a:t>
                </a:r>
                <a:r>
                  <a:rPr lang="en-US" sz="2400" dirty="0" err="1"/>
                  <a:t>muestral</a:t>
                </a:r>
                <a:r>
                  <a:rPr lang="en-US" sz="2400" dirty="0"/>
                  <a:t> </a:t>
                </a:r>
                <a14:m>
                  <m:oMath xmlns:m="http://schemas.openxmlformats.org/officeDocument/2006/math">
                    <m:acc>
                      <m:accPr>
                        <m:chr m:val="̅"/>
                        <m:ctrlPr>
                          <a:rPr lang="en-US" sz="2400" i="1" smtClean="0">
                            <a:latin typeface="Cambria Math" panose="02040503050406030204" pitchFamily="18" charset="0"/>
                          </a:rPr>
                        </m:ctrlPr>
                      </m:accPr>
                      <m:e>
                        <m:r>
                          <a:rPr lang="en-US" sz="2400" b="0" i="1" smtClean="0">
                            <a:latin typeface="Cambria Math" panose="02040503050406030204" pitchFamily="18" charset="0"/>
                          </a:rPr>
                          <m:t>𝑥</m:t>
                        </m:r>
                      </m:e>
                    </m:acc>
                  </m:oMath>
                </a14:m>
                <a:r>
                  <a:rPr lang="es-CR" sz="2400" dirty="0"/>
                  <a:t> de la </a:t>
                </a:r>
                <a14:m>
                  <m:oMath xmlns:m="http://schemas.openxmlformats.org/officeDocument/2006/math">
                    <m:r>
                      <a:rPr lang="es-CR" sz="2400" i="1">
                        <a:latin typeface="Cambria Math" panose="02040503050406030204" pitchFamily="18" charset="0"/>
                        <a:ea typeface="Cambria Math" panose="02040503050406030204" pitchFamily="18" charset="0"/>
                      </a:rPr>
                      <m:t>𝜇</m:t>
                    </m:r>
                  </m:oMath>
                </a14:m>
                <a:r>
                  <a:rPr lang="es-CR" sz="2400" dirty="0"/>
                  <a:t> poblacional es medida en términos de desviaciones estándar de </a:t>
                </a:r>
                <a14:m>
                  <m:oMath xmlns:m="http://schemas.openxmlformats.org/officeDocument/2006/math">
                    <m:acc>
                      <m:accPr>
                        <m:chr m:val="̅"/>
                        <m:ctrlPr>
                          <a:rPr lang="en-US" sz="2400" i="1">
                            <a:latin typeface="Cambria Math" panose="02040503050406030204" pitchFamily="18" charset="0"/>
                          </a:rPr>
                        </m:ctrlPr>
                      </m:accPr>
                      <m:e>
                        <m:r>
                          <a:rPr lang="en-US" sz="2400" b="0" i="1" smtClean="0">
                            <a:latin typeface="Cambria Math" panose="02040503050406030204" pitchFamily="18" charset="0"/>
                          </a:rPr>
                          <m:t>𝑋</m:t>
                        </m:r>
                      </m:e>
                    </m:acc>
                  </m:oMath>
                </a14:m>
                <a:r>
                  <a:rPr lang="es-CR" sz="2400" dirty="0"/>
                  <a:t>, </a:t>
                </a:r>
                <a14:m>
                  <m:oMath xmlns:m="http://schemas.openxmlformats.org/officeDocument/2006/math">
                    <m:f>
                      <m:fPr>
                        <m:ctrlPr>
                          <a:rPr lang="en-US" sz="2400" b="0" i="1" smtClean="0">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𝜎</m:t>
                        </m:r>
                      </m:num>
                      <m:den>
                        <m:rad>
                          <m:radPr>
                            <m:degHide m:val="on"/>
                            <m:ctrlPr>
                              <a:rPr lang="en-US" sz="2400" b="0" i="1" smtClean="0">
                                <a:latin typeface="Cambria Math" panose="02040503050406030204" pitchFamily="18" charset="0"/>
                                <a:ea typeface="Cambria Math" panose="02040503050406030204" pitchFamily="18" charset="0"/>
                              </a:rPr>
                            </m:ctrlPr>
                          </m:radPr>
                          <m:deg/>
                          <m:e>
                            <m:r>
                              <a:rPr lang="en-US" sz="2400" b="0" i="1" smtClean="0">
                                <a:latin typeface="Cambria Math" panose="02040503050406030204" pitchFamily="18" charset="0"/>
                                <a:ea typeface="Cambria Math" panose="02040503050406030204" pitchFamily="18" charset="0"/>
                              </a:rPr>
                              <m:t>𝑛</m:t>
                            </m:r>
                          </m:e>
                        </m:rad>
                      </m:den>
                    </m:f>
                    <m:r>
                      <a:rPr lang="es-CR" sz="2400" b="0" i="1" smtClean="0">
                        <a:latin typeface="Cambria Math" panose="02040503050406030204" pitchFamily="18" charset="0"/>
                        <a:ea typeface="Cambria Math" panose="02040503050406030204" pitchFamily="18" charset="0"/>
                      </a:rPr>
                      <m:t>, </m:t>
                    </m:r>
                  </m:oMath>
                </a14:m>
                <a:r>
                  <a:rPr lang="es-CR" sz="2400" dirty="0"/>
                  <a:t>en donde la varianza es conocida</a:t>
                </a:r>
              </a:p>
              <a:p>
                <a:r>
                  <a:rPr lang="es-CR" sz="2400" dirty="0"/>
                  <a:t>El estadístico se calcula:  </a:t>
                </a:r>
                <a14:m>
                  <m:oMath xmlns:m="http://schemas.openxmlformats.org/officeDocument/2006/math">
                    <m:r>
                      <m:rPr>
                        <m:sty m:val="p"/>
                      </m:rPr>
                      <a:rPr lang="es-CR" sz="2400" b="0" i="0" smtClean="0">
                        <a:latin typeface="Cambria Math" panose="02040503050406030204" pitchFamily="18" charset="0"/>
                        <a:ea typeface="Cambria Math" panose="02040503050406030204" pitchFamily="18" charset="0"/>
                      </a:rPr>
                      <m:t>Z</m:t>
                    </m:r>
                    <m:r>
                      <a:rPr lang="es-CR" sz="2400" b="0" i="0" smtClean="0">
                        <a:latin typeface="Cambria Math" panose="02040503050406030204" pitchFamily="18" charset="0"/>
                        <a:ea typeface="Cambria Math" panose="02040503050406030204" pitchFamily="18" charset="0"/>
                      </a:rPr>
                      <m:t>=</m:t>
                    </m:r>
                    <m:f>
                      <m:fPr>
                        <m:ctrlPr>
                          <a:rPr lang="en-US" sz="2400" b="0" i="1" smtClean="0">
                            <a:latin typeface="Cambria Math" panose="02040503050406030204" pitchFamily="18" charset="0"/>
                            <a:ea typeface="Cambria Math" panose="02040503050406030204" pitchFamily="18" charset="0"/>
                          </a:rPr>
                        </m:ctrlPr>
                      </m:fPr>
                      <m:num>
                        <m:acc>
                          <m:accPr>
                            <m:chr m:val="̅"/>
                            <m:ctrlPr>
                              <a:rPr lang="en-US" sz="2400" i="1">
                                <a:latin typeface="Cambria Math" panose="02040503050406030204" pitchFamily="18" charset="0"/>
                              </a:rPr>
                            </m:ctrlPr>
                          </m:accPr>
                          <m:e>
                            <m:r>
                              <a:rPr lang="en-US" sz="2400" i="1">
                                <a:latin typeface="Cambria Math" panose="02040503050406030204" pitchFamily="18" charset="0"/>
                              </a:rPr>
                              <m:t>𝑋</m:t>
                            </m:r>
                          </m:e>
                        </m:acc>
                        <m:r>
                          <a:rPr lang="es-CR" sz="2400" b="0" i="1" smtClean="0">
                            <a:latin typeface="Cambria Math" panose="02040503050406030204" pitchFamily="18" charset="0"/>
                          </a:rPr>
                          <m:t>−</m:t>
                        </m:r>
                        <m:r>
                          <a:rPr lang="es-CR" sz="2400" i="1">
                            <a:latin typeface="Cambria Math" panose="02040503050406030204" pitchFamily="18" charset="0"/>
                            <a:ea typeface="Cambria Math" panose="02040503050406030204" pitchFamily="18" charset="0"/>
                          </a:rPr>
                          <m:t>𝜇</m:t>
                        </m:r>
                      </m:num>
                      <m:den>
                        <m:f>
                          <m:fPr>
                            <m:type m:val="skw"/>
                            <m:ctrlPr>
                              <a:rPr lang="en-US" sz="2400" b="0" i="1" smtClean="0">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𝜎</m:t>
                            </m:r>
                          </m:num>
                          <m:den>
                            <m:rad>
                              <m:radPr>
                                <m:degHide m:val="on"/>
                                <m:ctrlPr>
                                  <a:rPr lang="en-US" sz="2400" i="1">
                                    <a:latin typeface="Cambria Math" panose="02040503050406030204" pitchFamily="18" charset="0"/>
                                    <a:ea typeface="Cambria Math" panose="02040503050406030204" pitchFamily="18" charset="0"/>
                                  </a:rPr>
                                </m:ctrlPr>
                              </m:radPr>
                              <m:deg/>
                              <m:e>
                                <m:r>
                                  <a:rPr lang="en-US" sz="2400" i="1">
                                    <a:latin typeface="Cambria Math" panose="02040503050406030204" pitchFamily="18" charset="0"/>
                                    <a:ea typeface="Cambria Math" panose="02040503050406030204" pitchFamily="18" charset="0"/>
                                  </a:rPr>
                                  <m:t>𝑛</m:t>
                                </m:r>
                              </m:e>
                            </m:rad>
                          </m:den>
                        </m:f>
                      </m:den>
                    </m:f>
                  </m:oMath>
                </a14:m>
                <a:endParaRPr lang="es-CR" dirty="0"/>
              </a:p>
              <a:p>
                <a:r>
                  <a:rPr lang="es-CR" dirty="0"/>
                  <a:t>Si la varianza no es conocida, se utiliza el estimador insesgado de </a:t>
                </a:r>
                <a14:m>
                  <m:oMath xmlns:m="http://schemas.openxmlformats.org/officeDocument/2006/math">
                    <m:sSup>
                      <m:sSupPr>
                        <m:ctrlPr>
                          <a:rPr lang="en-US" sz="2800" b="0" i="1" smtClean="0">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𝜎</m:t>
                        </m:r>
                      </m:e>
                      <m:sup>
                        <m:r>
                          <a:rPr lang="es-CR" sz="2800" b="0" i="1" smtClean="0">
                            <a:latin typeface="Cambria Math" panose="02040503050406030204" pitchFamily="18" charset="0"/>
                            <a:ea typeface="Cambria Math" panose="02040503050406030204" pitchFamily="18" charset="0"/>
                          </a:rPr>
                          <m:t>2</m:t>
                        </m:r>
                      </m:sup>
                    </m:sSup>
                    <m:r>
                      <a:rPr lang="es-CR" sz="2800" b="0" i="1" smtClean="0">
                        <a:latin typeface="Cambria Math" panose="02040503050406030204" pitchFamily="18" charset="0"/>
                        <a:ea typeface="Cambria Math" panose="02040503050406030204" pitchFamily="18" charset="0"/>
                      </a:rPr>
                      <m:t>,  </m:t>
                    </m:r>
                    <m:sSup>
                      <m:sSupPr>
                        <m:ctrlPr>
                          <a:rPr lang="en-US" i="1">
                            <a:latin typeface="Cambria Math" panose="02040503050406030204" pitchFamily="18" charset="0"/>
                            <a:ea typeface="Cambria Math" panose="02040503050406030204" pitchFamily="18" charset="0"/>
                          </a:rPr>
                        </m:ctrlPr>
                      </m:sSupPr>
                      <m:e>
                        <m:r>
                          <a:rPr lang="es-CR" b="0" i="1" smtClean="0">
                            <a:latin typeface="Cambria Math" panose="02040503050406030204" pitchFamily="18" charset="0"/>
                            <a:ea typeface="Cambria Math" panose="02040503050406030204" pitchFamily="18" charset="0"/>
                          </a:rPr>
                          <m:t>𝑆</m:t>
                        </m:r>
                      </m:e>
                      <m:sup>
                        <m:r>
                          <a:rPr lang="es-CR" i="1">
                            <a:latin typeface="Cambria Math" panose="02040503050406030204" pitchFamily="18" charset="0"/>
                            <a:ea typeface="Cambria Math" panose="02040503050406030204" pitchFamily="18" charset="0"/>
                          </a:rPr>
                          <m:t>2</m:t>
                        </m:r>
                      </m:sup>
                    </m:sSup>
                    <m:r>
                      <a:rPr lang="es-CR" b="0" i="1" smtClean="0">
                        <a:latin typeface="Cambria Math" panose="02040503050406030204" pitchFamily="18" charset="0"/>
                        <a:ea typeface="Cambria Math" panose="02040503050406030204" pitchFamily="18" charset="0"/>
                      </a:rPr>
                      <m:t> </m:t>
                    </m:r>
                  </m:oMath>
                </a14:m>
                <a:r>
                  <a:rPr lang="es-CR" dirty="0"/>
                  <a:t>y se utiliza el estadístico </a:t>
                </a:r>
                <a14:m>
                  <m:oMath xmlns:m="http://schemas.openxmlformats.org/officeDocument/2006/math">
                    <m:r>
                      <m:rPr>
                        <m:sty m:val="p"/>
                      </m:rPr>
                      <a:rPr lang="es-CR" dirty="0">
                        <a:latin typeface="Cambria Math" panose="02040503050406030204" pitchFamily="18" charset="0"/>
                        <a:ea typeface="Cambria Math" panose="02040503050406030204" pitchFamily="18" charset="0"/>
                      </a:rPr>
                      <m:t>T</m:t>
                    </m:r>
                    <m:r>
                      <a:rPr lang="es-CR">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acc>
                          <m:accPr>
                            <m:chr m:val="̅"/>
                            <m:ctrlPr>
                              <a:rPr lang="en-US" i="1">
                                <a:latin typeface="Cambria Math" panose="02040503050406030204" pitchFamily="18" charset="0"/>
                              </a:rPr>
                            </m:ctrlPr>
                          </m:accPr>
                          <m:e>
                            <m:r>
                              <a:rPr lang="en-US" i="1">
                                <a:latin typeface="Cambria Math" panose="02040503050406030204" pitchFamily="18" charset="0"/>
                              </a:rPr>
                              <m:t>𝑋</m:t>
                            </m:r>
                          </m:e>
                        </m:acc>
                        <m:r>
                          <a:rPr lang="es-CR" i="1">
                            <a:latin typeface="Cambria Math" panose="02040503050406030204" pitchFamily="18" charset="0"/>
                          </a:rPr>
                          <m:t>−</m:t>
                        </m:r>
                        <m:r>
                          <a:rPr lang="es-CR" i="1">
                            <a:latin typeface="Cambria Math" panose="02040503050406030204" pitchFamily="18" charset="0"/>
                            <a:ea typeface="Cambria Math" panose="02040503050406030204" pitchFamily="18" charset="0"/>
                          </a:rPr>
                          <m:t>𝜇</m:t>
                        </m:r>
                      </m:num>
                      <m:den>
                        <m:f>
                          <m:fPr>
                            <m:type m:val="skw"/>
                            <m:ctrlPr>
                              <a:rPr lang="en-US" i="1">
                                <a:latin typeface="Cambria Math" panose="02040503050406030204" pitchFamily="18" charset="0"/>
                                <a:ea typeface="Cambria Math" panose="02040503050406030204" pitchFamily="18" charset="0"/>
                              </a:rPr>
                            </m:ctrlPr>
                          </m:fPr>
                          <m:num>
                            <m:r>
                              <a:rPr lang="es-CR" b="0" i="1" smtClean="0">
                                <a:latin typeface="Cambria Math" panose="02040503050406030204" pitchFamily="18" charset="0"/>
                                <a:ea typeface="Cambria Math" panose="02040503050406030204" pitchFamily="18" charset="0"/>
                              </a:rPr>
                              <m:t>𝑆</m:t>
                            </m:r>
                          </m:num>
                          <m:den>
                            <m:rad>
                              <m:radPr>
                                <m:degHide m:val="on"/>
                                <m:ctrlPr>
                                  <a:rPr lang="en-US" i="1">
                                    <a:latin typeface="Cambria Math" panose="02040503050406030204" pitchFamily="18" charset="0"/>
                                    <a:ea typeface="Cambria Math" panose="02040503050406030204" pitchFamily="18" charset="0"/>
                                  </a:rPr>
                                </m:ctrlPr>
                              </m:radPr>
                              <m:deg/>
                              <m:e>
                                <m:r>
                                  <a:rPr lang="en-US" i="1">
                                    <a:latin typeface="Cambria Math" panose="02040503050406030204" pitchFamily="18" charset="0"/>
                                    <a:ea typeface="Cambria Math" panose="02040503050406030204" pitchFamily="18" charset="0"/>
                                  </a:rPr>
                                  <m:t>𝑛</m:t>
                                </m:r>
                              </m:e>
                            </m:rad>
                          </m:den>
                        </m:f>
                      </m:den>
                    </m:f>
                  </m:oMath>
                </a14:m>
                <a:endParaRPr lang="es-CR" dirty="0"/>
              </a:p>
              <a:p>
                <a:endParaRPr lang="es-CR" dirty="0"/>
              </a:p>
              <a:p>
                <a:endParaRPr lang="es-CR" dirty="0"/>
              </a:p>
            </p:txBody>
          </p:sp>
        </mc:Choice>
        <mc:Fallback xmlns="">
          <p:sp>
            <p:nvSpPr>
              <p:cNvPr id="3" name="Content Placeholder 2">
                <a:extLst>
                  <a:ext uri="{FF2B5EF4-FFF2-40B4-BE49-F238E27FC236}">
                    <a16:creationId xmlns:a16="http://schemas.microsoft.com/office/drawing/2014/main" id="{9C11C1B0-E799-BE55-CBD4-067DAF1071A9}"/>
                  </a:ext>
                </a:extLst>
              </p:cNvPr>
              <p:cNvSpPr>
                <a:spLocks noGrp="1" noRot="1" noChangeAspect="1" noMove="1" noResize="1" noEditPoints="1" noAdjustHandles="1" noChangeArrowheads="1" noChangeShapeType="1" noTextEdit="1"/>
              </p:cNvSpPr>
              <p:nvPr>
                <p:ph sz="half" idx="1"/>
              </p:nvPr>
            </p:nvSpPr>
            <p:spPr>
              <a:xfrm>
                <a:off x="838199" y="2067983"/>
                <a:ext cx="10336877" cy="3735410"/>
              </a:xfrm>
              <a:blipFill>
                <a:blip r:embed="rId3"/>
                <a:stretch>
                  <a:fillRect l="-1002" t="-3100"/>
                </a:stretch>
              </a:blipFill>
            </p:spPr>
            <p:txBody>
              <a:bodyPr/>
              <a:lstStyle/>
              <a:p>
                <a:r>
                  <a:rPr lang="es-CR">
                    <a:noFill/>
                  </a:rPr>
                  <a:t> </a:t>
                </a:r>
              </a:p>
            </p:txBody>
          </p:sp>
        </mc:Fallback>
      </mc:AlternateContent>
    </p:spTree>
    <p:extLst>
      <p:ext uri="{BB962C8B-B14F-4D97-AF65-F5344CB8AC3E}">
        <p14:creationId xmlns:p14="http://schemas.microsoft.com/office/powerpoint/2010/main" val="39849668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8FC9B-23D4-A125-F335-8CCC652DB209}"/>
              </a:ext>
            </a:extLst>
          </p:cNvPr>
          <p:cNvSpPr>
            <a:spLocks noGrp="1"/>
          </p:cNvSpPr>
          <p:nvPr>
            <p:ph type="title"/>
          </p:nvPr>
        </p:nvSpPr>
        <p:spPr/>
        <p:txBody>
          <a:bodyPr>
            <a:normAutofit fontScale="90000"/>
          </a:bodyPr>
          <a:lstStyle/>
          <a:p>
            <a:r>
              <a:rPr lang="en-US" dirty="0" err="1"/>
              <a:t>Prueba</a:t>
            </a:r>
            <a:r>
              <a:rPr lang="en-US" dirty="0"/>
              <a:t> de hipótesis de </a:t>
            </a:r>
            <a:r>
              <a:rPr lang="en-US" dirty="0" err="1"/>
              <a:t>una</a:t>
            </a:r>
            <a:r>
              <a:rPr lang="en-US" dirty="0"/>
              <a:t> media, </a:t>
            </a:r>
            <a:r>
              <a:rPr lang="en-US" dirty="0" err="1"/>
              <a:t>varianza</a:t>
            </a:r>
            <a:r>
              <a:rPr lang="en-US" dirty="0"/>
              <a:t> </a:t>
            </a:r>
            <a:r>
              <a:rPr lang="en-US" dirty="0" err="1"/>
              <a:t>conocida</a:t>
            </a:r>
            <a:endParaRPr lang="es-CR" dirty="0"/>
          </a:p>
        </p:txBody>
      </p:sp>
      <p:pic>
        <p:nvPicPr>
          <p:cNvPr id="6" name="Picture 5">
            <a:extLst>
              <a:ext uri="{FF2B5EF4-FFF2-40B4-BE49-F238E27FC236}">
                <a16:creationId xmlns:a16="http://schemas.microsoft.com/office/drawing/2014/main" id="{FF7FEEF0-29CD-CF25-9C48-2C2391B89FA0}"/>
              </a:ext>
            </a:extLst>
          </p:cNvPr>
          <p:cNvPicPr>
            <a:picLocks/>
          </p:cNvPicPr>
          <p:nvPr/>
        </p:nvPicPr>
        <p:blipFill>
          <a:blip r:embed="rId2"/>
          <a:stretch>
            <a:fillRect/>
          </a:stretch>
        </p:blipFill>
        <p:spPr>
          <a:xfrm>
            <a:off x="1060704" y="2075688"/>
            <a:ext cx="9628632" cy="2734056"/>
          </a:xfrm>
          <a:prstGeom prst="rect">
            <a:avLst/>
          </a:prstGeom>
        </p:spPr>
      </p:pic>
      <p:sp>
        <p:nvSpPr>
          <p:cNvPr id="8" name="TextBox 7">
            <a:extLst>
              <a:ext uri="{FF2B5EF4-FFF2-40B4-BE49-F238E27FC236}">
                <a16:creationId xmlns:a16="http://schemas.microsoft.com/office/drawing/2014/main" id="{2CD1D452-C13E-F860-FF33-2045BA131761}"/>
              </a:ext>
            </a:extLst>
          </p:cNvPr>
          <p:cNvSpPr txBox="1"/>
          <p:nvPr/>
        </p:nvSpPr>
        <p:spPr>
          <a:xfrm>
            <a:off x="1367444" y="5344406"/>
            <a:ext cx="6096000" cy="369332"/>
          </a:xfrm>
          <a:prstGeom prst="rect">
            <a:avLst/>
          </a:prstGeom>
          <a:noFill/>
        </p:spPr>
        <p:txBody>
          <a:bodyPr wrap="square">
            <a:spAutoFit/>
          </a:bodyPr>
          <a:lstStyle/>
          <a:p>
            <a:r>
              <a:rPr lang="en-US" sz="1800" i="1" dirty="0"/>
              <a:t>Fuente</a:t>
            </a:r>
            <a:r>
              <a:rPr lang="es-CR" sz="1800" i="1" dirty="0"/>
              <a:t>: </a:t>
            </a:r>
            <a:r>
              <a:rPr lang="es-CR" sz="1800" i="1" dirty="0" err="1"/>
              <a:t>Hogg</a:t>
            </a:r>
            <a:r>
              <a:rPr lang="es-CR" sz="1800" i="1" dirty="0"/>
              <a:t>, p 366</a:t>
            </a:r>
            <a:r>
              <a:rPr lang="es-CR" sz="1800" dirty="0"/>
              <a:t> </a:t>
            </a:r>
            <a:endParaRPr lang="es-CR" dirty="0"/>
          </a:p>
        </p:txBody>
      </p:sp>
    </p:spTree>
    <p:extLst>
      <p:ext uri="{BB962C8B-B14F-4D97-AF65-F5344CB8AC3E}">
        <p14:creationId xmlns:p14="http://schemas.microsoft.com/office/powerpoint/2010/main" val="11098235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1E02C-674E-9B08-3B09-C2F526F85B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23008F-CB30-5386-81A2-AFA18397AC4F}"/>
              </a:ext>
            </a:extLst>
          </p:cNvPr>
          <p:cNvSpPr>
            <a:spLocks noGrp="1"/>
          </p:cNvSpPr>
          <p:nvPr>
            <p:ph type="title"/>
          </p:nvPr>
        </p:nvSpPr>
        <p:spPr/>
        <p:txBody>
          <a:bodyPr>
            <a:normAutofit fontScale="90000"/>
          </a:bodyPr>
          <a:lstStyle/>
          <a:p>
            <a:r>
              <a:rPr lang="en-US" dirty="0" err="1"/>
              <a:t>Prueba</a:t>
            </a:r>
            <a:r>
              <a:rPr lang="en-US" dirty="0"/>
              <a:t> de hipótesis de </a:t>
            </a:r>
            <a:r>
              <a:rPr lang="en-US" dirty="0" err="1"/>
              <a:t>una</a:t>
            </a:r>
            <a:r>
              <a:rPr lang="en-US" dirty="0"/>
              <a:t> media, </a:t>
            </a:r>
            <a:r>
              <a:rPr lang="en-US" dirty="0" err="1"/>
              <a:t>varianza</a:t>
            </a:r>
            <a:r>
              <a:rPr lang="en-US" dirty="0"/>
              <a:t> </a:t>
            </a:r>
            <a:r>
              <a:rPr lang="en-US" dirty="0" err="1"/>
              <a:t>desconocida</a:t>
            </a:r>
            <a:endParaRPr lang="es-CR" dirty="0"/>
          </a:p>
        </p:txBody>
      </p:sp>
      <p:sp>
        <p:nvSpPr>
          <p:cNvPr id="8" name="TextBox 7">
            <a:extLst>
              <a:ext uri="{FF2B5EF4-FFF2-40B4-BE49-F238E27FC236}">
                <a16:creationId xmlns:a16="http://schemas.microsoft.com/office/drawing/2014/main" id="{85281A66-9E72-ACF5-2328-5926ABCD5A31}"/>
              </a:ext>
            </a:extLst>
          </p:cNvPr>
          <p:cNvSpPr txBox="1"/>
          <p:nvPr/>
        </p:nvSpPr>
        <p:spPr>
          <a:xfrm>
            <a:off x="1367444" y="5344406"/>
            <a:ext cx="6096000" cy="369332"/>
          </a:xfrm>
          <a:prstGeom prst="rect">
            <a:avLst/>
          </a:prstGeom>
          <a:noFill/>
        </p:spPr>
        <p:txBody>
          <a:bodyPr wrap="square">
            <a:spAutoFit/>
          </a:bodyPr>
          <a:lstStyle/>
          <a:p>
            <a:r>
              <a:rPr lang="en-US" sz="1800" i="1" dirty="0"/>
              <a:t>Fuente</a:t>
            </a:r>
            <a:r>
              <a:rPr lang="es-CR" sz="1800" i="1" dirty="0"/>
              <a:t>: </a:t>
            </a:r>
            <a:r>
              <a:rPr lang="es-CR" sz="1800" i="1" dirty="0" err="1"/>
              <a:t>Hogg</a:t>
            </a:r>
            <a:r>
              <a:rPr lang="es-CR" sz="1800" i="1" dirty="0"/>
              <a:t>, p 367</a:t>
            </a:r>
            <a:r>
              <a:rPr lang="es-CR" sz="1800" dirty="0"/>
              <a:t> </a:t>
            </a:r>
            <a:endParaRPr lang="es-CR" dirty="0"/>
          </a:p>
        </p:txBody>
      </p:sp>
      <p:pic>
        <p:nvPicPr>
          <p:cNvPr id="4" name="Picture 3">
            <a:extLst>
              <a:ext uri="{FF2B5EF4-FFF2-40B4-BE49-F238E27FC236}">
                <a16:creationId xmlns:a16="http://schemas.microsoft.com/office/drawing/2014/main" id="{41DDCB6D-0580-F091-9FA4-E022EE624E83}"/>
              </a:ext>
            </a:extLst>
          </p:cNvPr>
          <p:cNvPicPr>
            <a:picLocks noChangeAspect="1"/>
          </p:cNvPicPr>
          <p:nvPr/>
        </p:nvPicPr>
        <p:blipFill>
          <a:blip r:embed="rId2"/>
          <a:stretch>
            <a:fillRect/>
          </a:stretch>
        </p:blipFill>
        <p:spPr>
          <a:xfrm>
            <a:off x="1062644" y="2075292"/>
            <a:ext cx="9624094" cy="2731799"/>
          </a:xfrm>
          <a:prstGeom prst="rect">
            <a:avLst/>
          </a:prstGeom>
        </p:spPr>
      </p:pic>
    </p:spTree>
    <p:extLst>
      <p:ext uri="{BB962C8B-B14F-4D97-AF65-F5344CB8AC3E}">
        <p14:creationId xmlns:p14="http://schemas.microsoft.com/office/powerpoint/2010/main" val="6911981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53FF4-D689-0FE9-8852-E314080AB2C6}"/>
              </a:ext>
            </a:extLst>
          </p:cNvPr>
          <p:cNvSpPr>
            <a:spLocks noGrp="1"/>
          </p:cNvSpPr>
          <p:nvPr>
            <p:ph type="title"/>
          </p:nvPr>
        </p:nvSpPr>
        <p:spPr/>
        <p:txBody>
          <a:bodyPr/>
          <a:lstStyle/>
          <a:p>
            <a:r>
              <a:rPr lang="es-CR" dirty="0"/>
              <a:t>Región de Rechazo</a:t>
            </a:r>
          </a:p>
        </p:txBody>
      </p:sp>
      <p:pic>
        <p:nvPicPr>
          <p:cNvPr id="6" name="Content Placeholder 5">
            <a:extLst>
              <a:ext uri="{FF2B5EF4-FFF2-40B4-BE49-F238E27FC236}">
                <a16:creationId xmlns:a16="http://schemas.microsoft.com/office/drawing/2014/main" id="{7A891220-2ECD-B20F-C79B-29FE10099E0A}"/>
              </a:ext>
            </a:extLst>
          </p:cNvPr>
          <p:cNvPicPr>
            <a:picLocks noGrp="1" noChangeAspect="1"/>
          </p:cNvPicPr>
          <p:nvPr>
            <p:ph sz="half" idx="1"/>
          </p:nvPr>
        </p:nvPicPr>
        <p:blipFill>
          <a:blip r:embed="rId2"/>
          <a:stretch>
            <a:fillRect/>
          </a:stretch>
        </p:blipFill>
        <p:spPr>
          <a:xfrm>
            <a:off x="7629474" y="2306500"/>
            <a:ext cx="3960131" cy="3280886"/>
          </a:xfr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C80913B-D06A-0373-DF4E-2522978F38C5}"/>
                  </a:ext>
                </a:extLst>
              </p:cNvPr>
              <p:cNvSpPr txBox="1"/>
              <p:nvPr/>
            </p:nvSpPr>
            <p:spPr>
              <a:xfrm>
                <a:off x="7992965" y="2121834"/>
                <a:ext cx="318211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CR" sz="1800" b="1" i="1" smtClean="0">
                              <a:latin typeface="Cambria Math" panose="02040503050406030204" pitchFamily="18" charset="0"/>
                            </a:rPr>
                          </m:ctrlPr>
                        </m:sSubPr>
                        <m:e>
                          <m:r>
                            <a:rPr lang="es-CR" sz="1800" b="1" i="1" smtClean="0">
                              <a:latin typeface="Cambria Math" panose="02040503050406030204" pitchFamily="18" charset="0"/>
                            </a:rPr>
                            <m:t>𝑯</m:t>
                          </m:r>
                        </m:e>
                        <m:sub>
                          <m:r>
                            <a:rPr lang="es-CR" sz="1800" b="1" i="1" smtClean="0">
                              <a:latin typeface="Cambria Math" panose="02040503050406030204" pitchFamily="18" charset="0"/>
                            </a:rPr>
                            <m:t>𝟏</m:t>
                          </m:r>
                        </m:sub>
                      </m:sSub>
                      <m:r>
                        <a:rPr lang="es-CR" sz="1800" b="1" i="1" smtClean="0">
                          <a:latin typeface="Cambria Math" panose="02040503050406030204" pitchFamily="18" charset="0"/>
                        </a:rPr>
                        <m:t>: </m:t>
                      </m:r>
                      <m:r>
                        <a:rPr lang="es-CR" sz="1800" b="1" i="1" smtClean="0">
                          <a:latin typeface="Cambria Math" panose="02040503050406030204" pitchFamily="18" charset="0"/>
                          <a:ea typeface="Cambria Math" panose="02040503050406030204" pitchFamily="18" charset="0"/>
                        </a:rPr>
                        <m:t>𝝁</m:t>
                      </m:r>
                      <m:r>
                        <a:rPr lang="es-CR" sz="1800" b="1" i="1" smtClean="0">
                          <a:latin typeface="Cambria Math" panose="02040503050406030204" pitchFamily="18" charset="0"/>
                          <a:ea typeface="Cambria Math" panose="02040503050406030204" pitchFamily="18" charset="0"/>
                        </a:rPr>
                        <m:t>≠</m:t>
                      </m:r>
                      <m:sSub>
                        <m:sSubPr>
                          <m:ctrlPr>
                            <a:rPr lang="es-CR" sz="1800" b="1" i="1" smtClean="0">
                              <a:latin typeface="Cambria Math" panose="02040503050406030204" pitchFamily="18" charset="0"/>
                              <a:ea typeface="Cambria Math" panose="02040503050406030204" pitchFamily="18" charset="0"/>
                            </a:rPr>
                          </m:ctrlPr>
                        </m:sSubPr>
                        <m:e>
                          <m:r>
                            <a:rPr lang="es-CR" b="1" i="1">
                              <a:latin typeface="Cambria Math" panose="02040503050406030204" pitchFamily="18" charset="0"/>
                              <a:ea typeface="Cambria Math" panose="02040503050406030204" pitchFamily="18" charset="0"/>
                            </a:rPr>
                            <m:t>𝝁</m:t>
                          </m:r>
                        </m:e>
                        <m:sub>
                          <m:r>
                            <a:rPr lang="es-CR" sz="1800" b="1" i="1" smtClean="0">
                              <a:latin typeface="Cambria Math" panose="02040503050406030204" pitchFamily="18" charset="0"/>
                              <a:ea typeface="Cambria Math" panose="02040503050406030204" pitchFamily="18" charset="0"/>
                            </a:rPr>
                            <m:t>𝟎</m:t>
                          </m:r>
                        </m:sub>
                      </m:sSub>
                    </m:oMath>
                  </m:oMathPara>
                </a14:m>
                <a:endParaRPr lang="es-CR" b="1" dirty="0"/>
              </a:p>
            </p:txBody>
          </p:sp>
        </mc:Choice>
        <mc:Fallback xmlns="">
          <p:sp>
            <p:nvSpPr>
              <p:cNvPr id="9" name="TextBox 8">
                <a:extLst>
                  <a:ext uri="{FF2B5EF4-FFF2-40B4-BE49-F238E27FC236}">
                    <a16:creationId xmlns:a16="http://schemas.microsoft.com/office/drawing/2014/main" id="{6C80913B-D06A-0373-DF4E-2522978F38C5}"/>
                  </a:ext>
                </a:extLst>
              </p:cNvPr>
              <p:cNvSpPr txBox="1">
                <a:spLocks noRot="1" noChangeAspect="1" noMove="1" noResize="1" noEditPoints="1" noAdjustHandles="1" noChangeArrowheads="1" noChangeShapeType="1" noTextEdit="1"/>
              </p:cNvSpPr>
              <p:nvPr/>
            </p:nvSpPr>
            <p:spPr>
              <a:xfrm>
                <a:off x="7992965" y="2121834"/>
                <a:ext cx="3182112" cy="369332"/>
              </a:xfrm>
              <a:prstGeom prst="rect">
                <a:avLst/>
              </a:prstGeom>
              <a:blipFill>
                <a:blip r:embed="rId3"/>
                <a:stretch>
                  <a:fillRect b="-3279"/>
                </a:stretch>
              </a:blipFill>
            </p:spPr>
            <p:txBody>
              <a:bodyPr/>
              <a:lstStyle/>
              <a:p>
                <a:r>
                  <a:rPr lang="es-CR">
                    <a:noFill/>
                  </a:rPr>
                  <a:t> </a:t>
                </a:r>
              </a:p>
            </p:txBody>
          </p:sp>
        </mc:Fallback>
      </mc:AlternateContent>
      <p:pic>
        <p:nvPicPr>
          <p:cNvPr id="11" name="Picture 10">
            <a:extLst>
              <a:ext uri="{FF2B5EF4-FFF2-40B4-BE49-F238E27FC236}">
                <a16:creationId xmlns:a16="http://schemas.microsoft.com/office/drawing/2014/main" id="{D385F67E-6C55-A9A4-C44A-BCC7452FFA3F}"/>
              </a:ext>
            </a:extLst>
          </p:cNvPr>
          <p:cNvPicPr>
            <a:picLocks noChangeAspect="1"/>
          </p:cNvPicPr>
          <p:nvPr/>
        </p:nvPicPr>
        <p:blipFill>
          <a:blip r:embed="rId4"/>
          <a:stretch>
            <a:fillRect/>
          </a:stretch>
        </p:blipFill>
        <p:spPr>
          <a:xfrm>
            <a:off x="111296" y="2491166"/>
            <a:ext cx="4567714" cy="4031554"/>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82274A0-D4BB-368C-5760-D97232EF47D0}"/>
                  </a:ext>
                </a:extLst>
              </p:cNvPr>
              <p:cNvSpPr txBox="1"/>
              <p:nvPr/>
            </p:nvSpPr>
            <p:spPr>
              <a:xfrm>
                <a:off x="1016924" y="1937168"/>
                <a:ext cx="318211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CR" sz="1800" b="1" i="1" smtClean="0">
                              <a:latin typeface="Cambria Math" panose="02040503050406030204" pitchFamily="18" charset="0"/>
                            </a:rPr>
                          </m:ctrlPr>
                        </m:sSubPr>
                        <m:e>
                          <m:r>
                            <a:rPr lang="es-CR" sz="1800" b="1" i="1" smtClean="0">
                              <a:latin typeface="Cambria Math" panose="02040503050406030204" pitchFamily="18" charset="0"/>
                            </a:rPr>
                            <m:t>𝑯</m:t>
                          </m:r>
                        </m:e>
                        <m:sub>
                          <m:r>
                            <a:rPr lang="es-CR" sz="1800" b="1" i="1" smtClean="0">
                              <a:latin typeface="Cambria Math" panose="02040503050406030204" pitchFamily="18" charset="0"/>
                            </a:rPr>
                            <m:t>𝟏</m:t>
                          </m:r>
                        </m:sub>
                      </m:sSub>
                      <m:r>
                        <a:rPr lang="es-CR" sz="1800" b="1" i="1" smtClean="0">
                          <a:latin typeface="Cambria Math" panose="02040503050406030204" pitchFamily="18" charset="0"/>
                        </a:rPr>
                        <m:t>: </m:t>
                      </m:r>
                      <m:r>
                        <a:rPr lang="es-CR" sz="1800" b="1" i="1" smtClean="0">
                          <a:latin typeface="Cambria Math" panose="02040503050406030204" pitchFamily="18" charset="0"/>
                          <a:ea typeface="Cambria Math" panose="02040503050406030204" pitchFamily="18" charset="0"/>
                        </a:rPr>
                        <m:t>𝝁</m:t>
                      </m:r>
                      <m:r>
                        <a:rPr lang="es-CR" sz="1800" b="1" i="1" smtClean="0">
                          <a:latin typeface="Cambria Math" panose="02040503050406030204" pitchFamily="18" charset="0"/>
                          <a:ea typeface="Cambria Math" panose="02040503050406030204" pitchFamily="18" charset="0"/>
                        </a:rPr>
                        <m:t>≥</m:t>
                      </m:r>
                      <m:sSub>
                        <m:sSubPr>
                          <m:ctrlPr>
                            <a:rPr lang="es-CR" sz="1800" b="1" i="1" smtClean="0">
                              <a:latin typeface="Cambria Math" panose="02040503050406030204" pitchFamily="18" charset="0"/>
                              <a:ea typeface="Cambria Math" panose="02040503050406030204" pitchFamily="18" charset="0"/>
                            </a:rPr>
                          </m:ctrlPr>
                        </m:sSubPr>
                        <m:e>
                          <m:r>
                            <a:rPr lang="es-CR" b="1" i="1">
                              <a:latin typeface="Cambria Math" panose="02040503050406030204" pitchFamily="18" charset="0"/>
                              <a:ea typeface="Cambria Math" panose="02040503050406030204" pitchFamily="18" charset="0"/>
                            </a:rPr>
                            <m:t>𝝁</m:t>
                          </m:r>
                        </m:e>
                        <m:sub>
                          <m:r>
                            <a:rPr lang="es-CR" sz="1800" b="1" i="1" smtClean="0">
                              <a:latin typeface="Cambria Math" panose="02040503050406030204" pitchFamily="18" charset="0"/>
                              <a:ea typeface="Cambria Math" panose="02040503050406030204" pitchFamily="18" charset="0"/>
                            </a:rPr>
                            <m:t>𝟎</m:t>
                          </m:r>
                        </m:sub>
                      </m:sSub>
                    </m:oMath>
                  </m:oMathPara>
                </a14:m>
                <a:endParaRPr lang="es-CR" b="1" dirty="0"/>
              </a:p>
            </p:txBody>
          </p:sp>
        </mc:Choice>
        <mc:Fallback xmlns="">
          <p:sp>
            <p:nvSpPr>
              <p:cNvPr id="12" name="TextBox 11">
                <a:extLst>
                  <a:ext uri="{FF2B5EF4-FFF2-40B4-BE49-F238E27FC236}">
                    <a16:creationId xmlns:a16="http://schemas.microsoft.com/office/drawing/2014/main" id="{F82274A0-D4BB-368C-5760-D97232EF47D0}"/>
                  </a:ext>
                </a:extLst>
              </p:cNvPr>
              <p:cNvSpPr txBox="1">
                <a:spLocks noRot="1" noChangeAspect="1" noMove="1" noResize="1" noEditPoints="1" noAdjustHandles="1" noChangeArrowheads="1" noChangeShapeType="1" noTextEdit="1"/>
              </p:cNvSpPr>
              <p:nvPr/>
            </p:nvSpPr>
            <p:spPr>
              <a:xfrm>
                <a:off x="1016924" y="1937168"/>
                <a:ext cx="3182112" cy="369332"/>
              </a:xfrm>
              <a:prstGeom prst="rect">
                <a:avLst/>
              </a:prstGeom>
              <a:blipFill>
                <a:blip r:embed="rId5"/>
                <a:stretch>
                  <a:fillRect b="-5000"/>
                </a:stretch>
              </a:blipFill>
            </p:spPr>
            <p:txBody>
              <a:bodyPr/>
              <a:lstStyle/>
              <a:p>
                <a:r>
                  <a:rPr lang="es-CR">
                    <a:noFill/>
                  </a:rPr>
                  <a:t> </a:t>
                </a:r>
              </a:p>
            </p:txBody>
          </p:sp>
        </mc:Fallback>
      </mc:AlternateContent>
    </p:spTree>
    <p:extLst>
      <p:ext uri="{BB962C8B-B14F-4D97-AF65-F5344CB8AC3E}">
        <p14:creationId xmlns:p14="http://schemas.microsoft.com/office/powerpoint/2010/main" val="33183191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3EED8-AAAD-06ED-DE7B-F4A342AD9910}"/>
              </a:ext>
            </a:extLst>
          </p:cNvPr>
          <p:cNvSpPr>
            <a:spLocks noGrp="1"/>
          </p:cNvSpPr>
          <p:nvPr>
            <p:ph type="title"/>
          </p:nvPr>
        </p:nvSpPr>
        <p:spPr/>
        <p:txBody>
          <a:bodyPr/>
          <a:lstStyle/>
          <a:p>
            <a:r>
              <a:rPr lang="en-US" dirty="0" err="1"/>
              <a:t>Resumen</a:t>
            </a:r>
            <a:endParaRPr lang="es-CR" dirty="0"/>
          </a:p>
        </p:txBody>
      </p:sp>
      <p:pic>
        <p:nvPicPr>
          <p:cNvPr id="6" name="Picture 5">
            <a:extLst>
              <a:ext uri="{FF2B5EF4-FFF2-40B4-BE49-F238E27FC236}">
                <a16:creationId xmlns:a16="http://schemas.microsoft.com/office/drawing/2014/main" id="{CCA31585-08B0-2973-0242-E71037E2D531}"/>
              </a:ext>
            </a:extLst>
          </p:cNvPr>
          <p:cNvPicPr>
            <a:picLocks noChangeAspect="1"/>
          </p:cNvPicPr>
          <p:nvPr/>
        </p:nvPicPr>
        <p:blipFill>
          <a:blip r:embed="rId2"/>
          <a:stretch>
            <a:fillRect/>
          </a:stretch>
        </p:blipFill>
        <p:spPr>
          <a:xfrm>
            <a:off x="1139918" y="1739938"/>
            <a:ext cx="9912164" cy="3916388"/>
          </a:xfrm>
          <a:prstGeom prst="rect">
            <a:avLst/>
          </a:prstGeom>
        </p:spPr>
      </p:pic>
    </p:spTree>
    <p:extLst>
      <p:ext uri="{BB962C8B-B14F-4D97-AF65-F5344CB8AC3E}">
        <p14:creationId xmlns:p14="http://schemas.microsoft.com/office/powerpoint/2010/main" val="34522815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BE8BF-8145-B196-F6BD-562BC5A852E9}"/>
              </a:ext>
            </a:extLst>
          </p:cNvPr>
          <p:cNvSpPr>
            <a:spLocks noGrp="1"/>
          </p:cNvSpPr>
          <p:nvPr>
            <p:ph type="title"/>
          </p:nvPr>
        </p:nvSpPr>
        <p:spPr/>
        <p:txBody>
          <a:bodyPr/>
          <a:lstStyle/>
          <a:p>
            <a:r>
              <a:rPr lang="en-US" dirty="0" err="1"/>
              <a:t>Tabla</a:t>
            </a:r>
            <a:r>
              <a:rPr lang="en-US" dirty="0"/>
              <a:t> de la </a:t>
            </a:r>
            <a:r>
              <a:rPr lang="en-US" dirty="0" err="1"/>
              <a:t>Distribución</a:t>
            </a:r>
            <a:r>
              <a:rPr lang="en-US" dirty="0"/>
              <a:t> Normal </a:t>
            </a:r>
            <a:r>
              <a:rPr lang="en-US" dirty="0" err="1"/>
              <a:t>Estándar</a:t>
            </a:r>
            <a:endParaRPr lang="es-CR" dirty="0"/>
          </a:p>
        </p:txBody>
      </p:sp>
      <p:pic>
        <p:nvPicPr>
          <p:cNvPr id="6" name="Picture 5">
            <a:extLst>
              <a:ext uri="{FF2B5EF4-FFF2-40B4-BE49-F238E27FC236}">
                <a16:creationId xmlns:a16="http://schemas.microsoft.com/office/drawing/2014/main" id="{459B65FB-4B33-D0DA-5348-68336505F521}"/>
              </a:ext>
            </a:extLst>
          </p:cNvPr>
          <p:cNvPicPr>
            <a:picLocks noChangeAspect="1"/>
          </p:cNvPicPr>
          <p:nvPr/>
        </p:nvPicPr>
        <p:blipFill>
          <a:blip r:embed="rId3"/>
          <a:stretch>
            <a:fillRect/>
          </a:stretch>
        </p:blipFill>
        <p:spPr>
          <a:xfrm>
            <a:off x="3397111" y="1456963"/>
            <a:ext cx="5397777" cy="5143764"/>
          </a:xfrm>
          <a:prstGeom prst="rect">
            <a:avLst/>
          </a:prstGeom>
        </p:spPr>
      </p:pic>
    </p:spTree>
    <p:extLst>
      <p:ext uri="{BB962C8B-B14F-4D97-AF65-F5344CB8AC3E}">
        <p14:creationId xmlns:p14="http://schemas.microsoft.com/office/powerpoint/2010/main" val="23577790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07B2E-7912-5300-63CC-858B67FDF7FA}"/>
              </a:ext>
            </a:extLst>
          </p:cNvPr>
          <p:cNvSpPr>
            <a:spLocks noGrp="1"/>
          </p:cNvSpPr>
          <p:nvPr>
            <p:ph type="title"/>
          </p:nvPr>
        </p:nvSpPr>
        <p:spPr/>
        <p:txBody>
          <a:bodyPr/>
          <a:lstStyle/>
          <a:p>
            <a:r>
              <a:rPr lang="en-US" dirty="0" err="1"/>
              <a:t>Recordando</a:t>
            </a:r>
            <a:r>
              <a:rPr lang="en-US" dirty="0"/>
              <a:t> </a:t>
            </a:r>
            <a:r>
              <a:rPr lang="en-US" dirty="0" err="1"/>
              <a:t>distribución</a:t>
            </a:r>
            <a:r>
              <a:rPr lang="en-US" dirty="0"/>
              <a:t> normal…</a:t>
            </a:r>
            <a:endParaRPr lang="es-CR"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4AF371C-AAB2-7A26-CD50-E4D8050A0AFC}"/>
                  </a:ext>
                </a:extLst>
              </p:cNvPr>
              <p:cNvSpPr txBox="1"/>
              <p:nvPr/>
            </p:nvSpPr>
            <p:spPr>
              <a:xfrm>
                <a:off x="914400" y="1901952"/>
                <a:ext cx="10375392" cy="4381584"/>
              </a:xfrm>
              <a:prstGeom prst="rect">
                <a:avLst/>
              </a:prstGeom>
              <a:noFill/>
            </p:spPr>
            <p:txBody>
              <a:bodyPr wrap="square" rtlCol="0">
                <a:spAutoFit/>
              </a:bodyPr>
              <a:lstStyle/>
              <a:p>
                <a:pPr algn="just"/>
                <a:endParaRPr lang="es-CR" b="1" i="1" dirty="0"/>
              </a:p>
              <a:p>
                <a:pPr algn="just"/>
                <a:r>
                  <a:rPr lang="es-CR" b="1" i="1" dirty="0"/>
                  <a:t>                        </a:t>
                </a:r>
                <a:r>
                  <a:rPr lang="es-CR" b="1" i="1" dirty="0" err="1"/>
                  <a:t>Pdf</a:t>
                </a:r>
                <a:r>
                  <a:rPr lang="es-CR" b="1" i="1" dirty="0"/>
                  <a:t>: </a:t>
                </a:r>
                <a14:m>
                  <m:oMath xmlns:m="http://schemas.openxmlformats.org/officeDocument/2006/math">
                    <m:r>
                      <a:rPr lang="es-CR" b="1" i="1" smtClean="0">
                        <a:latin typeface="Cambria Math" panose="02040503050406030204" pitchFamily="18" charset="0"/>
                      </a:rPr>
                      <m:t>𝒇</m:t>
                    </m:r>
                    <m:d>
                      <m:dPr>
                        <m:ctrlPr>
                          <a:rPr lang="es-CR" b="1" i="1" smtClean="0">
                            <a:latin typeface="Cambria Math" panose="02040503050406030204" pitchFamily="18" charset="0"/>
                          </a:rPr>
                        </m:ctrlPr>
                      </m:dPr>
                      <m:e>
                        <m:r>
                          <a:rPr lang="es-CR" b="1" i="1" smtClean="0">
                            <a:latin typeface="Cambria Math" panose="02040503050406030204" pitchFamily="18" charset="0"/>
                          </a:rPr>
                          <m:t>𝒙</m:t>
                        </m:r>
                      </m:e>
                    </m:d>
                    <m:r>
                      <a:rPr lang="es-CR" b="1" i="1" smtClean="0">
                        <a:latin typeface="Cambria Math" panose="02040503050406030204" pitchFamily="18" charset="0"/>
                      </a:rPr>
                      <m:t>=</m:t>
                    </m:r>
                    <m:f>
                      <m:fPr>
                        <m:ctrlPr>
                          <a:rPr lang="es-CR" b="1" i="1" smtClean="0">
                            <a:latin typeface="Cambria Math" panose="02040503050406030204" pitchFamily="18" charset="0"/>
                          </a:rPr>
                        </m:ctrlPr>
                      </m:fPr>
                      <m:num>
                        <m:r>
                          <a:rPr lang="es-CR" b="1" i="1" smtClean="0">
                            <a:latin typeface="Cambria Math" panose="02040503050406030204" pitchFamily="18" charset="0"/>
                          </a:rPr>
                          <m:t>𝟏</m:t>
                        </m:r>
                      </m:num>
                      <m:den>
                        <m:rad>
                          <m:radPr>
                            <m:degHide m:val="on"/>
                            <m:ctrlPr>
                              <a:rPr lang="es-CR" b="1" i="1" smtClean="0">
                                <a:latin typeface="Cambria Math" panose="02040503050406030204" pitchFamily="18" charset="0"/>
                              </a:rPr>
                            </m:ctrlPr>
                          </m:radPr>
                          <m:deg/>
                          <m:e>
                            <m:r>
                              <a:rPr lang="es-CR" b="1" i="1" smtClean="0">
                                <a:latin typeface="Cambria Math" panose="02040503050406030204" pitchFamily="18" charset="0"/>
                              </a:rPr>
                              <m:t>𝟐</m:t>
                            </m:r>
                            <m:r>
                              <a:rPr lang="es-CR" b="1" i="1" smtClean="0">
                                <a:latin typeface="Cambria Math" panose="02040503050406030204" pitchFamily="18" charset="0"/>
                                <a:ea typeface="Cambria Math" panose="02040503050406030204" pitchFamily="18" charset="0"/>
                              </a:rPr>
                              <m:t>𝝅</m:t>
                            </m:r>
                            <m:sSup>
                              <m:sSupPr>
                                <m:ctrlPr>
                                  <a:rPr lang="es-CR" b="1" i="1" smtClean="0">
                                    <a:latin typeface="Cambria Math" panose="02040503050406030204" pitchFamily="18" charset="0"/>
                                    <a:ea typeface="Cambria Math" panose="02040503050406030204" pitchFamily="18" charset="0"/>
                                  </a:rPr>
                                </m:ctrlPr>
                              </m:sSupPr>
                              <m:e>
                                <m:r>
                                  <a:rPr lang="es-CR" b="1" i="1">
                                    <a:latin typeface="Cambria Math" panose="02040503050406030204" pitchFamily="18" charset="0"/>
                                    <a:ea typeface="Cambria Math" panose="02040503050406030204" pitchFamily="18" charset="0"/>
                                  </a:rPr>
                                  <m:t>𝝈</m:t>
                                </m:r>
                              </m:e>
                              <m:sup>
                                <m:r>
                                  <a:rPr lang="es-CR" b="1" i="1" smtClean="0">
                                    <a:latin typeface="Cambria Math" panose="02040503050406030204" pitchFamily="18" charset="0"/>
                                    <a:ea typeface="Cambria Math" panose="02040503050406030204" pitchFamily="18" charset="0"/>
                                  </a:rPr>
                                  <m:t>𝟐</m:t>
                                </m:r>
                              </m:sup>
                            </m:sSup>
                          </m:e>
                        </m:rad>
                      </m:den>
                    </m:f>
                    <m:r>
                      <a:rPr lang="es-CR" b="1" i="1" smtClean="0">
                        <a:latin typeface="Cambria Math" panose="02040503050406030204" pitchFamily="18" charset="0"/>
                      </a:rPr>
                      <m:t>𝒆𝒙𝒑</m:t>
                    </m:r>
                    <m:d>
                      <m:dPr>
                        <m:begChr m:val="{"/>
                        <m:endChr m:val="}"/>
                        <m:ctrlPr>
                          <a:rPr lang="es-CR" b="1" i="1" smtClean="0">
                            <a:latin typeface="Cambria Math" panose="02040503050406030204" pitchFamily="18" charset="0"/>
                          </a:rPr>
                        </m:ctrlPr>
                      </m:dPr>
                      <m:e>
                        <m:r>
                          <a:rPr lang="es-CR" b="1" i="1" smtClean="0">
                            <a:latin typeface="Cambria Math" panose="02040503050406030204" pitchFamily="18" charset="0"/>
                          </a:rPr>
                          <m:t>−</m:t>
                        </m:r>
                        <m:f>
                          <m:fPr>
                            <m:ctrlPr>
                              <a:rPr lang="es-CR" b="1" i="1" smtClean="0">
                                <a:latin typeface="Cambria Math" panose="02040503050406030204" pitchFamily="18" charset="0"/>
                              </a:rPr>
                            </m:ctrlPr>
                          </m:fPr>
                          <m:num>
                            <m:sSup>
                              <m:sSupPr>
                                <m:ctrlPr>
                                  <a:rPr lang="es-CR" b="1" i="1" smtClean="0">
                                    <a:latin typeface="Cambria Math" panose="02040503050406030204" pitchFamily="18" charset="0"/>
                                  </a:rPr>
                                </m:ctrlPr>
                              </m:sSupPr>
                              <m:e>
                                <m:r>
                                  <a:rPr lang="es-CR" b="1" i="1" smtClean="0">
                                    <a:latin typeface="Cambria Math" panose="02040503050406030204" pitchFamily="18" charset="0"/>
                                  </a:rPr>
                                  <m:t>(</m:t>
                                </m:r>
                                <m:r>
                                  <a:rPr lang="es-CR" b="1" i="1" smtClean="0">
                                    <a:latin typeface="Cambria Math" panose="02040503050406030204" pitchFamily="18" charset="0"/>
                                  </a:rPr>
                                  <m:t>𝒙</m:t>
                                </m:r>
                                <m:r>
                                  <a:rPr lang="es-CR" b="1" i="1" smtClean="0">
                                    <a:latin typeface="Cambria Math" panose="02040503050406030204" pitchFamily="18" charset="0"/>
                                  </a:rPr>
                                  <m:t>− </m:t>
                                </m:r>
                                <m:r>
                                  <a:rPr lang="es-CR" b="1" i="1" smtClean="0">
                                    <a:latin typeface="Cambria Math" panose="02040503050406030204" pitchFamily="18" charset="0"/>
                                    <a:ea typeface="Cambria Math" panose="02040503050406030204" pitchFamily="18" charset="0"/>
                                  </a:rPr>
                                  <m:t>𝝁</m:t>
                                </m:r>
                                <m:r>
                                  <a:rPr lang="es-CR" b="1" i="1" smtClean="0">
                                    <a:latin typeface="Cambria Math" panose="02040503050406030204" pitchFamily="18" charset="0"/>
                                  </a:rPr>
                                  <m:t>)</m:t>
                                </m:r>
                              </m:e>
                              <m:sup>
                                <m:r>
                                  <a:rPr lang="es-CR" b="1" i="1" smtClean="0">
                                    <a:latin typeface="Cambria Math" panose="02040503050406030204" pitchFamily="18" charset="0"/>
                                  </a:rPr>
                                  <m:t>𝟐</m:t>
                                </m:r>
                              </m:sup>
                            </m:sSup>
                          </m:num>
                          <m:den>
                            <m:r>
                              <a:rPr lang="es-CR" b="1" i="1" smtClean="0">
                                <a:latin typeface="Cambria Math" panose="02040503050406030204" pitchFamily="18" charset="0"/>
                              </a:rPr>
                              <m:t>𝟐</m:t>
                            </m:r>
                            <m:sSup>
                              <m:sSupPr>
                                <m:ctrlPr>
                                  <a:rPr lang="es-CR" b="1" i="1" smtClean="0">
                                    <a:latin typeface="Cambria Math" panose="02040503050406030204" pitchFamily="18" charset="0"/>
                                  </a:rPr>
                                </m:ctrlPr>
                              </m:sSupPr>
                              <m:e>
                                <m:r>
                                  <a:rPr lang="es-CR" b="1" i="1" smtClean="0">
                                    <a:latin typeface="Cambria Math" panose="02040503050406030204" pitchFamily="18" charset="0"/>
                                    <a:ea typeface="Cambria Math" panose="02040503050406030204" pitchFamily="18" charset="0"/>
                                  </a:rPr>
                                  <m:t>𝝈</m:t>
                                </m:r>
                              </m:e>
                              <m:sup>
                                <m:r>
                                  <a:rPr lang="es-CR" b="1" i="1" smtClean="0">
                                    <a:latin typeface="Cambria Math" panose="02040503050406030204" pitchFamily="18" charset="0"/>
                                  </a:rPr>
                                  <m:t>𝟐</m:t>
                                </m:r>
                              </m:sup>
                            </m:sSup>
                          </m:den>
                        </m:f>
                      </m:e>
                    </m:d>
                    <m:r>
                      <a:rPr lang="es-CR" b="1" i="1" smtClean="0">
                        <a:latin typeface="Cambria Math" panose="02040503050406030204" pitchFamily="18" charset="0"/>
                      </a:rPr>
                      <m:t>, −</m:t>
                    </m:r>
                    <m:r>
                      <a:rPr lang="es-CR" b="1" i="1" smtClean="0">
                        <a:latin typeface="Cambria Math" panose="02040503050406030204" pitchFamily="18" charset="0"/>
                        <a:ea typeface="Cambria Math" panose="02040503050406030204" pitchFamily="18" charset="0"/>
                      </a:rPr>
                      <m:t>∞&lt;</m:t>
                    </m:r>
                    <m:r>
                      <a:rPr lang="es-CR" b="1" i="1" smtClean="0">
                        <a:latin typeface="Cambria Math" panose="02040503050406030204" pitchFamily="18" charset="0"/>
                        <a:ea typeface="Cambria Math" panose="02040503050406030204" pitchFamily="18" charset="0"/>
                      </a:rPr>
                      <m:t>𝒙</m:t>
                    </m:r>
                    <m:r>
                      <a:rPr lang="es-CR" b="1" i="1" smtClean="0">
                        <a:latin typeface="Cambria Math" panose="02040503050406030204" pitchFamily="18" charset="0"/>
                        <a:ea typeface="Cambria Math" panose="02040503050406030204" pitchFamily="18" charset="0"/>
                      </a:rPr>
                      <m:t>&lt;∞</m:t>
                    </m:r>
                  </m:oMath>
                </a14:m>
                <a:endParaRPr lang="es-CR" b="1" i="1" dirty="0">
                  <a:latin typeface="Cambria Math" panose="02040503050406030204" pitchFamily="18" charset="0"/>
                </a:endParaRPr>
              </a:p>
              <a:p>
                <a:pPr algn="just"/>
                <a:endParaRPr lang="es-CR" b="1" i="1" dirty="0">
                  <a:latin typeface="Cambria Math" panose="02040503050406030204" pitchFamily="18" charset="0"/>
                </a:endParaRPr>
              </a:p>
              <a:p>
                <a:pPr algn="just"/>
                <a:r>
                  <a:rPr lang="es-CR" b="1" i="1" dirty="0"/>
                  <a:t> 	</a:t>
                </a:r>
                <a:r>
                  <a:rPr lang="es-CR" b="1" i="1" dirty="0" err="1"/>
                  <a:t>Pdf</a:t>
                </a:r>
                <a:r>
                  <a:rPr lang="es-CR" b="1" i="1" dirty="0"/>
                  <a:t> Distribución normal Estándar: </a:t>
                </a:r>
                <a14:m>
                  <m:oMath xmlns:m="http://schemas.openxmlformats.org/officeDocument/2006/math">
                    <m:r>
                      <a:rPr lang="es-CR" b="1" i="1" smtClean="0">
                        <a:latin typeface="Cambria Math" panose="02040503050406030204" pitchFamily="18" charset="0"/>
                      </a:rPr>
                      <m:t>𝒇</m:t>
                    </m:r>
                    <m:d>
                      <m:dPr>
                        <m:ctrlPr>
                          <a:rPr lang="es-CR" b="1" i="1" smtClean="0">
                            <a:latin typeface="Cambria Math" panose="02040503050406030204" pitchFamily="18" charset="0"/>
                          </a:rPr>
                        </m:ctrlPr>
                      </m:dPr>
                      <m:e>
                        <m:r>
                          <a:rPr lang="es-CR" b="1" i="1" smtClean="0">
                            <a:latin typeface="Cambria Math" panose="02040503050406030204" pitchFamily="18" charset="0"/>
                          </a:rPr>
                          <m:t>𝒙</m:t>
                        </m:r>
                      </m:e>
                    </m:d>
                    <m:r>
                      <a:rPr lang="es-CR" b="1" i="1" smtClean="0">
                        <a:latin typeface="Cambria Math" panose="02040503050406030204" pitchFamily="18" charset="0"/>
                      </a:rPr>
                      <m:t>=</m:t>
                    </m:r>
                    <m:f>
                      <m:fPr>
                        <m:ctrlPr>
                          <a:rPr lang="es-CR" b="1" i="1" smtClean="0">
                            <a:latin typeface="Cambria Math" panose="02040503050406030204" pitchFamily="18" charset="0"/>
                          </a:rPr>
                        </m:ctrlPr>
                      </m:fPr>
                      <m:num>
                        <m:r>
                          <a:rPr lang="es-CR" b="1" i="1" smtClean="0">
                            <a:latin typeface="Cambria Math" panose="02040503050406030204" pitchFamily="18" charset="0"/>
                          </a:rPr>
                          <m:t>𝟏</m:t>
                        </m:r>
                      </m:num>
                      <m:den>
                        <m:rad>
                          <m:radPr>
                            <m:degHide m:val="on"/>
                            <m:ctrlPr>
                              <a:rPr lang="es-CR" b="1" i="1" smtClean="0">
                                <a:latin typeface="Cambria Math" panose="02040503050406030204" pitchFamily="18" charset="0"/>
                              </a:rPr>
                            </m:ctrlPr>
                          </m:radPr>
                          <m:deg/>
                          <m:e>
                            <m:r>
                              <a:rPr lang="es-CR" b="1" i="1" smtClean="0">
                                <a:latin typeface="Cambria Math" panose="02040503050406030204" pitchFamily="18" charset="0"/>
                              </a:rPr>
                              <m:t>𝟐</m:t>
                            </m:r>
                            <m:r>
                              <a:rPr lang="es-CR" b="1" i="1" smtClean="0">
                                <a:latin typeface="Cambria Math" panose="02040503050406030204" pitchFamily="18" charset="0"/>
                                <a:ea typeface="Cambria Math" panose="02040503050406030204" pitchFamily="18" charset="0"/>
                              </a:rPr>
                              <m:t>𝝅</m:t>
                            </m:r>
                            <m:sSup>
                              <m:sSupPr>
                                <m:ctrlPr>
                                  <a:rPr lang="es-CR" b="1" i="1">
                                    <a:latin typeface="Cambria Math" panose="02040503050406030204" pitchFamily="18" charset="0"/>
                                  </a:rPr>
                                </m:ctrlPr>
                              </m:sSupPr>
                              <m:e>
                                <m:r>
                                  <a:rPr lang="en-US" b="1" i="1">
                                    <a:latin typeface="Cambria Math" panose="02040503050406030204" pitchFamily="18" charset="0"/>
                                    <a:ea typeface="Cambria Math" panose="02040503050406030204" pitchFamily="18" charset="0"/>
                                  </a:rPr>
                                  <m:t>𝟏</m:t>
                                </m:r>
                              </m:e>
                              <m:sup>
                                <m:r>
                                  <a:rPr lang="es-CR" b="1" i="1">
                                    <a:latin typeface="Cambria Math" panose="02040503050406030204" pitchFamily="18" charset="0"/>
                                  </a:rPr>
                                  <m:t>𝟐</m:t>
                                </m:r>
                              </m:sup>
                            </m:sSup>
                          </m:e>
                        </m:rad>
                      </m:den>
                    </m:f>
                    <m:r>
                      <a:rPr lang="es-CR" b="1" i="1" smtClean="0">
                        <a:latin typeface="Cambria Math" panose="02040503050406030204" pitchFamily="18" charset="0"/>
                      </a:rPr>
                      <m:t>𝒆𝒙𝒑</m:t>
                    </m:r>
                    <m:d>
                      <m:dPr>
                        <m:begChr m:val="{"/>
                        <m:endChr m:val="}"/>
                        <m:ctrlPr>
                          <a:rPr lang="es-CR" b="1" i="1" smtClean="0">
                            <a:latin typeface="Cambria Math" panose="02040503050406030204" pitchFamily="18" charset="0"/>
                          </a:rPr>
                        </m:ctrlPr>
                      </m:dPr>
                      <m:e>
                        <m:r>
                          <a:rPr lang="es-CR" b="1" i="1" smtClean="0">
                            <a:latin typeface="Cambria Math" panose="02040503050406030204" pitchFamily="18" charset="0"/>
                          </a:rPr>
                          <m:t>−</m:t>
                        </m:r>
                        <m:f>
                          <m:fPr>
                            <m:ctrlPr>
                              <a:rPr lang="es-CR" b="1" i="1" smtClean="0">
                                <a:latin typeface="Cambria Math" panose="02040503050406030204" pitchFamily="18" charset="0"/>
                              </a:rPr>
                            </m:ctrlPr>
                          </m:fPr>
                          <m:num>
                            <m:sSup>
                              <m:sSupPr>
                                <m:ctrlPr>
                                  <a:rPr lang="es-CR" b="1" i="1" smtClean="0">
                                    <a:latin typeface="Cambria Math" panose="02040503050406030204" pitchFamily="18" charset="0"/>
                                  </a:rPr>
                                </m:ctrlPr>
                              </m:sSupPr>
                              <m:e>
                                <m:r>
                                  <a:rPr lang="es-CR" b="1" i="1" smtClean="0">
                                    <a:latin typeface="Cambria Math" panose="02040503050406030204" pitchFamily="18" charset="0"/>
                                  </a:rPr>
                                  <m:t>(</m:t>
                                </m:r>
                                <m:r>
                                  <a:rPr lang="es-CR" b="1" i="1" smtClean="0">
                                    <a:latin typeface="Cambria Math" panose="02040503050406030204" pitchFamily="18" charset="0"/>
                                  </a:rPr>
                                  <m:t>𝒙</m:t>
                                </m:r>
                                <m:r>
                                  <a:rPr lang="es-CR" b="1" i="1" smtClean="0">
                                    <a:latin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𝟎</m:t>
                                </m:r>
                                <m:r>
                                  <a:rPr lang="es-CR" b="1" i="1" smtClean="0">
                                    <a:latin typeface="Cambria Math" panose="02040503050406030204" pitchFamily="18" charset="0"/>
                                  </a:rPr>
                                  <m:t>)</m:t>
                                </m:r>
                              </m:e>
                              <m:sup>
                                <m:r>
                                  <a:rPr lang="es-CR" b="1" i="1" smtClean="0">
                                    <a:latin typeface="Cambria Math" panose="02040503050406030204" pitchFamily="18" charset="0"/>
                                  </a:rPr>
                                  <m:t>𝟐</m:t>
                                </m:r>
                              </m:sup>
                            </m:sSup>
                          </m:num>
                          <m:den>
                            <m:r>
                              <a:rPr lang="es-CR" b="1" i="1" smtClean="0">
                                <a:latin typeface="Cambria Math" panose="02040503050406030204" pitchFamily="18" charset="0"/>
                              </a:rPr>
                              <m:t>𝟐</m:t>
                            </m:r>
                            <m:sSup>
                              <m:sSupPr>
                                <m:ctrlPr>
                                  <a:rPr lang="es-CR" b="1" i="1" smtClean="0">
                                    <a:latin typeface="Cambria Math" panose="02040503050406030204" pitchFamily="18" charset="0"/>
                                  </a:rPr>
                                </m:ctrlPr>
                              </m:sSupPr>
                              <m:e>
                                <m:r>
                                  <a:rPr lang="en-US" b="1" i="1" smtClean="0">
                                    <a:latin typeface="Cambria Math" panose="02040503050406030204" pitchFamily="18" charset="0"/>
                                    <a:ea typeface="Cambria Math" panose="02040503050406030204" pitchFamily="18" charset="0"/>
                                  </a:rPr>
                                  <m:t>𝟏</m:t>
                                </m:r>
                              </m:e>
                              <m:sup>
                                <m:r>
                                  <a:rPr lang="es-CR" b="1" i="1" smtClean="0">
                                    <a:latin typeface="Cambria Math" panose="02040503050406030204" pitchFamily="18" charset="0"/>
                                  </a:rPr>
                                  <m:t>𝟐</m:t>
                                </m:r>
                              </m:sup>
                            </m:sSup>
                          </m:den>
                        </m:f>
                      </m:e>
                    </m:d>
                    <m:r>
                      <a:rPr lang="es-CR" b="1" i="1" smtClean="0">
                        <a:latin typeface="Cambria Math" panose="02040503050406030204" pitchFamily="18" charset="0"/>
                      </a:rPr>
                      <m:t>, −</m:t>
                    </m:r>
                    <m:r>
                      <a:rPr lang="es-CR" b="1" i="1" smtClean="0">
                        <a:latin typeface="Cambria Math" panose="02040503050406030204" pitchFamily="18" charset="0"/>
                        <a:ea typeface="Cambria Math" panose="02040503050406030204" pitchFamily="18" charset="0"/>
                      </a:rPr>
                      <m:t>∞&lt;</m:t>
                    </m:r>
                    <m:r>
                      <a:rPr lang="es-CR" b="1" i="1" smtClean="0">
                        <a:latin typeface="Cambria Math" panose="02040503050406030204" pitchFamily="18" charset="0"/>
                        <a:ea typeface="Cambria Math" panose="02040503050406030204" pitchFamily="18" charset="0"/>
                      </a:rPr>
                      <m:t>𝒙</m:t>
                    </m:r>
                    <m:r>
                      <a:rPr lang="es-CR" b="1" i="1" smtClean="0">
                        <a:latin typeface="Cambria Math" panose="02040503050406030204" pitchFamily="18" charset="0"/>
                        <a:ea typeface="Cambria Math" panose="02040503050406030204" pitchFamily="18" charset="0"/>
                      </a:rPr>
                      <m:t>&lt;∞</m:t>
                    </m:r>
                  </m:oMath>
                </a14:m>
                <a:endParaRPr lang="es-CR" b="1" i="1" dirty="0">
                  <a:latin typeface="Cambria Math" panose="02040503050406030204" pitchFamily="18" charset="0"/>
                </a:endParaRPr>
              </a:p>
              <a:p>
                <a:pPr algn="just"/>
                <a:endParaRPr lang="es-CR" b="1" i="1" dirty="0">
                  <a:latin typeface="Cambria Math" panose="02040503050406030204" pitchFamily="18" charset="0"/>
                </a:endParaRPr>
              </a:p>
              <a:p>
                <a:pPr algn="just"/>
                <a:r>
                  <a:rPr lang="es-CR" b="1" i="1" dirty="0"/>
                  <a:t>	</a:t>
                </a:r>
                <a:r>
                  <a:rPr lang="es-CR" b="1" i="1" dirty="0" err="1"/>
                  <a:t>Pdf</a:t>
                </a:r>
                <a:r>
                  <a:rPr lang="es-CR" b="1" i="1" dirty="0"/>
                  <a:t> Distribución normal Estándar: </a:t>
                </a:r>
                <a14:m>
                  <m:oMath xmlns:m="http://schemas.openxmlformats.org/officeDocument/2006/math">
                    <m:r>
                      <a:rPr lang="es-CR" b="1" i="1" smtClean="0">
                        <a:latin typeface="Cambria Math" panose="02040503050406030204" pitchFamily="18" charset="0"/>
                      </a:rPr>
                      <m:t>𝒇</m:t>
                    </m:r>
                    <m:d>
                      <m:dPr>
                        <m:ctrlPr>
                          <a:rPr lang="es-CR" b="1" i="1" smtClean="0">
                            <a:latin typeface="Cambria Math" panose="02040503050406030204" pitchFamily="18" charset="0"/>
                          </a:rPr>
                        </m:ctrlPr>
                      </m:dPr>
                      <m:e>
                        <m:r>
                          <a:rPr lang="es-CR" b="1" i="1" smtClean="0">
                            <a:latin typeface="Cambria Math" panose="02040503050406030204" pitchFamily="18" charset="0"/>
                          </a:rPr>
                          <m:t>𝒙</m:t>
                        </m:r>
                      </m:e>
                    </m:d>
                    <m:r>
                      <a:rPr lang="es-CR" b="1" i="1" smtClean="0">
                        <a:latin typeface="Cambria Math" panose="02040503050406030204" pitchFamily="18" charset="0"/>
                      </a:rPr>
                      <m:t>=</m:t>
                    </m:r>
                    <m:f>
                      <m:fPr>
                        <m:ctrlPr>
                          <a:rPr lang="es-CR" b="1" i="1" smtClean="0">
                            <a:latin typeface="Cambria Math" panose="02040503050406030204" pitchFamily="18" charset="0"/>
                          </a:rPr>
                        </m:ctrlPr>
                      </m:fPr>
                      <m:num>
                        <m:r>
                          <a:rPr lang="es-CR" b="1" i="1" smtClean="0">
                            <a:latin typeface="Cambria Math" panose="02040503050406030204" pitchFamily="18" charset="0"/>
                          </a:rPr>
                          <m:t>𝟏</m:t>
                        </m:r>
                      </m:num>
                      <m:den>
                        <m:rad>
                          <m:radPr>
                            <m:degHide m:val="on"/>
                            <m:ctrlPr>
                              <a:rPr lang="es-CR" b="1" i="1" smtClean="0">
                                <a:latin typeface="Cambria Math" panose="02040503050406030204" pitchFamily="18" charset="0"/>
                              </a:rPr>
                            </m:ctrlPr>
                          </m:radPr>
                          <m:deg/>
                          <m:e>
                            <m:r>
                              <a:rPr lang="es-CR" b="1" i="1" smtClean="0">
                                <a:latin typeface="Cambria Math" panose="02040503050406030204" pitchFamily="18" charset="0"/>
                              </a:rPr>
                              <m:t>𝟐</m:t>
                            </m:r>
                            <m:r>
                              <a:rPr lang="es-CR" b="1" i="1" smtClean="0">
                                <a:latin typeface="Cambria Math" panose="02040503050406030204" pitchFamily="18" charset="0"/>
                                <a:ea typeface="Cambria Math" panose="02040503050406030204" pitchFamily="18" charset="0"/>
                              </a:rPr>
                              <m:t>𝝅</m:t>
                            </m:r>
                          </m:e>
                        </m:rad>
                      </m:den>
                    </m:f>
                    <m:r>
                      <a:rPr lang="es-CR" b="1" i="1" smtClean="0">
                        <a:latin typeface="Cambria Math" panose="02040503050406030204" pitchFamily="18" charset="0"/>
                      </a:rPr>
                      <m:t>𝒆𝒙𝒑</m:t>
                    </m:r>
                    <m:d>
                      <m:dPr>
                        <m:begChr m:val="{"/>
                        <m:endChr m:val="}"/>
                        <m:ctrlPr>
                          <a:rPr lang="es-CR" b="1" i="1" smtClean="0">
                            <a:latin typeface="Cambria Math" panose="02040503050406030204" pitchFamily="18" charset="0"/>
                          </a:rPr>
                        </m:ctrlPr>
                      </m:dPr>
                      <m:e>
                        <m:r>
                          <a:rPr lang="es-CR" b="1" i="1" smtClean="0">
                            <a:latin typeface="Cambria Math" panose="02040503050406030204" pitchFamily="18" charset="0"/>
                          </a:rPr>
                          <m:t>−</m:t>
                        </m:r>
                        <m:f>
                          <m:fPr>
                            <m:ctrlPr>
                              <a:rPr lang="es-CR" b="1" i="1" smtClean="0">
                                <a:latin typeface="Cambria Math" panose="02040503050406030204" pitchFamily="18" charset="0"/>
                              </a:rPr>
                            </m:ctrlPr>
                          </m:fPr>
                          <m:num>
                            <m:sSup>
                              <m:sSupPr>
                                <m:ctrlPr>
                                  <a:rPr lang="es-CR" b="1" i="1" smtClean="0">
                                    <a:latin typeface="Cambria Math" panose="02040503050406030204" pitchFamily="18" charset="0"/>
                                  </a:rPr>
                                </m:ctrlPr>
                              </m:sSupPr>
                              <m:e>
                                <m:r>
                                  <a:rPr lang="es-CR" b="1" i="1">
                                    <a:latin typeface="Cambria Math" panose="02040503050406030204" pitchFamily="18" charset="0"/>
                                  </a:rPr>
                                  <m:t>𝒙</m:t>
                                </m:r>
                              </m:e>
                              <m:sup>
                                <m:r>
                                  <a:rPr lang="es-CR" b="1" i="1" smtClean="0">
                                    <a:latin typeface="Cambria Math" panose="02040503050406030204" pitchFamily="18" charset="0"/>
                                  </a:rPr>
                                  <m:t>𝟐</m:t>
                                </m:r>
                              </m:sup>
                            </m:sSup>
                          </m:num>
                          <m:den>
                            <m:r>
                              <a:rPr lang="es-CR" b="1" i="1" smtClean="0">
                                <a:latin typeface="Cambria Math" panose="02040503050406030204" pitchFamily="18" charset="0"/>
                              </a:rPr>
                              <m:t>𝟐</m:t>
                            </m:r>
                          </m:den>
                        </m:f>
                      </m:e>
                    </m:d>
                    <m:r>
                      <a:rPr lang="es-CR" b="1" i="1" smtClean="0">
                        <a:latin typeface="Cambria Math" panose="02040503050406030204" pitchFamily="18" charset="0"/>
                      </a:rPr>
                      <m:t>, −</m:t>
                    </m:r>
                    <m:r>
                      <a:rPr lang="es-CR" b="1" i="1" smtClean="0">
                        <a:latin typeface="Cambria Math" panose="02040503050406030204" pitchFamily="18" charset="0"/>
                        <a:ea typeface="Cambria Math" panose="02040503050406030204" pitchFamily="18" charset="0"/>
                      </a:rPr>
                      <m:t>∞&lt;</m:t>
                    </m:r>
                    <m:r>
                      <a:rPr lang="es-CR" b="1" i="1" smtClean="0">
                        <a:latin typeface="Cambria Math" panose="02040503050406030204" pitchFamily="18" charset="0"/>
                        <a:ea typeface="Cambria Math" panose="02040503050406030204" pitchFamily="18" charset="0"/>
                      </a:rPr>
                      <m:t>𝒙</m:t>
                    </m:r>
                    <m:r>
                      <a:rPr lang="es-CR" b="1" i="1" smtClean="0">
                        <a:latin typeface="Cambria Math" panose="02040503050406030204" pitchFamily="18" charset="0"/>
                        <a:ea typeface="Cambria Math" panose="02040503050406030204" pitchFamily="18" charset="0"/>
                      </a:rPr>
                      <m:t>&lt;∞</m:t>
                    </m:r>
                  </m:oMath>
                </a14:m>
                <a:endParaRPr lang="es-CR" b="1" i="1" dirty="0">
                  <a:latin typeface="Cambria Math" panose="02040503050406030204" pitchFamily="18" charset="0"/>
                </a:endParaRPr>
              </a:p>
              <a:p>
                <a:pPr algn="just"/>
                <a:endParaRPr lang="es-CR" b="1" i="1" dirty="0">
                  <a:latin typeface="Cambria Math" panose="02040503050406030204" pitchFamily="18" charset="0"/>
                </a:endParaRPr>
              </a:p>
              <a:p>
                <a:pPr algn="just"/>
                <a:endParaRPr lang="es-CR" b="1" i="1" dirty="0">
                  <a:latin typeface="Cambria Math" panose="02040503050406030204" pitchFamily="18" charset="0"/>
                </a:endParaRPr>
              </a:p>
              <a:p>
                <a:pPr algn="just"/>
                <a:r>
                  <a:rPr lang="es-CR" b="1" dirty="0">
                    <a:ea typeface="Cambria Math" panose="02040503050406030204" pitchFamily="18" charset="0"/>
                  </a:rPr>
                  <a:t>                                  </a:t>
                </a:r>
                <a14:m>
                  <m:oMath xmlns:m="http://schemas.openxmlformats.org/officeDocument/2006/math">
                    <m:r>
                      <a:rPr lang="es-CR" b="1" i="1" smtClean="0">
                        <a:latin typeface="Cambria Math" panose="02040503050406030204" pitchFamily="18" charset="0"/>
                        <a:ea typeface="Cambria Math" panose="02040503050406030204" pitchFamily="18" charset="0"/>
                      </a:rPr>
                      <m:t>𝑬</m:t>
                    </m:r>
                    <m:d>
                      <m:dPr>
                        <m:ctrlPr>
                          <a:rPr lang="es-CR" b="1" i="1" smtClean="0">
                            <a:latin typeface="Cambria Math" panose="02040503050406030204" pitchFamily="18" charset="0"/>
                            <a:ea typeface="Cambria Math" panose="02040503050406030204" pitchFamily="18" charset="0"/>
                          </a:rPr>
                        </m:ctrlPr>
                      </m:dPr>
                      <m:e>
                        <m:r>
                          <a:rPr lang="es-CR" b="1" i="1" smtClean="0">
                            <a:latin typeface="Cambria Math" panose="02040503050406030204" pitchFamily="18" charset="0"/>
                            <a:ea typeface="Cambria Math" panose="02040503050406030204" pitchFamily="18" charset="0"/>
                          </a:rPr>
                          <m:t>𝑿</m:t>
                        </m:r>
                      </m:e>
                    </m:d>
                    <m:r>
                      <a:rPr lang="es-CR"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0</m:t>
                    </m:r>
                  </m:oMath>
                </a14:m>
                <a:endParaRPr lang="es-CR" b="0" i="1" dirty="0">
                  <a:latin typeface="Cambria Math" panose="02040503050406030204" pitchFamily="18" charset="0"/>
                </a:endParaRPr>
              </a:p>
              <a:p>
                <a:pPr algn="just"/>
                <a:r>
                  <a:rPr lang="es-CR" b="1" dirty="0">
                    <a:ea typeface="Cambria Math" panose="02040503050406030204" pitchFamily="18" charset="0"/>
                  </a:rPr>
                  <a:t>                                  </a:t>
                </a:r>
                <a14:m>
                  <m:oMath xmlns:m="http://schemas.openxmlformats.org/officeDocument/2006/math">
                    <m:r>
                      <a:rPr lang="es-CR" b="1" i="1" smtClean="0">
                        <a:latin typeface="Cambria Math" panose="02040503050406030204" pitchFamily="18" charset="0"/>
                        <a:ea typeface="Cambria Math" panose="02040503050406030204" pitchFamily="18" charset="0"/>
                      </a:rPr>
                      <m:t>𝑽𝒂𝒓</m:t>
                    </m:r>
                    <m:r>
                      <a:rPr lang="es-CR" b="1" i="1" smtClean="0">
                        <a:latin typeface="Cambria Math" panose="02040503050406030204" pitchFamily="18" charset="0"/>
                        <a:ea typeface="Cambria Math" panose="02040503050406030204" pitchFamily="18" charset="0"/>
                      </a:rPr>
                      <m:t>(</m:t>
                    </m:r>
                    <m:r>
                      <a:rPr lang="es-CR" b="1" i="1" smtClean="0">
                        <a:latin typeface="Cambria Math" panose="02040503050406030204" pitchFamily="18" charset="0"/>
                        <a:ea typeface="Cambria Math" panose="02040503050406030204" pitchFamily="18" charset="0"/>
                      </a:rPr>
                      <m:t>𝒙</m:t>
                    </m:r>
                    <m:r>
                      <a:rPr lang="es-CR" b="1" i="1" smtClean="0">
                        <a:latin typeface="Cambria Math" panose="02040503050406030204" pitchFamily="18" charset="0"/>
                        <a:ea typeface="Cambria Math" panose="02040503050406030204" pitchFamily="18" charset="0"/>
                      </a:rPr>
                      <m:t>)</m:t>
                    </m:r>
                    <m:r>
                      <a:rPr lang="es-CR"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oMath>
                </a14:m>
                <a:endParaRPr lang="es-CR" b="0" dirty="0"/>
              </a:p>
              <a:p>
                <a:pPr algn="just"/>
                <a:r>
                  <a:rPr lang="es-CR" dirty="0">
                    <a:ea typeface="Cambria Math" panose="02040503050406030204" pitchFamily="18" charset="0"/>
                  </a:rPr>
                  <a:t>                                  </a:t>
                </a:r>
                <a:endParaRPr lang="es-CR" dirty="0"/>
              </a:p>
              <a:p>
                <a:pPr marL="285750" indent="-285750" algn="just">
                  <a:buFont typeface="Arial" panose="020B0604020202020204" pitchFamily="34" charset="0"/>
                  <a:buChar char="•"/>
                </a:pPr>
                <a:endParaRPr lang="es-CR" b="1" i="1" dirty="0"/>
              </a:p>
              <a:p>
                <a:pPr marL="285750" indent="-285750" algn="just">
                  <a:buFont typeface="Arial" panose="020B0604020202020204" pitchFamily="34" charset="0"/>
                  <a:buChar char="•"/>
                </a:pPr>
                <a:endParaRPr lang="es-CR" dirty="0"/>
              </a:p>
            </p:txBody>
          </p:sp>
        </mc:Choice>
        <mc:Fallback xmlns="">
          <p:sp>
            <p:nvSpPr>
              <p:cNvPr id="5" name="TextBox 4">
                <a:extLst>
                  <a:ext uri="{FF2B5EF4-FFF2-40B4-BE49-F238E27FC236}">
                    <a16:creationId xmlns:a16="http://schemas.microsoft.com/office/drawing/2014/main" id="{54AF371C-AAB2-7A26-CD50-E4D8050A0AFC}"/>
                  </a:ext>
                </a:extLst>
              </p:cNvPr>
              <p:cNvSpPr txBox="1">
                <a:spLocks noRot="1" noChangeAspect="1" noMove="1" noResize="1" noEditPoints="1" noAdjustHandles="1" noChangeArrowheads="1" noChangeShapeType="1" noTextEdit="1"/>
              </p:cNvSpPr>
              <p:nvPr/>
            </p:nvSpPr>
            <p:spPr>
              <a:xfrm>
                <a:off x="914400" y="1901952"/>
                <a:ext cx="10375392" cy="4381584"/>
              </a:xfrm>
              <a:prstGeom prst="rect">
                <a:avLst/>
              </a:prstGeom>
              <a:blipFill>
                <a:blip r:embed="rId2"/>
                <a:stretch>
                  <a:fillRect/>
                </a:stretch>
              </a:blipFill>
            </p:spPr>
            <p:txBody>
              <a:bodyPr/>
              <a:lstStyle/>
              <a:p>
                <a:r>
                  <a:rPr lang="es-CR">
                    <a:noFill/>
                  </a:rPr>
                  <a:t> </a:t>
                </a:r>
              </a:p>
            </p:txBody>
          </p:sp>
        </mc:Fallback>
      </mc:AlternateContent>
    </p:spTree>
    <p:extLst>
      <p:ext uri="{BB962C8B-B14F-4D97-AF65-F5344CB8AC3E}">
        <p14:creationId xmlns:p14="http://schemas.microsoft.com/office/powerpoint/2010/main" val="3158275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51BA6-FCB1-A4B0-382A-38FDFA063573}"/>
              </a:ext>
            </a:extLst>
          </p:cNvPr>
          <p:cNvSpPr>
            <a:spLocks noGrp="1"/>
          </p:cNvSpPr>
          <p:nvPr>
            <p:ph type="title"/>
          </p:nvPr>
        </p:nvSpPr>
        <p:spPr/>
        <p:txBody>
          <a:bodyPr/>
          <a:lstStyle/>
          <a:p>
            <a:r>
              <a:rPr lang="en-US" dirty="0" err="1"/>
              <a:t>Tabla</a:t>
            </a:r>
            <a:r>
              <a:rPr lang="en-US" dirty="0"/>
              <a:t> t-student</a:t>
            </a:r>
            <a:endParaRPr lang="es-CR" dirty="0"/>
          </a:p>
        </p:txBody>
      </p:sp>
      <p:pic>
        <p:nvPicPr>
          <p:cNvPr id="6" name="Picture 5">
            <a:extLst>
              <a:ext uri="{FF2B5EF4-FFF2-40B4-BE49-F238E27FC236}">
                <a16:creationId xmlns:a16="http://schemas.microsoft.com/office/drawing/2014/main" id="{926D989D-1F35-5160-F74F-630F7249706C}"/>
              </a:ext>
            </a:extLst>
          </p:cNvPr>
          <p:cNvPicPr>
            <a:picLocks noChangeAspect="1"/>
          </p:cNvPicPr>
          <p:nvPr/>
        </p:nvPicPr>
        <p:blipFill>
          <a:blip r:embed="rId2"/>
          <a:stretch>
            <a:fillRect/>
          </a:stretch>
        </p:blipFill>
        <p:spPr>
          <a:xfrm>
            <a:off x="3207881" y="1370379"/>
            <a:ext cx="5410478" cy="4902452"/>
          </a:xfrm>
          <a:prstGeom prst="rect">
            <a:avLst/>
          </a:prstGeom>
        </p:spPr>
      </p:pic>
    </p:spTree>
    <p:extLst>
      <p:ext uri="{BB962C8B-B14F-4D97-AF65-F5344CB8AC3E}">
        <p14:creationId xmlns:p14="http://schemas.microsoft.com/office/powerpoint/2010/main" val="24957369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8201D-AB55-B8E6-20B1-80CFFF8F5A89}"/>
              </a:ext>
            </a:extLst>
          </p:cNvPr>
          <p:cNvSpPr>
            <a:spLocks noGrp="1"/>
          </p:cNvSpPr>
          <p:nvPr>
            <p:ph type="title"/>
          </p:nvPr>
        </p:nvSpPr>
        <p:spPr/>
        <p:txBody>
          <a:bodyPr/>
          <a:lstStyle/>
          <a:p>
            <a:r>
              <a:rPr lang="es-CR" dirty="0"/>
              <a:t>Ejemplo: n pequeño y varianza desconocida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4036223-A6C8-D986-B5C3-E1BE71607783}"/>
                  </a:ext>
                </a:extLst>
              </p:cNvPr>
              <p:cNvSpPr>
                <a:spLocks noGrp="1"/>
              </p:cNvSpPr>
              <p:nvPr>
                <p:ph sz="half" idx="1"/>
              </p:nvPr>
            </p:nvSpPr>
            <p:spPr>
              <a:xfrm>
                <a:off x="838200" y="2067983"/>
                <a:ext cx="9976104" cy="3735410"/>
              </a:xfrm>
            </p:spPr>
            <p:txBody>
              <a:bodyPr/>
              <a:lstStyle/>
              <a:p>
                <a:pPr algn="just"/>
                <a:r>
                  <a:rPr lang="es-CR" dirty="0"/>
                  <a:t>Sea X (en milímetros) el crecimiento inducido en 15 días de un tumor en un ratón. Asumiendo que </a:t>
                </a:r>
                <a14:m>
                  <m:oMath xmlns:m="http://schemas.openxmlformats.org/officeDocument/2006/math">
                    <m:r>
                      <a:rPr lang="en-US" b="0" i="1" smtClean="0">
                        <a:latin typeface="Cambria Math" panose="02040503050406030204" pitchFamily="18" charset="0"/>
                      </a:rPr>
                      <m:t>𝑋</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𝑁</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𝜎</m:t>
                            </m:r>
                          </m:e>
                          <m:sup>
                            <m:r>
                              <a:rPr lang="en-US" b="0" i="1" smtClean="0">
                                <a:latin typeface="Cambria Math" panose="02040503050406030204" pitchFamily="18" charset="0"/>
                                <a:ea typeface="Cambria Math" panose="02040503050406030204" pitchFamily="18" charset="0"/>
                              </a:rPr>
                              <m:t>2</m:t>
                            </m:r>
                          </m:sup>
                        </m:sSup>
                      </m:e>
                    </m:d>
                    <m:r>
                      <a:rPr lang="en-US" b="0" i="1" smtClean="0">
                        <a:latin typeface="Cambria Math" panose="02040503050406030204" pitchFamily="18" charset="0"/>
                        <a:ea typeface="Cambria Math" panose="02040503050406030204" pitchFamily="18" charset="0"/>
                      </a:rPr>
                      <m:t>. </m:t>
                    </m:r>
                  </m:oMath>
                </a14:m>
                <a:r>
                  <a:rPr lang="es-CR" dirty="0"/>
                  <a:t>La hipótesis a probar es </a:t>
                </a:r>
                <a14:m>
                  <m:oMath xmlns:m="http://schemas.openxmlformats.org/officeDocument/2006/math">
                    <m:sSub>
                      <m:sSubPr>
                        <m:ctrlPr>
                          <a:rPr lang="es-CR" i="1">
                            <a:latin typeface="Cambria Math" panose="02040503050406030204" pitchFamily="18" charset="0"/>
                          </a:rPr>
                        </m:ctrlPr>
                      </m:sSubPr>
                      <m:e>
                        <m:r>
                          <a:rPr lang="es-CR" i="1">
                            <a:latin typeface="Cambria Math" panose="02040503050406030204" pitchFamily="18" charset="0"/>
                          </a:rPr>
                          <m:t>𝐻</m:t>
                        </m:r>
                      </m:e>
                      <m:sub>
                        <m:r>
                          <a:rPr lang="es-CR" i="1">
                            <a:latin typeface="Cambria Math" panose="02040503050406030204" pitchFamily="18" charset="0"/>
                          </a:rPr>
                          <m:t>0</m:t>
                        </m:r>
                      </m:sub>
                    </m:sSub>
                    <m:r>
                      <a:rPr lang="es-CR" i="1">
                        <a:latin typeface="Cambria Math" panose="02040503050406030204" pitchFamily="18" charset="0"/>
                      </a:rPr>
                      <m:t>: </m:t>
                    </m:r>
                    <m:r>
                      <a:rPr lang="es-CR" i="1">
                        <a:latin typeface="Cambria Math" panose="02040503050406030204" pitchFamily="18" charset="0"/>
                        <a:ea typeface="Cambria Math" panose="02040503050406030204" pitchFamily="18" charset="0"/>
                      </a:rPr>
                      <m:t>𝜇</m:t>
                    </m:r>
                    <m:r>
                      <a:rPr lang="es-CR" i="1">
                        <a:latin typeface="Cambria Math" panose="02040503050406030204" pitchFamily="18" charset="0"/>
                        <a:ea typeface="Cambria Math" panose="02040503050406030204" pitchFamily="18" charset="0"/>
                      </a:rPr>
                      <m:t>=</m:t>
                    </m:r>
                    <m:sSub>
                      <m:sSubPr>
                        <m:ctrlPr>
                          <a:rPr lang="es-CR" i="1">
                            <a:latin typeface="Cambria Math" panose="02040503050406030204" pitchFamily="18" charset="0"/>
                            <a:ea typeface="Cambria Math" panose="02040503050406030204" pitchFamily="18" charset="0"/>
                          </a:rPr>
                        </m:ctrlPr>
                      </m:sSubPr>
                      <m:e>
                        <m:r>
                          <a:rPr lang="es-CR" i="1">
                            <a:latin typeface="Cambria Math" panose="02040503050406030204" pitchFamily="18" charset="0"/>
                            <a:ea typeface="Cambria Math" panose="02040503050406030204" pitchFamily="18" charset="0"/>
                          </a:rPr>
                          <m:t>𝜇</m:t>
                        </m:r>
                      </m:e>
                      <m:sub>
                        <m:r>
                          <a:rPr lang="es-CR" i="1">
                            <a:latin typeface="Cambria Math" panose="02040503050406030204" pitchFamily="18" charset="0"/>
                            <a:ea typeface="Cambria Math" panose="02040503050406030204" pitchFamily="18" charset="0"/>
                          </a:rPr>
                          <m:t>0</m:t>
                        </m:r>
                      </m:sub>
                    </m:sSub>
                    <m:r>
                      <a:rPr lang="es-CR" b="0" i="1" smtClean="0">
                        <a:latin typeface="Cambria Math" panose="02040503050406030204" pitchFamily="18" charset="0"/>
                        <a:ea typeface="Cambria Math" panose="02040503050406030204" pitchFamily="18" charset="0"/>
                      </a:rPr>
                      <m:t>=4</m:t>
                    </m:r>
                    <m:r>
                      <a:rPr lang="es-CR" b="0" i="1" smtClean="0">
                        <a:latin typeface="Cambria Math" panose="02040503050406030204" pitchFamily="18" charset="0"/>
                        <a:ea typeface="Cambria Math" panose="02040503050406030204" pitchFamily="18" charset="0"/>
                      </a:rPr>
                      <m:t>𝑚𝑚</m:t>
                    </m:r>
                  </m:oMath>
                </a14:m>
                <a:r>
                  <a:rPr lang="es-CR" dirty="0"/>
                  <a:t>, versus una hipótesis alternativa </a:t>
                </a:r>
                <a14:m>
                  <m:oMath xmlns:m="http://schemas.openxmlformats.org/officeDocument/2006/math">
                    <m:sSub>
                      <m:sSubPr>
                        <m:ctrlPr>
                          <a:rPr lang="es-CR" i="1">
                            <a:latin typeface="Cambria Math" panose="02040503050406030204" pitchFamily="18" charset="0"/>
                          </a:rPr>
                        </m:ctrlPr>
                      </m:sSubPr>
                      <m:e>
                        <m:r>
                          <a:rPr lang="es-CR" i="1">
                            <a:latin typeface="Cambria Math" panose="02040503050406030204" pitchFamily="18" charset="0"/>
                          </a:rPr>
                          <m:t>𝐻</m:t>
                        </m:r>
                      </m:e>
                      <m:sub>
                        <m:r>
                          <a:rPr lang="es-CR" i="1">
                            <a:latin typeface="Cambria Math" panose="02040503050406030204" pitchFamily="18" charset="0"/>
                          </a:rPr>
                          <m:t>1</m:t>
                        </m:r>
                      </m:sub>
                    </m:sSub>
                    <m:r>
                      <a:rPr lang="es-CR" i="1">
                        <a:latin typeface="Cambria Math" panose="02040503050406030204" pitchFamily="18" charset="0"/>
                      </a:rPr>
                      <m:t>: </m:t>
                    </m:r>
                    <m:r>
                      <a:rPr lang="es-CR" i="1">
                        <a:latin typeface="Cambria Math" panose="02040503050406030204" pitchFamily="18" charset="0"/>
                        <a:ea typeface="Cambria Math" panose="02040503050406030204" pitchFamily="18" charset="0"/>
                      </a:rPr>
                      <m:t>𝜇</m:t>
                    </m:r>
                    <m:r>
                      <a:rPr lang="es-CR" i="1">
                        <a:latin typeface="Cambria Math" panose="02040503050406030204" pitchFamily="18" charset="0"/>
                        <a:ea typeface="Cambria Math" panose="02040503050406030204" pitchFamily="18" charset="0"/>
                      </a:rPr>
                      <m:t>≠4</m:t>
                    </m:r>
                    <m:r>
                      <a:rPr lang="es-CR" b="0" i="1" smtClean="0">
                        <a:latin typeface="Cambria Math" panose="02040503050406030204" pitchFamily="18" charset="0"/>
                        <a:ea typeface="Cambria Math" panose="02040503050406030204" pitchFamily="18" charset="0"/>
                      </a:rPr>
                      <m:t>𝑚𝑚</m:t>
                    </m:r>
                  </m:oMath>
                </a14:m>
                <a:r>
                  <a:rPr lang="es-CR" dirty="0"/>
                  <a:t>. Si se utiliza un n=9, y un nivel de significancia </a:t>
                </a:r>
                <a14:m>
                  <m:oMath xmlns:m="http://schemas.openxmlformats.org/officeDocument/2006/math">
                    <m:r>
                      <a:rPr lang="es-CR" i="1" smtClean="0">
                        <a:latin typeface="Cambria Math" panose="02040503050406030204" pitchFamily="18" charset="0"/>
                        <a:ea typeface="Cambria Math" panose="02040503050406030204" pitchFamily="18" charset="0"/>
                      </a:rPr>
                      <m:t>𝛼</m:t>
                    </m:r>
                    <m:r>
                      <a:rPr lang="es-CR" b="0" i="1" smtClean="0">
                        <a:latin typeface="Cambria Math" panose="02040503050406030204" pitchFamily="18" charset="0"/>
                        <a:ea typeface="Cambria Math" panose="02040503050406030204" pitchFamily="18" charset="0"/>
                      </a:rPr>
                      <m:t>=0.10</m:t>
                    </m:r>
                  </m:oMath>
                </a14:m>
                <a:r>
                  <a:rPr lang="es-CR" dirty="0"/>
                  <a:t>,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𝑥</m:t>
                        </m:r>
                      </m:e>
                    </m:acc>
                  </m:oMath>
                </a14:m>
                <a:r>
                  <a:rPr lang="es-CR" dirty="0"/>
                  <a:t> = 4.3 y s = 1.2. </a:t>
                </a:r>
              </a:p>
              <a:p>
                <a:pPr marL="0" indent="0" algn="just">
                  <a:buNone/>
                </a:pPr>
                <a:r>
                  <a:rPr lang="es-CR" dirty="0"/>
                  <a:t>  </a:t>
                </a:r>
              </a:p>
            </p:txBody>
          </p:sp>
        </mc:Choice>
        <mc:Fallback xmlns="">
          <p:sp>
            <p:nvSpPr>
              <p:cNvPr id="3" name="Content Placeholder 2">
                <a:extLst>
                  <a:ext uri="{FF2B5EF4-FFF2-40B4-BE49-F238E27FC236}">
                    <a16:creationId xmlns:a16="http://schemas.microsoft.com/office/drawing/2014/main" id="{A4036223-A6C8-D986-B5C3-E1BE71607783}"/>
                  </a:ext>
                </a:extLst>
              </p:cNvPr>
              <p:cNvSpPr>
                <a:spLocks noGrp="1" noRot="1" noChangeAspect="1" noMove="1" noResize="1" noEditPoints="1" noAdjustHandles="1" noChangeArrowheads="1" noChangeShapeType="1" noTextEdit="1"/>
              </p:cNvSpPr>
              <p:nvPr>
                <p:ph sz="half" idx="1"/>
              </p:nvPr>
            </p:nvSpPr>
            <p:spPr>
              <a:xfrm>
                <a:off x="838200" y="2067983"/>
                <a:ext cx="9976104" cy="3735410"/>
              </a:xfrm>
              <a:blipFill>
                <a:blip r:embed="rId2"/>
                <a:stretch>
                  <a:fillRect l="-1100" t="-2610" r="-1222"/>
                </a:stretch>
              </a:blipFill>
            </p:spPr>
            <p:txBody>
              <a:bodyPr/>
              <a:lstStyle/>
              <a:p>
                <a:r>
                  <a:rPr lang="es-CR">
                    <a:noFill/>
                  </a:rPr>
                  <a:t> </a:t>
                </a:r>
              </a:p>
            </p:txBody>
          </p:sp>
        </mc:Fallback>
      </mc:AlternateContent>
    </p:spTree>
    <p:extLst>
      <p:ext uri="{BB962C8B-B14F-4D97-AF65-F5344CB8AC3E}">
        <p14:creationId xmlns:p14="http://schemas.microsoft.com/office/powerpoint/2010/main" val="10738035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9F049-7017-E0CC-184A-41FB9B1286D6}"/>
              </a:ext>
            </a:extLst>
          </p:cNvPr>
          <p:cNvSpPr>
            <a:spLocks noGrp="1"/>
          </p:cNvSpPr>
          <p:nvPr>
            <p:ph type="title"/>
          </p:nvPr>
        </p:nvSpPr>
        <p:spPr/>
        <p:txBody>
          <a:bodyPr/>
          <a:lstStyle/>
          <a:p>
            <a:r>
              <a:rPr lang="es-CR" dirty="0"/>
              <a:t>Primer paso: encontrar el valor t en la tabla</a:t>
            </a:r>
          </a:p>
        </p:txBody>
      </p:sp>
      <p:sp>
        <p:nvSpPr>
          <p:cNvPr id="6" name="TextBox 5">
            <a:extLst>
              <a:ext uri="{FF2B5EF4-FFF2-40B4-BE49-F238E27FC236}">
                <a16:creationId xmlns:a16="http://schemas.microsoft.com/office/drawing/2014/main" id="{8056764D-BDA9-296F-E4FC-62DCFBAFB25A}"/>
              </a:ext>
            </a:extLst>
          </p:cNvPr>
          <p:cNvSpPr txBox="1"/>
          <p:nvPr/>
        </p:nvSpPr>
        <p:spPr>
          <a:xfrm>
            <a:off x="1158240" y="1735574"/>
            <a:ext cx="6096000" cy="369332"/>
          </a:xfrm>
          <a:prstGeom prst="rect">
            <a:avLst/>
          </a:prstGeom>
          <a:noFill/>
        </p:spPr>
        <p:txBody>
          <a:bodyPr wrap="square">
            <a:spAutoFit/>
          </a:bodyPr>
          <a:lstStyle/>
          <a:p>
            <a:r>
              <a:rPr lang="es-CR" dirty="0"/>
              <a:t>https://www.sjsu.edu/faculty/gerstman/StatPrimer/t-table.pdf</a:t>
            </a:r>
          </a:p>
        </p:txBody>
      </p:sp>
      <p:pic>
        <p:nvPicPr>
          <p:cNvPr id="8" name="Picture 7">
            <a:extLst>
              <a:ext uri="{FF2B5EF4-FFF2-40B4-BE49-F238E27FC236}">
                <a16:creationId xmlns:a16="http://schemas.microsoft.com/office/drawing/2014/main" id="{D2BE4956-3AEC-7A24-B44F-B8CF9C9F5704}"/>
              </a:ext>
            </a:extLst>
          </p:cNvPr>
          <p:cNvPicPr>
            <a:picLocks noChangeAspect="1"/>
          </p:cNvPicPr>
          <p:nvPr/>
        </p:nvPicPr>
        <p:blipFill>
          <a:blip r:embed="rId2"/>
          <a:stretch>
            <a:fillRect/>
          </a:stretch>
        </p:blipFill>
        <p:spPr>
          <a:xfrm>
            <a:off x="561862" y="2180929"/>
            <a:ext cx="6481755" cy="3689034"/>
          </a:xfrm>
          <a:prstGeom prst="rect">
            <a:avLst/>
          </a:prstGeom>
        </p:spPr>
      </p:pic>
      <p:sp>
        <p:nvSpPr>
          <p:cNvPr id="9" name="Rectangle 8">
            <a:extLst>
              <a:ext uri="{FF2B5EF4-FFF2-40B4-BE49-F238E27FC236}">
                <a16:creationId xmlns:a16="http://schemas.microsoft.com/office/drawing/2014/main" id="{7D8E8B92-550B-E3DD-6E98-1937700C182D}"/>
              </a:ext>
            </a:extLst>
          </p:cNvPr>
          <p:cNvSpPr/>
          <p:nvPr/>
        </p:nvSpPr>
        <p:spPr>
          <a:xfrm>
            <a:off x="561862" y="4004586"/>
            <a:ext cx="6481755" cy="15288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R"/>
          </a:p>
        </p:txBody>
      </p:sp>
      <p:sp>
        <p:nvSpPr>
          <p:cNvPr id="10" name="Rectangle 9">
            <a:extLst>
              <a:ext uri="{FF2B5EF4-FFF2-40B4-BE49-F238E27FC236}">
                <a16:creationId xmlns:a16="http://schemas.microsoft.com/office/drawing/2014/main" id="{E109CA5F-5AD0-DE03-70ED-021121B6041C}"/>
              </a:ext>
            </a:extLst>
          </p:cNvPr>
          <p:cNvSpPr/>
          <p:nvPr/>
        </p:nvSpPr>
        <p:spPr>
          <a:xfrm>
            <a:off x="4059935" y="2376935"/>
            <a:ext cx="353569" cy="368903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CEFE3B6-33CD-B2F0-D89F-2C17A2BEEE48}"/>
                  </a:ext>
                </a:extLst>
              </p:cNvPr>
              <p:cNvSpPr txBox="1"/>
              <p:nvPr/>
            </p:nvSpPr>
            <p:spPr>
              <a:xfrm>
                <a:off x="7375128" y="2542341"/>
                <a:ext cx="3024647" cy="69076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CR" sz="3200" b="0" i="1" smtClean="0">
                              <a:latin typeface="Cambria Math" panose="02040503050406030204" pitchFamily="18" charset="0"/>
                              <a:ea typeface="Cambria Math" panose="02040503050406030204" pitchFamily="18" charset="0"/>
                            </a:rPr>
                          </m:ctrlPr>
                        </m:sSubPr>
                        <m:e>
                          <m:r>
                            <a:rPr lang="es-CR" sz="3200" i="1">
                              <a:latin typeface="Cambria Math" panose="02040503050406030204" pitchFamily="18" charset="0"/>
                              <a:ea typeface="Cambria Math" panose="02040503050406030204" pitchFamily="18" charset="0"/>
                            </a:rPr>
                            <m:t>𝑡</m:t>
                          </m:r>
                        </m:e>
                        <m:sub>
                          <m:f>
                            <m:fPr>
                              <m:type m:val="skw"/>
                              <m:ctrlPr>
                                <a:rPr lang="es-CR" sz="3200" b="0" i="1" smtClean="0">
                                  <a:latin typeface="Cambria Math" panose="02040503050406030204" pitchFamily="18" charset="0"/>
                                  <a:ea typeface="Cambria Math" panose="02040503050406030204" pitchFamily="18" charset="0"/>
                                </a:rPr>
                              </m:ctrlPr>
                            </m:fPr>
                            <m:num>
                              <m:r>
                                <a:rPr lang="es-CR" sz="3200" b="0" i="1" smtClean="0">
                                  <a:latin typeface="Cambria Math" panose="02040503050406030204" pitchFamily="18" charset="0"/>
                                  <a:ea typeface="Cambria Math" panose="02040503050406030204" pitchFamily="18" charset="0"/>
                                </a:rPr>
                                <m:t>𝛼</m:t>
                              </m:r>
                            </m:num>
                            <m:den>
                              <m:r>
                                <a:rPr lang="es-CR" sz="3200" b="0" i="1" smtClean="0">
                                  <a:latin typeface="Cambria Math" panose="02040503050406030204" pitchFamily="18" charset="0"/>
                                  <a:ea typeface="Cambria Math" panose="02040503050406030204" pitchFamily="18" charset="0"/>
                                </a:rPr>
                                <m:t>2</m:t>
                              </m:r>
                            </m:den>
                          </m:f>
                        </m:sub>
                      </m:sSub>
                      <m:d>
                        <m:dPr>
                          <m:ctrlPr>
                            <a:rPr lang="es-CR" sz="3200" b="0" i="1" smtClean="0">
                              <a:latin typeface="Cambria Math" panose="02040503050406030204" pitchFamily="18" charset="0"/>
                              <a:ea typeface="Cambria Math" panose="02040503050406030204" pitchFamily="18" charset="0"/>
                            </a:rPr>
                          </m:ctrlPr>
                        </m:dPr>
                        <m:e>
                          <m:r>
                            <a:rPr lang="es-CR" sz="3200" b="0" i="1" smtClean="0">
                              <a:latin typeface="Cambria Math" panose="02040503050406030204" pitchFamily="18" charset="0"/>
                              <a:ea typeface="Cambria Math" panose="02040503050406030204" pitchFamily="18" charset="0"/>
                            </a:rPr>
                            <m:t>8</m:t>
                          </m:r>
                        </m:e>
                      </m:d>
                      <m:r>
                        <a:rPr lang="es-CR" sz="3200" b="0" i="1" smtClean="0">
                          <a:latin typeface="Cambria Math" panose="02040503050406030204" pitchFamily="18" charset="0"/>
                          <a:ea typeface="Cambria Math" panose="02040503050406030204" pitchFamily="18" charset="0"/>
                        </a:rPr>
                        <m:t>=1.860</m:t>
                      </m:r>
                    </m:oMath>
                  </m:oMathPara>
                </a14:m>
                <a:endParaRPr lang="es-CR" sz="3200" dirty="0"/>
              </a:p>
            </p:txBody>
          </p:sp>
        </mc:Choice>
        <mc:Fallback xmlns="">
          <p:sp>
            <p:nvSpPr>
              <p:cNvPr id="12" name="TextBox 11">
                <a:extLst>
                  <a:ext uri="{FF2B5EF4-FFF2-40B4-BE49-F238E27FC236}">
                    <a16:creationId xmlns:a16="http://schemas.microsoft.com/office/drawing/2014/main" id="{DCEFE3B6-33CD-B2F0-D89F-2C17A2BEEE48}"/>
                  </a:ext>
                </a:extLst>
              </p:cNvPr>
              <p:cNvSpPr txBox="1">
                <a:spLocks noRot="1" noChangeAspect="1" noMove="1" noResize="1" noEditPoints="1" noAdjustHandles="1" noChangeArrowheads="1" noChangeShapeType="1" noTextEdit="1"/>
              </p:cNvSpPr>
              <p:nvPr/>
            </p:nvSpPr>
            <p:spPr>
              <a:xfrm>
                <a:off x="7375128" y="2542341"/>
                <a:ext cx="3024647" cy="690767"/>
              </a:xfrm>
              <a:prstGeom prst="rect">
                <a:avLst/>
              </a:prstGeom>
              <a:blipFill>
                <a:blip r:embed="rId3"/>
                <a:stretch>
                  <a:fillRect/>
                </a:stretch>
              </a:blipFill>
            </p:spPr>
            <p:txBody>
              <a:bodyPr/>
              <a:lstStyle/>
              <a:p>
                <a:r>
                  <a:rPr lang="es-CR">
                    <a:noFill/>
                  </a:rPr>
                  <a:t> </a:t>
                </a:r>
              </a:p>
            </p:txBody>
          </p:sp>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80F34E76-5ED7-EF8D-6332-44195F9238A5}"/>
                  </a:ext>
                </a:extLst>
              </p14:cNvPr>
              <p14:cNvContentPartPr/>
              <p14:nvPr/>
            </p14:nvContentPartPr>
            <p14:xfrm>
              <a:off x="3689280" y="2158920"/>
              <a:ext cx="768600" cy="2013120"/>
            </p14:xfrm>
          </p:contentPart>
        </mc:Choice>
        <mc:Fallback xmlns="">
          <p:pic>
            <p:nvPicPr>
              <p:cNvPr id="3" name="Ink 2">
                <a:extLst>
                  <a:ext uri="{FF2B5EF4-FFF2-40B4-BE49-F238E27FC236}">
                    <a16:creationId xmlns:a16="http://schemas.microsoft.com/office/drawing/2014/main" id="{80F34E76-5ED7-EF8D-6332-44195F9238A5}"/>
                  </a:ext>
                </a:extLst>
              </p:cNvPr>
              <p:cNvPicPr/>
              <p:nvPr/>
            </p:nvPicPr>
            <p:blipFill>
              <a:blip r:embed="rId5"/>
              <a:stretch>
                <a:fillRect/>
              </a:stretch>
            </p:blipFill>
            <p:spPr>
              <a:xfrm>
                <a:off x="3679920" y="2149560"/>
                <a:ext cx="787320" cy="2031840"/>
              </a:xfrm>
              <a:prstGeom prst="rect">
                <a:avLst/>
              </a:prstGeom>
            </p:spPr>
          </p:pic>
        </mc:Fallback>
      </mc:AlternateContent>
    </p:spTree>
    <p:extLst>
      <p:ext uri="{BB962C8B-B14F-4D97-AF65-F5344CB8AC3E}">
        <p14:creationId xmlns:p14="http://schemas.microsoft.com/office/powerpoint/2010/main" val="58109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E2810ACA-4F98-C9B1-C6FF-BF994364A9CB}"/>
                  </a:ext>
                </a:extLst>
              </p:cNvPr>
              <p:cNvSpPr>
                <a:spLocks noGrp="1"/>
              </p:cNvSpPr>
              <p:nvPr>
                <p:ph sz="half" idx="1"/>
              </p:nvPr>
            </p:nvSpPr>
            <p:spPr/>
            <p:txBody>
              <a:bodyPr>
                <a:normAutofit/>
              </a:bodyPr>
              <a:lstStyle/>
              <a:p>
                <a:r>
                  <a:rPr lang="es-CR" dirty="0"/>
                  <a:t>Opción 1</a:t>
                </a:r>
              </a:p>
              <a:p>
                <a:pPr marL="0" indent="0">
                  <a:buNone/>
                </a:pPr>
                <a14:m>
                  <m:oMathPara xmlns:m="http://schemas.openxmlformats.org/officeDocument/2006/math">
                    <m:oMathParaPr>
                      <m:jc m:val="centerGroup"/>
                    </m:oMathParaPr>
                    <m:oMath xmlns:m="http://schemas.openxmlformats.org/officeDocument/2006/math">
                      <m:d>
                        <m:dPr>
                          <m:begChr m:val="|"/>
                          <m:endChr m:val="|"/>
                          <m:ctrlPr>
                            <a:rPr lang="es-CR" i="1" smtClean="0">
                              <a:latin typeface="Cambria Math" panose="02040503050406030204" pitchFamily="18" charset="0"/>
                            </a:rPr>
                          </m:ctrlPr>
                        </m:dPr>
                        <m:e>
                          <m:r>
                            <a:rPr lang="es-CR" b="0" i="1" smtClean="0">
                              <a:latin typeface="Cambria Math" panose="02040503050406030204" pitchFamily="18" charset="0"/>
                            </a:rPr>
                            <m:t>𝑡</m:t>
                          </m:r>
                        </m:e>
                      </m:d>
                      <m:r>
                        <a:rPr lang="es-CR" i="1" smtClean="0">
                          <a:latin typeface="Cambria Math" panose="02040503050406030204" pitchFamily="18" charset="0"/>
                          <a:ea typeface="Cambria Math" panose="02040503050406030204" pitchFamily="18" charset="0"/>
                        </a:rPr>
                        <m:t>≥</m:t>
                      </m:r>
                      <m:r>
                        <a:rPr lang="es-CR" b="0" i="1" smtClean="0">
                          <a:latin typeface="Cambria Math" panose="02040503050406030204" pitchFamily="18" charset="0"/>
                          <a:ea typeface="Cambria Math" panose="02040503050406030204" pitchFamily="18" charset="0"/>
                        </a:rPr>
                        <m:t> </m:t>
                      </m:r>
                      <m:sSub>
                        <m:sSubPr>
                          <m:ctrlPr>
                            <a:rPr lang="es-CR" i="1">
                              <a:latin typeface="Cambria Math" panose="02040503050406030204" pitchFamily="18" charset="0"/>
                              <a:ea typeface="Cambria Math" panose="02040503050406030204" pitchFamily="18" charset="0"/>
                            </a:rPr>
                          </m:ctrlPr>
                        </m:sSubPr>
                        <m:e>
                          <m:r>
                            <a:rPr lang="es-CR" i="1">
                              <a:latin typeface="Cambria Math" panose="02040503050406030204" pitchFamily="18" charset="0"/>
                              <a:ea typeface="Cambria Math" panose="02040503050406030204" pitchFamily="18" charset="0"/>
                            </a:rPr>
                            <m:t>𝑡</m:t>
                          </m:r>
                        </m:e>
                        <m:sub>
                          <m:f>
                            <m:fPr>
                              <m:type m:val="skw"/>
                              <m:ctrlPr>
                                <a:rPr lang="es-CR" i="1">
                                  <a:latin typeface="Cambria Math" panose="02040503050406030204" pitchFamily="18" charset="0"/>
                                  <a:ea typeface="Cambria Math" panose="02040503050406030204" pitchFamily="18" charset="0"/>
                                </a:rPr>
                              </m:ctrlPr>
                            </m:fPr>
                            <m:num>
                              <m:r>
                                <a:rPr lang="es-CR" i="1">
                                  <a:latin typeface="Cambria Math" panose="02040503050406030204" pitchFamily="18" charset="0"/>
                                  <a:ea typeface="Cambria Math" panose="02040503050406030204" pitchFamily="18" charset="0"/>
                                </a:rPr>
                                <m:t>𝛼</m:t>
                              </m:r>
                            </m:num>
                            <m:den>
                              <m:r>
                                <a:rPr lang="es-CR" i="1">
                                  <a:latin typeface="Cambria Math" panose="02040503050406030204" pitchFamily="18" charset="0"/>
                                  <a:ea typeface="Cambria Math" panose="02040503050406030204" pitchFamily="18" charset="0"/>
                                </a:rPr>
                                <m:t>2</m:t>
                              </m:r>
                            </m:den>
                          </m:f>
                        </m:sub>
                      </m:sSub>
                      <m:d>
                        <m:dPr>
                          <m:ctrlPr>
                            <a:rPr lang="es-CR" i="1">
                              <a:latin typeface="Cambria Math" panose="02040503050406030204" pitchFamily="18" charset="0"/>
                              <a:ea typeface="Cambria Math" panose="02040503050406030204" pitchFamily="18" charset="0"/>
                            </a:rPr>
                          </m:ctrlPr>
                        </m:dPr>
                        <m:e>
                          <m:r>
                            <a:rPr lang="es-CR" b="0" i="1" smtClean="0">
                              <a:latin typeface="Cambria Math" panose="02040503050406030204" pitchFamily="18" charset="0"/>
                              <a:ea typeface="Cambria Math" panose="02040503050406030204" pitchFamily="18" charset="0"/>
                            </a:rPr>
                            <m:t>𝑛</m:t>
                          </m:r>
                          <m:r>
                            <a:rPr lang="es-CR" b="0" i="1" smtClean="0">
                              <a:latin typeface="Cambria Math" panose="02040503050406030204" pitchFamily="18" charset="0"/>
                              <a:ea typeface="Cambria Math" panose="02040503050406030204" pitchFamily="18" charset="0"/>
                            </a:rPr>
                            <m:t>−1</m:t>
                          </m:r>
                        </m:e>
                      </m:d>
                    </m:oMath>
                  </m:oMathPara>
                </a14:m>
                <a:endParaRPr lang="es-CR" dirty="0"/>
              </a:p>
              <a:p>
                <a:pPr marL="0" indent="0">
                  <a:buNone/>
                </a:pPr>
                <a:endParaRPr lang="es-CR" dirty="0"/>
              </a:p>
              <a:p>
                <a:pPr marL="0" indent="0">
                  <a:buNone/>
                </a:pPr>
                <a14:m>
                  <m:oMathPara xmlns:m="http://schemas.openxmlformats.org/officeDocument/2006/math">
                    <m:oMathParaPr>
                      <m:jc m:val="centerGroup"/>
                    </m:oMathParaPr>
                    <m:oMath xmlns:m="http://schemas.openxmlformats.org/officeDocument/2006/math">
                      <m:d>
                        <m:dPr>
                          <m:begChr m:val="|"/>
                          <m:endChr m:val="|"/>
                          <m:ctrlPr>
                            <a:rPr lang="es-CR" i="1" smtClean="0">
                              <a:latin typeface="Cambria Math" panose="02040503050406030204" pitchFamily="18" charset="0"/>
                            </a:rPr>
                          </m:ctrlPr>
                        </m:dPr>
                        <m:e>
                          <m:f>
                            <m:fPr>
                              <m:ctrlPr>
                                <a:rPr lang="en-US" i="1">
                                  <a:latin typeface="Cambria Math" panose="02040503050406030204" pitchFamily="18" charset="0"/>
                                  <a:ea typeface="Cambria Math" panose="02040503050406030204" pitchFamily="18" charset="0"/>
                                </a:rPr>
                              </m:ctrlPr>
                            </m:fPr>
                            <m:num>
                              <m:r>
                                <a:rPr lang="es-CR" b="0" i="1" smtClean="0">
                                  <a:latin typeface="Cambria Math" panose="02040503050406030204" pitchFamily="18" charset="0"/>
                                  <a:ea typeface="Cambria Math" panose="02040503050406030204" pitchFamily="18" charset="0"/>
                                </a:rPr>
                                <m:t>4.3</m:t>
                              </m:r>
                              <m:r>
                                <a:rPr lang="es-CR" i="1">
                                  <a:latin typeface="Cambria Math" panose="02040503050406030204" pitchFamily="18" charset="0"/>
                                </a:rPr>
                                <m:t>−</m:t>
                              </m:r>
                              <m:r>
                                <a:rPr lang="es-CR" b="0" i="1" smtClean="0">
                                  <a:latin typeface="Cambria Math" panose="02040503050406030204" pitchFamily="18" charset="0"/>
                                  <a:ea typeface="Cambria Math" panose="02040503050406030204" pitchFamily="18" charset="0"/>
                                </a:rPr>
                                <m:t>4</m:t>
                              </m:r>
                            </m:num>
                            <m:den>
                              <m:f>
                                <m:fPr>
                                  <m:type m:val="skw"/>
                                  <m:ctrlPr>
                                    <a:rPr lang="en-US" i="1">
                                      <a:latin typeface="Cambria Math" panose="02040503050406030204" pitchFamily="18" charset="0"/>
                                      <a:ea typeface="Cambria Math" panose="02040503050406030204" pitchFamily="18" charset="0"/>
                                    </a:rPr>
                                  </m:ctrlPr>
                                </m:fPr>
                                <m:num>
                                  <m:r>
                                    <a:rPr lang="es-CR" b="0" i="1" smtClean="0">
                                      <a:latin typeface="Cambria Math" panose="02040503050406030204" pitchFamily="18" charset="0"/>
                                      <a:ea typeface="Cambria Math" panose="02040503050406030204" pitchFamily="18" charset="0"/>
                                    </a:rPr>
                                    <m:t>1.2</m:t>
                                  </m:r>
                                </m:num>
                                <m:den>
                                  <m:rad>
                                    <m:radPr>
                                      <m:degHide m:val="on"/>
                                      <m:ctrlPr>
                                        <a:rPr lang="en-US" i="1">
                                          <a:latin typeface="Cambria Math" panose="02040503050406030204" pitchFamily="18" charset="0"/>
                                          <a:ea typeface="Cambria Math" panose="02040503050406030204" pitchFamily="18" charset="0"/>
                                        </a:rPr>
                                      </m:ctrlPr>
                                    </m:radPr>
                                    <m:deg/>
                                    <m:e>
                                      <m:r>
                                        <a:rPr lang="es-CR" b="0" i="1" smtClean="0">
                                          <a:latin typeface="Cambria Math" panose="02040503050406030204" pitchFamily="18" charset="0"/>
                                          <a:ea typeface="Cambria Math" panose="02040503050406030204" pitchFamily="18" charset="0"/>
                                        </a:rPr>
                                        <m:t>9</m:t>
                                      </m:r>
                                    </m:e>
                                  </m:rad>
                                </m:den>
                              </m:f>
                            </m:den>
                          </m:f>
                        </m:e>
                      </m:d>
                      <m:r>
                        <a:rPr lang="es-CR" i="1" smtClean="0">
                          <a:latin typeface="Cambria Math" panose="02040503050406030204" pitchFamily="18" charset="0"/>
                          <a:ea typeface="Cambria Math" panose="02040503050406030204" pitchFamily="18" charset="0"/>
                        </a:rPr>
                        <m:t>≥1</m:t>
                      </m:r>
                      <m:r>
                        <a:rPr lang="es-CR" b="0" i="1" smtClean="0">
                          <a:latin typeface="Cambria Math" panose="02040503050406030204" pitchFamily="18" charset="0"/>
                          <a:ea typeface="Cambria Math" panose="02040503050406030204" pitchFamily="18" charset="0"/>
                        </a:rPr>
                        <m:t>.860</m:t>
                      </m:r>
                    </m:oMath>
                  </m:oMathPara>
                </a14:m>
                <a:endParaRPr lang="es-CR" b="0" dirty="0">
                  <a:ea typeface="Cambria Math" panose="02040503050406030204" pitchFamily="18" charset="0"/>
                </a:endParaRPr>
              </a:p>
              <a:p>
                <a:pPr marL="0" indent="0">
                  <a:buNone/>
                </a:pPr>
                <a:endParaRPr lang="es-CR" b="0"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s-CR" b="0" i="1" smtClean="0">
                          <a:latin typeface="Cambria Math" panose="02040503050406030204" pitchFamily="18" charset="0"/>
                          <a:ea typeface="Cambria Math" panose="02040503050406030204" pitchFamily="18" charset="0"/>
                        </a:rPr>
                        <m:t>0.75</m:t>
                      </m:r>
                      <m:r>
                        <a:rPr lang="es-CR" i="1" smtClean="0">
                          <a:latin typeface="Cambria Math" panose="02040503050406030204" pitchFamily="18" charset="0"/>
                          <a:ea typeface="Cambria Math" panose="02040503050406030204" pitchFamily="18" charset="0"/>
                        </a:rPr>
                        <m:t>≥1</m:t>
                      </m:r>
                      <m:r>
                        <a:rPr lang="es-CR" b="0" i="1" smtClean="0">
                          <a:latin typeface="Cambria Math" panose="02040503050406030204" pitchFamily="18" charset="0"/>
                          <a:ea typeface="Cambria Math" panose="02040503050406030204" pitchFamily="18" charset="0"/>
                        </a:rPr>
                        <m:t>.860</m:t>
                      </m:r>
                    </m:oMath>
                  </m:oMathPara>
                </a14:m>
                <a:endParaRPr lang="es-CR" b="0" dirty="0">
                  <a:ea typeface="Cambria Math" panose="02040503050406030204" pitchFamily="18" charset="0"/>
                </a:endParaRPr>
              </a:p>
              <a:p>
                <a:pPr marL="0" indent="0">
                  <a:buNone/>
                </a:pPr>
                <a:endParaRPr lang="es-CR" dirty="0"/>
              </a:p>
              <a:p>
                <a:endParaRPr lang="es-CR" dirty="0"/>
              </a:p>
            </p:txBody>
          </p:sp>
        </mc:Choice>
        <mc:Fallback xmlns="">
          <p:sp>
            <p:nvSpPr>
              <p:cNvPr id="7" name="Content Placeholder 6">
                <a:extLst>
                  <a:ext uri="{FF2B5EF4-FFF2-40B4-BE49-F238E27FC236}">
                    <a16:creationId xmlns:a16="http://schemas.microsoft.com/office/drawing/2014/main" id="{E2810ACA-4F98-C9B1-C6FF-BF994364A9CB}"/>
                  </a:ext>
                </a:extLst>
              </p:cNvPr>
              <p:cNvSpPr>
                <a:spLocks noGrp="1" noRot="1" noChangeAspect="1" noMove="1" noResize="1" noEditPoints="1" noAdjustHandles="1" noChangeArrowheads="1" noChangeShapeType="1" noTextEdit="1"/>
              </p:cNvSpPr>
              <p:nvPr>
                <p:ph sz="half" idx="1"/>
              </p:nvPr>
            </p:nvSpPr>
            <p:spPr>
              <a:blipFill>
                <a:blip r:embed="rId2"/>
                <a:stretch>
                  <a:fillRect l="-2118" t="-3426"/>
                </a:stretch>
              </a:blipFill>
            </p:spPr>
            <p:txBody>
              <a:bodyPr/>
              <a:lstStyle/>
              <a:p>
                <a:r>
                  <a:rPr lang="es-CR">
                    <a:noFill/>
                  </a:rPr>
                  <a:t> </a:t>
                </a:r>
              </a:p>
            </p:txBody>
          </p:sp>
        </mc:Fallback>
      </mc:AlternateContent>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58AF5216-A41E-019F-A9BC-F29EB3BDAA0E}"/>
                  </a:ext>
                </a:extLst>
              </p:cNvPr>
              <p:cNvSpPr>
                <a:spLocks noGrp="1"/>
              </p:cNvSpPr>
              <p:nvPr>
                <p:ph sz="half" idx="2"/>
              </p:nvPr>
            </p:nvSpPr>
            <p:spPr/>
            <p:txBody>
              <a:bodyPr/>
              <a:lstStyle/>
              <a:p>
                <a:r>
                  <a:rPr lang="es-CR" dirty="0"/>
                  <a:t>Opción 2</a:t>
                </a:r>
              </a:p>
              <a:p>
                <a:pPr marL="0" indent="0">
                  <a:buNone/>
                </a:pPr>
                <a14:m>
                  <m:oMath xmlns:m="http://schemas.openxmlformats.org/officeDocument/2006/math">
                    <m:d>
                      <m:dPr>
                        <m:begChr m:val="|"/>
                        <m:endChr m:val="|"/>
                        <m:ctrlPr>
                          <a:rPr lang="es-CR" i="1" smtClean="0">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𝑥</m:t>
                            </m:r>
                          </m:e>
                        </m:acc>
                        <m:r>
                          <a:rPr lang="es-CR" b="0" i="1" smtClean="0">
                            <a:latin typeface="Cambria Math" panose="02040503050406030204" pitchFamily="18" charset="0"/>
                          </a:rPr>
                          <m:t>−</m:t>
                        </m:r>
                        <m:sSub>
                          <m:sSubPr>
                            <m:ctrlPr>
                              <a:rPr lang="es-CR" i="1">
                                <a:latin typeface="Cambria Math" panose="02040503050406030204" pitchFamily="18" charset="0"/>
                                <a:ea typeface="Cambria Math" panose="02040503050406030204" pitchFamily="18" charset="0"/>
                              </a:rPr>
                            </m:ctrlPr>
                          </m:sSubPr>
                          <m:e>
                            <m:r>
                              <a:rPr lang="es-CR" i="1">
                                <a:latin typeface="Cambria Math" panose="02040503050406030204" pitchFamily="18" charset="0"/>
                                <a:ea typeface="Cambria Math" panose="02040503050406030204" pitchFamily="18" charset="0"/>
                              </a:rPr>
                              <m:t>𝜇</m:t>
                            </m:r>
                          </m:e>
                          <m:sub>
                            <m:r>
                              <a:rPr lang="es-CR" i="1">
                                <a:latin typeface="Cambria Math" panose="02040503050406030204" pitchFamily="18" charset="0"/>
                                <a:ea typeface="Cambria Math" panose="02040503050406030204" pitchFamily="18" charset="0"/>
                              </a:rPr>
                              <m:t>0</m:t>
                            </m:r>
                          </m:sub>
                        </m:sSub>
                      </m:e>
                    </m:d>
                    <m:r>
                      <a:rPr lang="es-CR" i="1" smtClean="0">
                        <a:latin typeface="Cambria Math" panose="02040503050406030204" pitchFamily="18" charset="0"/>
                        <a:ea typeface="Cambria Math" panose="02040503050406030204" pitchFamily="18" charset="0"/>
                      </a:rPr>
                      <m:t>≥</m:t>
                    </m:r>
                    <m:r>
                      <a:rPr lang="es-CR" b="0" i="1" smtClean="0">
                        <a:latin typeface="Cambria Math" panose="02040503050406030204" pitchFamily="18" charset="0"/>
                        <a:ea typeface="Cambria Math" panose="02040503050406030204" pitchFamily="18" charset="0"/>
                      </a:rPr>
                      <m:t> </m:t>
                    </m:r>
                    <m:sSub>
                      <m:sSubPr>
                        <m:ctrlPr>
                          <a:rPr lang="es-CR" i="1">
                            <a:latin typeface="Cambria Math" panose="02040503050406030204" pitchFamily="18" charset="0"/>
                            <a:ea typeface="Cambria Math" panose="02040503050406030204" pitchFamily="18" charset="0"/>
                          </a:rPr>
                        </m:ctrlPr>
                      </m:sSubPr>
                      <m:e>
                        <m:r>
                          <a:rPr lang="es-CR" i="1">
                            <a:latin typeface="Cambria Math" panose="02040503050406030204" pitchFamily="18" charset="0"/>
                            <a:ea typeface="Cambria Math" panose="02040503050406030204" pitchFamily="18" charset="0"/>
                          </a:rPr>
                          <m:t>𝑡</m:t>
                        </m:r>
                      </m:e>
                      <m:sub>
                        <m:f>
                          <m:fPr>
                            <m:type m:val="skw"/>
                            <m:ctrlPr>
                              <a:rPr lang="es-CR" i="1">
                                <a:latin typeface="Cambria Math" panose="02040503050406030204" pitchFamily="18" charset="0"/>
                                <a:ea typeface="Cambria Math" panose="02040503050406030204" pitchFamily="18" charset="0"/>
                              </a:rPr>
                            </m:ctrlPr>
                          </m:fPr>
                          <m:num>
                            <m:r>
                              <a:rPr lang="es-CR" i="1">
                                <a:latin typeface="Cambria Math" panose="02040503050406030204" pitchFamily="18" charset="0"/>
                                <a:ea typeface="Cambria Math" panose="02040503050406030204" pitchFamily="18" charset="0"/>
                              </a:rPr>
                              <m:t>𝛼</m:t>
                            </m:r>
                          </m:num>
                          <m:den>
                            <m:r>
                              <a:rPr lang="es-CR" i="1">
                                <a:latin typeface="Cambria Math" panose="02040503050406030204" pitchFamily="18" charset="0"/>
                                <a:ea typeface="Cambria Math" panose="02040503050406030204" pitchFamily="18" charset="0"/>
                              </a:rPr>
                              <m:t>2</m:t>
                            </m:r>
                          </m:den>
                        </m:f>
                      </m:sub>
                    </m:sSub>
                    <m:d>
                      <m:dPr>
                        <m:ctrlPr>
                          <a:rPr lang="es-CR" i="1">
                            <a:latin typeface="Cambria Math" panose="02040503050406030204" pitchFamily="18" charset="0"/>
                            <a:ea typeface="Cambria Math" panose="02040503050406030204" pitchFamily="18" charset="0"/>
                          </a:rPr>
                        </m:ctrlPr>
                      </m:dPr>
                      <m:e>
                        <m:r>
                          <a:rPr lang="es-CR" b="0" i="1" smtClean="0">
                            <a:latin typeface="Cambria Math" panose="02040503050406030204" pitchFamily="18" charset="0"/>
                            <a:ea typeface="Cambria Math" panose="02040503050406030204" pitchFamily="18" charset="0"/>
                          </a:rPr>
                          <m:t>𝑛</m:t>
                        </m:r>
                        <m:r>
                          <a:rPr lang="es-CR" b="0" i="1" smtClean="0">
                            <a:latin typeface="Cambria Math" panose="02040503050406030204" pitchFamily="18" charset="0"/>
                            <a:ea typeface="Cambria Math" panose="02040503050406030204" pitchFamily="18" charset="0"/>
                          </a:rPr>
                          <m:t>−1</m:t>
                        </m:r>
                      </m:e>
                    </m:d>
                  </m:oMath>
                </a14:m>
                <a:r>
                  <a:rPr lang="es-CR" dirty="0"/>
                  <a:t>*</a:t>
                </a:r>
                <a:r>
                  <a:rPr lang="en-US" dirty="0">
                    <a:ea typeface="Cambria Math" panose="02040503050406030204" pitchFamily="18" charset="0"/>
                  </a:rPr>
                  <a:t> </a:t>
                </a:r>
                <a14:m>
                  <m:oMath xmlns:m="http://schemas.openxmlformats.org/officeDocument/2006/math">
                    <m:f>
                      <m:fPr>
                        <m:type m:val="skw"/>
                        <m:ctrlPr>
                          <a:rPr lang="en-US" i="1">
                            <a:latin typeface="Cambria Math" panose="02040503050406030204" pitchFamily="18" charset="0"/>
                            <a:ea typeface="Cambria Math" panose="02040503050406030204" pitchFamily="18" charset="0"/>
                          </a:rPr>
                        </m:ctrlPr>
                      </m:fPr>
                      <m:num>
                        <m:r>
                          <a:rPr lang="es-CR" b="0" i="1" smtClean="0">
                            <a:latin typeface="Cambria Math" panose="02040503050406030204" pitchFamily="18" charset="0"/>
                            <a:ea typeface="Cambria Math" panose="02040503050406030204" pitchFamily="18" charset="0"/>
                          </a:rPr>
                          <m:t>𝑠</m:t>
                        </m:r>
                      </m:num>
                      <m:den>
                        <m:rad>
                          <m:radPr>
                            <m:degHide m:val="on"/>
                            <m:ctrlPr>
                              <a:rPr lang="en-US" i="1">
                                <a:latin typeface="Cambria Math" panose="02040503050406030204" pitchFamily="18" charset="0"/>
                                <a:ea typeface="Cambria Math" panose="02040503050406030204" pitchFamily="18" charset="0"/>
                              </a:rPr>
                            </m:ctrlPr>
                          </m:radPr>
                          <m:deg/>
                          <m:e>
                            <m:r>
                              <a:rPr lang="en-US" i="1">
                                <a:latin typeface="Cambria Math" panose="02040503050406030204" pitchFamily="18" charset="0"/>
                                <a:ea typeface="Cambria Math" panose="02040503050406030204" pitchFamily="18" charset="0"/>
                              </a:rPr>
                              <m:t>𝑛</m:t>
                            </m:r>
                          </m:e>
                        </m:rad>
                      </m:den>
                    </m:f>
                  </m:oMath>
                </a14:m>
                <a:endParaRPr lang="es-CR" dirty="0"/>
              </a:p>
              <a:p>
                <a:pPr marL="0" indent="0">
                  <a:buNone/>
                </a:pPr>
                <a:endParaRPr lang="es-CR" dirty="0"/>
              </a:p>
              <a:p>
                <a:pPr marL="0" indent="0">
                  <a:buNone/>
                </a:pPr>
                <a14:m>
                  <m:oMath xmlns:m="http://schemas.openxmlformats.org/officeDocument/2006/math">
                    <m:d>
                      <m:dPr>
                        <m:begChr m:val="|"/>
                        <m:endChr m:val="|"/>
                        <m:ctrlPr>
                          <a:rPr lang="es-CR" i="1">
                            <a:latin typeface="Cambria Math" panose="02040503050406030204" pitchFamily="18" charset="0"/>
                          </a:rPr>
                        </m:ctrlPr>
                      </m:dPr>
                      <m:e>
                        <m:r>
                          <a:rPr lang="es-CR" b="0" i="1" smtClean="0">
                            <a:latin typeface="Cambria Math" panose="02040503050406030204" pitchFamily="18" charset="0"/>
                          </a:rPr>
                          <m:t>4.3</m:t>
                        </m:r>
                        <m:r>
                          <a:rPr lang="es-CR" i="1">
                            <a:latin typeface="Cambria Math" panose="02040503050406030204" pitchFamily="18" charset="0"/>
                          </a:rPr>
                          <m:t>−</m:t>
                        </m:r>
                        <m:r>
                          <a:rPr lang="es-CR" b="0" i="1" smtClean="0">
                            <a:latin typeface="Cambria Math" panose="02040503050406030204" pitchFamily="18" charset="0"/>
                            <a:ea typeface="Cambria Math" panose="02040503050406030204" pitchFamily="18" charset="0"/>
                          </a:rPr>
                          <m:t>4</m:t>
                        </m:r>
                      </m:e>
                    </m:d>
                    <m:r>
                      <a:rPr lang="es-CR" i="1">
                        <a:latin typeface="Cambria Math" panose="02040503050406030204" pitchFamily="18" charset="0"/>
                        <a:ea typeface="Cambria Math" panose="02040503050406030204" pitchFamily="18" charset="0"/>
                      </a:rPr>
                      <m:t>≥</m:t>
                    </m:r>
                    <m:r>
                      <a:rPr lang="es-CR" b="0" i="1" smtClean="0">
                        <a:latin typeface="Cambria Math" panose="02040503050406030204" pitchFamily="18" charset="0"/>
                        <a:ea typeface="Cambria Math" panose="02040503050406030204" pitchFamily="18" charset="0"/>
                      </a:rPr>
                      <m:t>1.860</m:t>
                    </m:r>
                  </m:oMath>
                </a14:m>
                <a:r>
                  <a:rPr lang="es-CR" dirty="0"/>
                  <a:t>*</a:t>
                </a:r>
                <a:r>
                  <a:rPr lang="en-US" dirty="0">
                    <a:ea typeface="Cambria Math" panose="02040503050406030204" pitchFamily="18" charset="0"/>
                  </a:rPr>
                  <a:t> </a:t>
                </a:r>
                <a14:m>
                  <m:oMath xmlns:m="http://schemas.openxmlformats.org/officeDocument/2006/math">
                    <m:f>
                      <m:fPr>
                        <m:type m:val="skw"/>
                        <m:ctrlPr>
                          <a:rPr lang="en-US" i="1">
                            <a:latin typeface="Cambria Math" panose="02040503050406030204" pitchFamily="18" charset="0"/>
                            <a:ea typeface="Cambria Math" panose="02040503050406030204" pitchFamily="18" charset="0"/>
                          </a:rPr>
                        </m:ctrlPr>
                      </m:fPr>
                      <m:num>
                        <m:r>
                          <a:rPr lang="es-CR" b="0" i="1" smtClean="0">
                            <a:latin typeface="Cambria Math" panose="02040503050406030204" pitchFamily="18" charset="0"/>
                            <a:ea typeface="Cambria Math" panose="02040503050406030204" pitchFamily="18" charset="0"/>
                          </a:rPr>
                          <m:t>1.2</m:t>
                        </m:r>
                      </m:num>
                      <m:den>
                        <m:rad>
                          <m:radPr>
                            <m:degHide m:val="on"/>
                            <m:ctrlPr>
                              <a:rPr lang="en-US" i="1">
                                <a:latin typeface="Cambria Math" panose="02040503050406030204" pitchFamily="18" charset="0"/>
                                <a:ea typeface="Cambria Math" panose="02040503050406030204" pitchFamily="18" charset="0"/>
                              </a:rPr>
                            </m:ctrlPr>
                          </m:radPr>
                          <m:deg/>
                          <m:e>
                            <m:r>
                              <a:rPr lang="es-CR" b="0" i="1" smtClean="0">
                                <a:latin typeface="Cambria Math" panose="02040503050406030204" pitchFamily="18" charset="0"/>
                                <a:ea typeface="Cambria Math" panose="02040503050406030204" pitchFamily="18" charset="0"/>
                              </a:rPr>
                              <m:t>9</m:t>
                            </m:r>
                          </m:e>
                        </m:rad>
                      </m:den>
                    </m:f>
                  </m:oMath>
                </a14:m>
                <a:endParaRPr lang="es-CR" dirty="0"/>
              </a:p>
              <a:p>
                <a:pPr marL="0" indent="0">
                  <a:buNone/>
                </a:pPr>
                <a:endParaRPr lang="es-CR" dirty="0"/>
              </a:p>
              <a:p>
                <a:pPr marL="0" indent="0">
                  <a:buNone/>
                </a:pPr>
                <a14:m>
                  <m:oMathPara xmlns:m="http://schemas.openxmlformats.org/officeDocument/2006/math">
                    <m:oMathParaPr>
                      <m:jc m:val="centerGroup"/>
                    </m:oMathParaPr>
                    <m:oMath xmlns:m="http://schemas.openxmlformats.org/officeDocument/2006/math">
                      <m:r>
                        <a:rPr lang="es-CR" b="0" i="1" smtClean="0">
                          <a:latin typeface="Cambria Math" panose="02040503050406030204" pitchFamily="18" charset="0"/>
                        </a:rPr>
                        <m:t>0.3</m:t>
                      </m:r>
                      <m:r>
                        <a:rPr lang="es-CR" i="1">
                          <a:latin typeface="Cambria Math" panose="02040503050406030204" pitchFamily="18" charset="0"/>
                          <a:ea typeface="Cambria Math" panose="02040503050406030204" pitchFamily="18" charset="0"/>
                        </a:rPr>
                        <m:t>≥</m:t>
                      </m:r>
                      <m:r>
                        <a:rPr lang="es-CR" b="0" i="1" smtClean="0">
                          <a:latin typeface="Cambria Math" panose="02040503050406030204" pitchFamily="18" charset="0"/>
                          <a:ea typeface="Cambria Math" panose="02040503050406030204" pitchFamily="18" charset="0"/>
                        </a:rPr>
                        <m:t>0.744</m:t>
                      </m:r>
                    </m:oMath>
                  </m:oMathPara>
                </a14:m>
                <a:endParaRPr lang="es-CR" dirty="0"/>
              </a:p>
              <a:p>
                <a:endParaRPr lang="es-CR" dirty="0"/>
              </a:p>
            </p:txBody>
          </p:sp>
        </mc:Choice>
        <mc:Fallback xmlns="">
          <p:sp>
            <p:nvSpPr>
              <p:cNvPr id="8" name="Content Placeholder 7">
                <a:extLst>
                  <a:ext uri="{FF2B5EF4-FFF2-40B4-BE49-F238E27FC236}">
                    <a16:creationId xmlns:a16="http://schemas.microsoft.com/office/drawing/2014/main" id="{58AF5216-A41E-019F-A9BC-F29EB3BDAA0E}"/>
                  </a:ext>
                </a:extLst>
              </p:cNvPr>
              <p:cNvSpPr>
                <a:spLocks noGrp="1" noRot="1" noChangeAspect="1" noMove="1" noResize="1" noEditPoints="1" noAdjustHandles="1" noChangeArrowheads="1" noChangeShapeType="1" noTextEdit="1"/>
              </p:cNvSpPr>
              <p:nvPr>
                <p:ph sz="half" idx="2"/>
              </p:nvPr>
            </p:nvSpPr>
            <p:spPr>
              <a:blipFill>
                <a:blip r:embed="rId3"/>
                <a:stretch>
                  <a:fillRect l="-2118" t="-2610"/>
                </a:stretch>
              </a:blipFill>
            </p:spPr>
            <p:txBody>
              <a:bodyPr/>
              <a:lstStyle/>
              <a:p>
                <a:r>
                  <a:rPr lang="es-CR">
                    <a:noFill/>
                  </a:rPr>
                  <a:t> </a:t>
                </a:r>
              </a:p>
            </p:txBody>
          </p:sp>
        </mc:Fallback>
      </mc:AlternateContent>
      <p:sp>
        <p:nvSpPr>
          <p:cNvPr id="2" name="Title 1">
            <a:extLst>
              <a:ext uri="{FF2B5EF4-FFF2-40B4-BE49-F238E27FC236}">
                <a16:creationId xmlns:a16="http://schemas.microsoft.com/office/drawing/2014/main" id="{5849DFA7-AE01-E0B4-E94D-6949AF46B973}"/>
              </a:ext>
            </a:extLst>
          </p:cNvPr>
          <p:cNvSpPr>
            <a:spLocks noGrp="1"/>
          </p:cNvSpPr>
          <p:nvPr>
            <p:ph type="title"/>
          </p:nvPr>
        </p:nvSpPr>
        <p:spPr/>
        <p:txBody>
          <a:bodyPr/>
          <a:lstStyle/>
          <a:p>
            <a:r>
              <a:rPr lang="es-CR" dirty="0"/>
              <a:t>Siguiente paso: Evaluar región crítica</a:t>
            </a:r>
          </a:p>
        </p:txBody>
      </p:sp>
    </p:spTree>
    <p:extLst>
      <p:ext uri="{BB962C8B-B14F-4D97-AF65-F5344CB8AC3E}">
        <p14:creationId xmlns:p14="http://schemas.microsoft.com/office/powerpoint/2010/main" val="3623975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8"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D557578-2679-FFB4-FBF0-77CDCC434B43}"/>
              </a:ext>
            </a:extLst>
          </p:cNvPr>
          <p:cNvSpPr>
            <a:spLocks noGrp="1"/>
          </p:cNvSpPr>
          <p:nvPr>
            <p:ph sz="half" idx="1"/>
          </p:nvPr>
        </p:nvSpPr>
        <p:spPr>
          <a:xfrm>
            <a:off x="838199" y="2067983"/>
            <a:ext cx="10336877" cy="3735410"/>
          </a:xfrm>
        </p:spPr>
        <p:txBody>
          <a:bodyPr/>
          <a:lstStyle/>
          <a:p>
            <a:r>
              <a:rPr lang="es-CR" dirty="0"/>
              <a:t>No existe suficiente evidencia estadística para rechazar la hipótesis nula de que la media es igual a 4.0 mm, con un nivel de significancia del 10%.</a:t>
            </a:r>
          </a:p>
        </p:txBody>
      </p:sp>
      <p:sp>
        <p:nvSpPr>
          <p:cNvPr id="4" name="Title 3">
            <a:extLst>
              <a:ext uri="{FF2B5EF4-FFF2-40B4-BE49-F238E27FC236}">
                <a16:creationId xmlns:a16="http://schemas.microsoft.com/office/drawing/2014/main" id="{E8E615D0-7917-FC97-456B-03DDA29CCCEC}"/>
              </a:ext>
            </a:extLst>
          </p:cNvPr>
          <p:cNvSpPr>
            <a:spLocks noGrp="1"/>
          </p:cNvSpPr>
          <p:nvPr>
            <p:ph type="title"/>
          </p:nvPr>
        </p:nvSpPr>
        <p:spPr/>
        <p:txBody>
          <a:bodyPr/>
          <a:lstStyle/>
          <a:p>
            <a:r>
              <a:rPr lang="es-CR" dirty="0"/>
              <a:t>Resultado de la prueba</a:t>
            </a:r>
          </a:p>
        </p:txBody>
      </p:sp>
    </p:spTree>
    <p:extLst>
      <p:ext uri="{BB962C8B-B14F-4D97-AF65-F5344CB8AC3E}">
        <p14:creationId xmlns:p14="http://schemas.microsoft.com/office/powerpoint/2010/main" val="36976780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CFC2B841-D526-D092-45E8-8B04391043B0}"/>
                  </a:ext>
                </a:extLst>
              </p:cNvPr>
              <p:cNvSpPr>
                <a:spLocks noGrp="1"/>
              </p:cNvSpPr>
              <p:nvPr>
                <p:ph sz="half" idx="1"/>
              </p:nvPr>
            </p:nvSpPr>
            <p:spPr>
              <a:xfrm>
                <a:off x="838200" y="2067983"/>
                <a:ext cx="10146792" cy="3735410"/>
              </a:xfrm>
            </p:spPr>
            <p:txBody>
              <a:bodyPr/>
              <a:lstStyle/>
              <a:p>
                <a:r>
                  <a:rPr lang="es-CR" dirty="0"/>
                  <a:t>Una fábrica ha implementado mejoras en el consumo de oxígeno que generan sus residuos. Anteriormente se había calculado que en promedio emitían 500 (ppm de permanganato) por día. </a:t>
                </a:r>
              </a:p>
              <a:p>
                <a14:m>
                  <m:oMath xmlns:m="http://schemas.openxmlformats.org/officeDocument/2006/math">
                    <m:sSub>
                      <m:sSubPr>
                        <m:ctrlPr>
                          <a:rPr lang="es-CR" sz="2400" i="1" smtClean="0">
                            <a:latin typeface="Cambria Math" panose="02040503050406030204" pitchFamily="18" charset="0"/>
                          </a:rPr>
                        </m:ctrlPr>
                      </m:sSubPr>
                      <m:e>
                        <m:r>
                          <a:rPr lang="es-CR" sz="2400" b="0" i="1" smtClean="0">
                            <a:latin typeface="Cambria Math" panose="02040503050406030204" pitchFamily="18" charset="0"/>
                          </a:rPr>
                          <m:t>𝐻</m:t>
                        </m:r>
                      </m:e>
                      <m:sub>
                        <m:r>
                          <a:rPr lang="es-CR" sz="2400" b="0" i="1" smtClean="0">
                            <a:latin typeface="Cambria Math" panose="02040503050406030204" pitchFamily="18" charset="0"/>
                          </a:rPr>
                          <m:t>0</m:t>
                        </m:r>
                      </m:sub>
                    </m:sSub>
                    <m:r>
                      <a:rPr lang="es-CR" sz="2400" b="0" i="1" smtClean="0">
                        <a:latin typeface="Cambria Math" panose="02040503050406030204" pitchFamily="18" charset="0"/>
                      </a:rPr>
                      <m:t>: </m:t>
                    </m:r>
                    <m:r>
                      <a:rPr lang="es-CR" sz="2400" b="0" i="1" smtClean="0">
                        <a:latin typeface="Cambria Math" panose="02040503050406030204" pitchFamily="18" charset="0"/>
                        <a:ea typeface="Cambria Math" panose="02040503050406030204" pitchFamily="18" charset="0"/>
                      </a:rPr>
                      <m:t>𝜇</m:t>
                    </m:r>
                    <m:r>
                      <a:rPr lang="es-CR" sz="2400" b="0" i="1" smtClean="0">
                        <a:latin typeface="Cambria Math" panose="02040503050406030204" pitchFamily="18" charset="0"/>
                        <a:ea typeface="Cambria Math" panose="02040503050406030204" pitchFamily="18" charset="0"/>
                      </a:rPr>
                      <m:t>=500</m:t>
                    </m:r>
                  </m:oMath>
                </a14:m>
                <a:endParaRPr lang="es-CR" dirty="0"/>
              </a:p>
              <a:p>
                <a14:m>
                  <m:oMath xmlns:m="http://schemas.openxmlformats.org/officeDocument/2006/math">
                    <m:sSub>
                      <m:sSubPr>
                        <m:ctrlPr>
                          <a:rPr lang="es-CR" sz="2400" i="1" smtClean="0">
                            <a:latin typeface="Cambria Math" panose="02040503050406030204" pitchFamily="18" charset="0"/>
                          </a:rPr>
                        </m:ctrlPr>
                      </m:sSubPr>
                      <m:e>
                        <m:r>
                          <a:rPr lang="es-CR" sz="2400" b="0" i="1" smtClean="0">
                            <a:latin typeface="Cambria Math" panose="02040503050406030204" pitchFamily="18" charset="0"/>
                          </a:rPr>
                          <m:t>𝐻</m:t>
                        </m:r>
                      </m:e>
                      <m:sub>
                        <m:r>
                          <a:rPr lang="es-CR" sz="2400" b="0" i="1" smtClean="0">
                            <a:latin typeface="Cambria Math" panose="02040503050406030204" pitchFamily="18" charset="0"/>
                          </a:rPr>
                          <m:t>1</m:t>
                        </m:r>
                      </m:sub>
                    </m:sSub>
                    <m:r>
                      <a:rPr lang="es-CR" sz="2400" b="0" i="1" smtClean="0">
                        <a:latin typeface="Cambria Math" panose="02040503050406030204" pitchFamily="18" charset="0"/>
                      </a:rPr>
                      <m:t>: </m:t>
                    </m:r>
                    <m:r>
                      <a:rPr lang="es-CR" sz="2400" b="0" i="1" smtClean="0">
                        <a:latin typeface="Cambria Math" panose="02040503050406030204" pitchFamily="18" charset="0"/>
                        <a:ea typeface="Cambria Math" panose="02040503050406030204" pitchFamily="18" charset="0"/>
                      </a:rPr>
                      <m:t>𝜇</m:t>
                    </m:r>
                    <m:r>
                      <a:rPr lang="es-CR" sz="2400" b="0" i="1" smtClean="0">
                        <a:latin typeface="Cambria Math" panose="02040503050406030204" pitchFamily="18" charset="0"/>
                        <a:ea typeface="Cambria Math" panose="02040503050406030204" pitchFamily="18" charset="0"/>
                      </a:rPr>
                      <m:t>&lt;500</m:t>
                    </m:r>
                  </m:oMath>
                </a14:m>
                <a:endParaRPr lang="es-CR" sz="2400" b="0" dirty="0">
                  <a:ea typeface="Cambria Math" panose="02040503050406030204" pitchFamily="18" charset="0"/>
                </a:endParaRPr>
              </a:p>
              <a:p>
                <a:r>
                  <a:rPr lang="es-CR" dirty="0"/>
                  <a:t>Para realizar la prueba, midieron los niveles de emisión durante 25 días, con un resultado de </a:t>
                </a:r>
                <a14:m>
                  <m:oMath xmlns:m="http://schemas.openxmlformats.org/officeDocument/2006/math">
                    <m:acc>
                      <m:accPr>
                        <m:chr m:val="̅"/>
                        <m:ctrlPr>
                          <a:rPr lang="en-US" i="1" smtClean="0">
                            <a:latin typeface="Cambria Math" panose="02040503050406030204" pitchFamily="18" charset="0"/>
                          </a:rPr>
                        </m:ctrlPr>
                      </m:accPr>
                      <m:e>
                        <m:r>
                          <a:rPr lang="en-US" i="1">
                            <a:latin typeface="Cambria Math" panose="02040503050406030204" pitchFamily="18" charset="0"/>
                          </a:rPr>
                          <m:t>𝑥</m:t>
                        </m:r>
                      </m:e>
                    </m:acc>
                  </m:oMath>
                </a14:m>
                <a:r>
                  <a:rPr lang="es-CR" dirty="0"/>
                  <a:t> = 308.8 y s = 115.15.  </a:t>
                </a:r>
              </a:p>
              <a:p>
                <a:endParaRPr lang="es-CR" dirty="0"/>
              </a:p>
            </p:txBody>
          </p:sp>
        </mc:Choice>
        <mc:Fallback xmlns="">
          <p:sp>
            <p:nvSpPr>
              <p:cNvPr id="2" name="Content Placeholder 1">
                <a:extLst>
                  <a:ext uri="{FF2B5EF4-FFF2-40B4-BE49-F238E27FC236}">
                    <a16:creationId xmlns:a16="http://schemas.microsoft.com/office/drawing/2014/main" id="{CFC2B841-D526-D092-45E8-8B04391043B0}"/>
                  </a:ext>
                </a:extLst>
              </p:cNvPr>
              <p:cNvSpPr>
                <a:spLocks noGrp="1" noRot="1" noChangeAspect="1" noMove="1" noResize="1" noEditPoints="1" noAdjustHandles="1" noChangeArrowheads="1" noChangeShapeType="1" noTextEdit="1"/>
              </p:cNvSpPr>
              <p:nvPr>
                <p:ph sz="half" idx="1"/>
              </p:nvPr>
            </p:nvSpPr>
            <p:spPr>
              <a:xfrm>
                <a:off x="838200" y="2067983"/>
                <a:ext cx="10146792" cy="3735410"/>
              </a:xfrm>
              <a:blipFill>
                <a:blip r:embed="rId2"/>
                <a:stretch>
                  <a:fillRect l="-1082" t="-2610" r="-481"/>
                </a:stretch>
              </a:blipFill>
            </p:spPr>
            <p:txBody>
              <a:bodyPr/>
              <a:lstStyle/>
              <a:p>
                <a:r>
                  <a:rPr lang="es-CR">
                    <a:noFill/>
                  </a:rPr>
                  <a:t> </a:t>
                </a:r>
              </a:p>
            </p:txBody>
          </p:sp>
        </mc:Fallback>
      </mc:AlternateContent>
      <p:sp>
        <p:nvSpPr>
          <p:cNvPr id="4" name="Title 3">
            <a:extLst>
              <a:ext uri="{FF2B5EF4-FFF2-40B4-BE49-F238E27FC236}">
                <a16:creationId xmlns:a16="http://schemas.microsoft.com/office/drawing/2014/main" id="{663C1F81-864A-4805-E274-0BD0787C9636}"/>
              </a:ext>
            </a:extLst>
          </p:cNvPr>
          <p:cNvSpPr>
            <a:spLocks noGrp="1"/>
          </p:cNvSpPr>
          <p:nvPr>
            <p:ph type="title"/>
          </p:nvPr>
        </p:nvSpPr>
        <p:spPr/>
        <p:txBody>
          <a:bodyPr/>
          <a:lstStyle/>
          <a:p>
            <a:r>
              <a:rPr lang="es-CR" dirty="0"/>
              <a:t>Ejercicio</a:t>
            </a:r>
          </a:p>
        </p:txBody>
      </p:sp>
    </p:spTree>
    <p:extLst>
      <p:ext uri="{BB962C8B-B14F-4D97-AF65-F5344CB8AC3E}">
        <p14:creationId xmlns:p14="http://schemas.microsoft.com/office/powerpoint/2010/main" val="42131137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94032D98-5409-B156-5647-1F01E4B0F34D}"/>
                  </a:ext>
                </a:extLst>
              </p:cNvPr>
              <p:cNvSpPr>
                <a:spLocks noGrp="1"/>
              </p:cNvSpPr>
              <p:nvPr>
                <p:ph sz="half" idx="1"/>
              </p:nvPr>
            </p:nvSpPr>
            <p:spPr>
              <a:xfrm>
                <a:off x="838200" y="2067983"/>
                <a:ext cx="4721352" cy="3735410"/>
              </a:xfrm>
            </p:spPr>
            <p:txBody>
              <a:bodyPr>
                <a:normAutofit/>
              </a:bodyPr>
              <a:lstStyle/>
              <a:p>
                <a:pPr marL="514350" indent="-514350">
                  <a:buFont typeface="+mj-lt"/>
                  <a:buAutoNum type="arabicPeriod"/>
                </a:pPr>
                <a:r>
                  <a:rPr lang="es-CR" sz="2400" dirty="0"/>
                  <a:t>Encontrar el </a:t>
                </a:r>
                <a14:m>
                  <m:oMath xmlns:m="http://schemas.openxmlformats.org/officeDocument/2006/math">
                    <m:sSub>
                      <m:sSubPr>
                        <m:ctrlPr>
                          <a:rPr lang="es-CR" sz="2400" b="0" i="1" smtClean="0">
                            <a:latin typeface="Cambria Math" panose="02040503050406030204" pitchFamily="18" charset="0"/>
                            <a:ea typeface="Cambria Math" panose="02040503050406030204" pitchFamily="18" charset="0"/>
                          </a:rPr>
                        </m:ctrlPr>
                      </m:sSubPr>
                      <m:e>
                        <m:r>
                          <a:rPr lang="es-CR" sz="2400" b="0" i="1" smtClean="0">
                            <a:latin typeface="Cambria Math" panose="02040503050406030204" pitchFamily="18" charset="0"/>
                            <a:ea typeface="Cambria Math" panose="02040503050406030204" pitchFamily="18" charset="0"/>
                          </a:rPr>
                          <m:t>−</m:t>
                        </m:r>
                        <m:r>
                          <a:rPr lang="es-CR" sz="2400" i="1">
                            <a:latin typeface="Cambria Math" panose="02040503050406030204" pitchFamily="18" charset="0"/>
                            <a:ea typeface="Cambria Math" panose="02040503050406030204" pitchFamily="18" charset="0"/>
                          </a:rPr>
                          <m:t>𝑡</m:t>
                        </m:r>
                      </m:e>
                      <m:sub>
                        <m:r>
                          <a:rPr lang="es-CR" sz="2400" i="1">
                            <a:latin typeface="Cambria Math" panose="02040503050406030204" pitchFamily="18" charset="0"/>
                            <a:ea typeface="Cambria Math" panose="02040503050406030204" pitchFamily="18" charset="0"/>
                          </a:rPr>
                          <m:t>𝛼</m:t>
                        </m:r>
                      </m:sub>
                    </m:sSub>
                    <m:d>
                      <m:dPr>
                        <m:ctrlPr>
                          <a:rPr lang="es-CR" sz="2400" b="0" i="1" smtClean="0">
                            <a:latin typeface="Cambria Math" panose="02040503050406030204" pitchFamily="18" charset="0"/>
                            <a:ea typeface="Cambria Math" panose="02040503050406030204" pitchFamily="18" charset="0"/>
                          </a:rPr>
                        </m:ctrlPr>
                      </m:dPr>
                      <m:e>
                        <m:r>
                          <a:rPr lang="es-CR" sz="2400" b="0" i="1" smtClean="0">
                            <a:latin typeface="Cambria Math" panose="02040503050406030204" pitchFamily="18" charset="0"/>
                            <a:ea typeface="Cambria Math" panose="02040503050406030204" pitchFamily="18" charset="0"/>
                          </a:rPr>
                          <m:t>25−1</m:t>
                        </m:r>
                      </m:e>
                    </m:d>
                  </m:oMath>
                </a14:m>
                <a:endParaRPr lang="es-CR" sz="2400" b="0" dirty="0">
                  <a:ea typeface="Cambria Math" panose="02040503050406030204" pitchFamily="18" charset="0"/>
                </a:endParaRPr>
              </a:p>
              <a:p>
                <a:pPr marL="514350" indent="-514350">
                  <a:buFont typeface="+mj-lt"/>
                  <a:buAutoNum type="arabicPeriod"/>
                </a:pPr>
                <a:endParaRPr lang="es-CR" sz="2400" b="0" dirty="0">
                  <a:ea typeface="Cambria Math" panose="02040503050406030204" pitchFamily="18" charset="0"/>
                </a:endParaRPr>
              </a:p>
              <a:p>
                <a:pPr marL="514350" indent="-514350">
                  <a:buFont typeface="+mj-lt"/>
                  <a:buAutoNum type="arabicPeriod"/>
                </a:pPr>
                <a:r>
                  <a:rPr lang="en-US" sz="2400" dirty="0" err="1">
                    <a:ea typeface="Cambria Math" panose="02040503050406030204" pitchFamily="18" charset="0"/>
                  </a:rPr>
                  <a:t>Calcular</a:t>
                </a:r>
                <a:r>
                  <a:rPr lang="en-US" sz="2400" dirty="0">
                    <a:ea typeface="Cambria Math" panose="02040503050406030204" pitchFamily="18" charset="0"/>
                  </a:rPr>
                  <a:t> </a:t>
                </a:r>
                <a14:m>
                  <m:oMath xmlns:m="http://schemas.openxmlformats.org/officeDocument/2006/math">
                    <m:r>
                      <m:rPr>
                        <m:sty m:val="p"/>
                      </m:rPr>
                      <a:rPr lang="es-CR" sz="2400" b="0" i="0" smtClean="0">
                        <a:latin typeface="Cambria Math" panose="02040503050406030204" pitchFamily="18" charset="0"/>
                        <a:ea typeface="Cambria Math" panose="02040503050406030204" pitchFamily="18" charset="0"/>
                      </a:rPr>
                      <m:t>t</m:t>
                    </m:r>
                    <m:r>
                      <a:rPr lang="es-CR" sz="2400" b="0" i="0" smtClean="0">
                        <a:latin typeface="Cambria Math" panose="02040503050406030204" pitchFamily="18" charset="0"/>
                        <a:ea typeface="Cambria Math" panose="02040503050406030204" pitchFamily="18" charset="0"/>
                      </a:rPr>
                      <m:t>=</m:t>
                    </m:r>
                    <m:f>
                      <m:fPr>
                        <m:ctrlPr>
                          <a:rPr lang="en-US" sz="2400" i="1" smtClean="0">
                            <a:latin typeface="Cambria Math" panose="02040503050406030204" pitchFamily="18" charset="0"/>
                            <a:ea typeface="Cambria Math" panose="02040503050406030204" pitchFamily="18" charset="0"/>
                          </a:rPr>
                        </m:ctrlPr>
                      </m:fPr>
                      <m:num>
                        <m:acc>
                          <m:accPr>
                            <m:chr m:val="̅"/>
                            <m:ctrlPr>
                              <a:rPr lang="en-US" sz="2400" i="1">
                                <a:latin typeface="Cambria Math" panose="02040503050406030204" pitchFamily="18" charset="0"/>
                              </a:rPr>
                            </m:ctrlPr>
                          </m:accPr>
                          <m:e>
                            <m:r>
                              <a:rPr lang="en-US" sz="2400" i="1">
                                <a:latin typeface="Cambria Math" panose="02040503050406030204" pitchFamily="18" charset="0"/>
                              </a:rPr>
                              <m:t>𝑋</m:t>
                            </m:r>
                          </m:e>
                        </m:acc>
                        <m:r>
                          <a:rPr lang="es-CR" sz="2400" i="1">
                            <a:latin typeface="Cambria Math" panose="02040503050406030204" pitchFamily="18" charset="0"/>
                          </a:rPr>
                          <m:t>−</m:t>
                        </m:r>
                        <m:r>
                          <a:rPr lang="es-CR" sz="2400" i="1">
                            <a:latin typeface="Cambria Math" panose="02040503050406030204" pitchFamily="18" charset="0"/>
                            <a:ea typeface="Cambria Math" panose="02040503050406030204" pitchFamily="18" charset="0"/>
                          </a:rPr>
                          <m:t>𝜇</m:t>
                        </m:r>
                      </m:num>
                      <m:den>
                        <m:f>
                          <m:fPr>
                            <m:type m:val="skw"/>
                            <m:ctrlPr>
                              <a:rPr lang="en-US" sz="2400" i="1">
                                <a:latin typeface="Cambria Math" panose="02040503050406030204" pitchFamily="18" charset="0"/>
                                <a:ea typeface="Cambria Math" panose="02040503050406030204" pitchFamily="18" charset="0"/>
                              </a:rPr>
                            </m:ctrlPr>
                          </m:fPr>
                          <m:num>
                            <m:r>
                              <a:rPr lang="es-CR" sz="2400" b="0" i="1" smtClean="0">
                                <a:latin typeface="Cambria Math" panose="02040503050406030204" pitchFamily="18" charset="0"/>
                                <a:ea typeface="Cambria Math" panose="02040503050406030204" pitchFamily="18" charset="0"/>
                              </a:rPr>
                              <m:t>𝑆</m:t>
                            </m:r>
                          </m:num>
                          <m:den>
                            <m:rad>
                              <m:radPr>
                                <m:degHide m:val="on"/>
                                <m:ctrlPr>
                                  <a:rPr lang="en-US" sz="2400" i="1">
                                    <a:latin typeface="Cambria Math" panose="02040503050406030204" pitchFamily="18" charset="0"/>
                                    <a:ea typeface="Cambria Math" panose="02040503050406030204" pitchFamily="18" charset="0"/>
                                  </a:rPr>
                                </m:ctrlPr>
                              </m:radPr>
                              <m:deg/>
                              <m:e>
                                <m:r>
                                  <a:rPr lang="en-US" sz="2400" i="1">
                                    <a:latin typeface="Cambria Math" panose="02040503050406030204" pitchFamily="18" charset="0"/>
                                    <a:ea typeface="Cambria Math" panose="02040503050406030204" pitchFamily="18" charset="0"/>
                                  </a:rPr>
                                  <m:t>𝑛</m:t>
                                </m:r>
                              </m:e>
                            </m:rad>
                          </m:den>
                        </m:f>
                      </m:den>
                    </m:f>
                  </m:oMath>
                </a14:m>
                <a:endParaRPr lang="es-CR" sz="2400" dirty="0"/>
              </a:p>
              <a:p>
                <a:pPr marL="514350" indent="-514350">
                  <a:buFont typeface="+mj-lt"/>
                  <a:buAutoNum type="arabicPeriod"/>
                </a:pPr>
                <a:endParaRPr lang="es-CR" sz="2400" dirty="0"/>
              </a:p>
              <a:p>
                <a:pPr marL="514350" indent="-514350">
                  <a:buFont typeface="+mj-lt"/>
                  <a:buAutoNum type="arabicPeriod"/>
                </a:pPr>
                <a:r>
                  <a:rPr lang="es-CR" sz="2400" dirty="0"/>
                  <a:t>Contrastar </a:t>
                </a:r>
                <a14:m>
                  <m:oMath xmlns:m="http://schemas.openxmlformats.org/officeDocument/2006/math">
                    <m:r>
                      <a:rPr lang="es-CR" sz="2400" b="0" i="1" smtClean="0">
                        <a:latin typeface="Cambria Math" panose="02040503050406030204" pitchFamily="18" charset="0"/>
                      </a:rPr>
                      <m:t>𝑡</m:t>
                    </m:r>
                    <m:r>
                      <a:rPr lang="es-CR" sz="2400" i="1" smtClean="0">
                        <a:latin typeface="Cambria Math" panose="02040503050406030204" pitchFamily="18" charset="0"/>
                        <a:ea typeface="Cambria Math" panose="02040503050406030204" pitchFamily="18" charset="0"/>
                      </a:rPr>
                      <m:t>≤</m:t>
                    </m:r>
                    <m:r>
                      <a:rPr lang="es-CR" sz="2400" b="0" i="1" smtClean="0">
                        <a:latin typeface="Cambria Math" panose="02040503050406030204" pitchFamily="18" charset="0"/>
                        <a:ea typeface="Cambria Math" panose="02040503050406030204" pitchFamily="18" charset="0"/>
                      </a:rPr>
                      <m:t> </m:t>
                    </m:r>
                    <m:sSub>
                      <m:sSubPr>
                        <m:ctrlPr>
                          <a:rPr lang="es-CR" sz="2400" i="1">
                            <a:latin typeface="Cambria Math" panose="02040503050406030204" pitchFamily="18" charset="0"/>
                            <a:ea typeface="Cambria Math" panose="02040503050406030204" pitchFamily="18" charset="0"/>
                          </a:rPr>
                        </m:ctrlPr>
                      </m:sSubPr>
                      <m:e>
                        <m:r>
                          <a:rPr lang="es-CR" sz="2400" i="1">
                            <a:latin typeface="Cambria Math" panose="02040503050406030204" pitchFamily="18" charset="0"/>
                            <a:ea typeface="Cambria Math" panose="02040503050406030204" pitchFamily="18" charset="0"/>
                          </a:rPr>
                          <m:t>𝑡</m:t>
                        </m:r>
                      </m:e>
                      <m:sub>
                        <m:f>
                          <m:fPr>
                            <m:type m:val="skw"/>
                            <m:ctrlPr>
                              <a:rPr lang="es-CR" sz="2400" i="1">
                                <a:latin typeface="Cambria Math" panose="02040503050406030204" pitchFamily="18" charset="0"/>
                                <a:ea typeface="Cambria Math" panose="02040503050406030204" pitchFamily="18" charset="0"/>
                              </a:rPr>
                            </m:ctrlPr>
                          </m:fPr>
                          <m:num>
                            <m:r>
                              <a:rPr lang="es-CR" sz="2400" i="1">
                                <a:latin typeface="Cambria Math" panose="02040503050406030204" pitchFamily="18" charset="0"/>
                                <a:ea typeface="Cambria Math" panose="02040503050406030204" pitchFamily="18" charset="0"/>
                              </a:rPr>
                              <m:t>𝛼</m:t>
                            </m:r>
                          </m:num>
                          <m:den>
                            <m:r>
                              <a:rPr lang="es-CR" sz="2400" i="1">
                                <a:latin typeface="Cambria Math" panose="02040503050406030204" pitchFamily="18" charset="0"/>
                                <a:ea typeface="Cambria Math" panose="02040503050406030204" pitchFamily="18" charset="0"/>
                              </a:rPr>
                              <m:t>2</m:t>
                            </m:r>
                          </m:den>
                        </m:f>
                      </m:sub>
                    </m:sSub>
                    <m:d>
                      <m:dPr>
                        <m:ctrlPr>
                          <a:rPr lang="es-CR" sz="2400" i="1">
                            <a:latin typeface="Cambria Math" panose="02040503050406030204" pitchFamily="18" charset="0"/>
                            <a:ea typeface="Cambria Math" panose="02040503050406030204" pitchFamily="18" charset="0"/>
                          </a:rPr>
                        </m:ctrlPr>
                      </m:dPr>
                      <m:e>
                        <m:r>
                          <a:rPr lang="es-CR" sz="2400" b="0" i="1" smtClean="0">
                            <a:latin typeface="Cambria Math" panose="02040503050406030204" pitchFamily="18" charset="0"/>
                            <a:ea typeface="Cambria Math" panose="02040503050406030204" pitchFamily="18" charset="0"/>
                          </a:rPr>
                          <m:t>𝑛</m:t>
                        </m:r>
                        <m:r>
                          <a:rPr lang="es-CR" sz="2400" b="0" i="1" smtClean="0">
                            <a:latin typeface="Cambria Math" panose="02040503050406030204" pitchFamily="18" charset="0"/>
                            <a:ea typeface="Cambria Math" panose="02040503050406030204" pitchFamily="18" charset="0"/>
                          </a:rPr>
                          <m:t>−1</m:t>
                        </m:r>
                      </m:e>
                    </m:d>
                  </m:oMath>
                </a14:m>
                <a:endParaRPr lang="es-CR" sz="2400" dirty="0"/>
              </a:p>
              <a:p>
                <a:pPr marL="514350" indent="-514350">
                  <a:buFont typeface="+mj-lt"/>
                  <a:buAutoNum type="arabicPeriod"/>
                </a:pPr>
                <a:endParaRPr lang="es-CR" sz="2400" dirty="0"/>
              </a:p>
              <a:p>
                <a:pPr marL="514350" indent="-514350">
                  <a:buFont typeface="+mj-lt"/>
                  <a:buAutoNum type="arabicPeriod"/>
                </a:pPr>
                <a:r>
                  <a:rPr lang="es-CR" sz="2400" dirty="0"/>
                  <a:t>Conclusión:</a:t>
                </a:r>
              </a:p>
              <a:p>
                <a:endParaRPr lang="es-CR" sz="2400" dirty="0"/>
              </a:p>
              <a:p>
                <a:pPr marL="0" indent="0">
                  <a:buNone/>
                </a:pPr>
                <a:endParaRPr lang="es-CR" sz="2400" dirty="0"/>
              </a:p>
            </p:txBody>
          </p:sp>
        </mc:Choice>
        <mc:Fallback xmlns="">
          <p:sp>
            <p:nvSpPr>
              <p:cNvPr id="2" name="Content Placeholder 1">
                <a:extLst>
                  <a:ext uri="{FF2B5EF4-FFF2-40B4-BE49-F238E27FC236}">
                    <a16:creationId xmlns:a16="http://schemas.microsoft.com/office/drawing/2014/main" id="{94032D98-5409-B156-5647-1F01E4B0F34D}"/>
                  </a:ext>
                </a:extLst>
              </p:cNvPr>
              <p:cNvSpPr>
                <a:spLocks noGrp="1" noRot="1" noChangeAspect="1" noMove="1" noResize="1" noEditPoints="1" noAdjustHandles="1" noChangeArrowheads="1" noChangeShapeType="1" noTextEdit="1"/>
              </p:cNvSpPr>
              <p:nvPr>
                <p:ph sz="half" idx="1"/>
              </p:nvPr>
            </p:nvSpPr>
            <p:spPr>
              <a:xfrm>
                <a:off x="838200" y="2067983"/>
                <a:ext cx="4721352" cy="3735410"/>
              </a:xfrm>
              <a:blipFill>
                <a:blip r:embed="rId2"/>
                <a:stretch>
                  <a:fillRect l="-2067" t="-2447"/>
                </a:stretch>
              </a:blipFill>
            </p:spPr>
            <p:txBody>
              <a:bodyPr/>
              <a:lstStyle/>
              <a:p>
                <a:r>
                  <a:rPr lang="es-CR">
                    <a:noFill/>
                  </a:rPr>
                  <a:t> </a:t>
                </a:r>
              </a:p>
            </p:txBody>
          </p:sp>
        </mc:Fallback>
      </mc:AlternateContent>
      <p:sp>
        <p:nvSpPr>
          <p:cNvPr id="4" name="Title 3">
            <a:extLst>
              <a:ext uri="{FF2B5EF4-FFF2-40B4-BE49-F238E27FC236}">
                <a16:creationId xmlns:a16="http://schemas.microsoft.com/office/drawing/2014/main" id="{701CA89B-B0EB-F709-7949-4D516D392F2D}"/>
              </a:ext>
            </a:extLst>
          </p:cNvPr>
          <p:cNvSpPr>
            <a:spLocks noGrp="1"/>
          </p:cNvSpPr>
          <p:nvPr>
            <p:ph type="title"/>
          </p:nvPr>
        </p:nvSpPr>
        <p:spPr/>
        <p:txBody>
          <a:bodyPr/>
          <a:lstStyle/>
          <a:p>
            <a:r>
              <a:rPr lang="es-CR" dirty="0"/>
              <a:t>Resultado</a:t>
            </a:r>
          </a:p>
        </p:txBody>
      </p:sp>
      <mc:AlternateContent xmlns:mc="http://schemas.openxmlformats.org/markup-compatibility/2006" xmlns:a14="http://schemas.microsoft.com/office/drawing/2010/main">
        <mc:Choice Requires="a14">
          <p:sp>
            <p:nvSpPr>
              <p:cNvPr id="5" name="Content Placeholder 1">
                <a:extLst>
                  <a:ext uri="{FF2B5EF4-FFF2-40B4-BE49-F238E27FC236}">
                    <a16:creationId xmlns:a16="http://schemas.microsoft.com/office/drawing/2014/main" id="{2C1F04A6-38B7-375B-A5C4-F2CC3CAC0D03}"/>
                  </a:ext>
                </a:extLst>
              </p:cNvPr>
              <p:cNvSpPr txBox="1">
                <a:spLocks/>
              </p:cNvSpPr>
              <p:nvPr/>
            </p:nvSpPr>
            <p:spPr>
              <a:xfrm>
                <a:off x="5047488" y="2067983"/>
                <a:ext cx="7022592" cy="3735410"/>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rust Sans"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ust Sans"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ust Sans"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ust Sans"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ust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a:pPr>
                <a14:m>
                  <m:oMath xmlns:m="http://schemas.openxmlformats.org/officeDocument/2006/math">
                    <m:sSub>
                      <m:sSubPr>
                        <m:ctrlPr>
                          <a:rPr lang="es-CR" sz="2400" i="1" smtClean="0">
                            <a:latin typeface="Cambria Math" panose="02040503050406030204" pitchFamily="18" charset="0"/>
                            <a:ea typeface="Cambria Math" panose="02040503050406030204" pitchFamily="18" charset="0"/>
                          </a:rPr>
                        </m:ctrlPr>
                      </m:sSubPr>
                      <m:e>
                        <m:r>
                          <a:rPr lang="es-CR" sz="2400" i="1">
                            <a:latin typeface="Cambria Math" panose="02040503050406030204" pitchFamily="18" charset="0"/>
                            <a:ea typeface="Cambria Math" panose="02040503050406030204" pitchFamily="18" charset="0"/>
                          </a:rPr>
                          <m:t>𝑡</m:t>
                        </m:r>
                      </m:e>
                      <m:sub>
                        <m:r>
                          <a:rPr lang="es-CR" sz="2400" i="1">
                            <a:latin typeface="Cambria Math" panose="02040503050406030204" pitchFamily="18" charset="0"/>
                            <a:ea typeface="Cambria Math" panose="02040503050406030204" pitchFamily="18" charset="0"/>
                          </a:rPr>
                          <m:t>𝛼</m:t>
                        </m:r>
                      </m:sub>
                    </m:sSub>
                    <m:d>
                      <m:dPr>
                        <m:ctrlPr>
                          <a:rPr lang="es-CR" sz="2400" i="1" smtClean="0">
                            <a:latin typeface="Cambria Math" panose="02040503050406030204" pitchFamily="18" charset="0"/>
                            <a:ea typeface="Cambria Math" panose="02040503050406030204" pitchFamily="18" charset="0"/>
                          </a:rPr>
                        </m:ctrlPr>
                      </m:dPr>
                      <m:e>
                        <m:r>
                          <a:rPr lang="es-CR" sz="2400" i="1" smtClean="0">
                            <a:latin typeface="Cambria Math" panose="02040503050406030204" pitchFamily="18" charset="0"/>
                            <a:ea typeface="Cambria Math" panose="02040503050406030204" pitchFamily="18" charset="0"/>
                          </a:rPr>
                          <m:t>25−1</m:t>
                        </m:r>
                      </m:e>
                    </m:d>
                    <m:r>
                      <a:rPr lang="es-CR" sz="2400" b="0" i="1" smtClean="0">
                        <a:latin typeface="Cambria Math" panose="02040503050406030204" pitchFamily="18" charset="0"/>
                        <a:ea typeface="Cambria Math" panose="02040503050406030204" pitchFamily="18" charset="0"/>
                      </a:rPr>
                      <m:t>=−2.492</m:t>
                    </m:r>
                  </m:oMath>
                </a14:m>
                <a:endParaRPr lang="es-CR" sz="2400" dirty="0">
                  <a:ea typeface="Cambria Math" panose="02040503050406030204" pitchFamily="18" charset="0"/>
                </a:endParaRPr>
              </a:p>
              <a:p>
                <a:pPr marL="514350" indent="-514350">
                  <a:buFont typeface="+mj-lt"/>
                  <a:buAutoNum type="arabicPeriod"/>
                </a:pPr>
                <a:endParaRPr lang="es-CR" sz="2400" dirty="0">
                  <a:ea typeface="Cambria Math" panose="02040503050406030204" pitchFamily="18" charset="0"/>
                </a:endParaRPr>
              </a:p>
              <a:p>
                <a:pPr marL="514350" indent="-514350">
                  <a:buFont typeface="+mj-lt"/>
                  <a:buAutoNum type="arabicPeriod"/>
                </a:pPr>
                <a14:m>
                  <m:oMath xmlns:m="http://schemas.openxmlformats.org/officeDocument/2006/math">
                    <m:r>
                      <m:rPr>
                        <m:sty m:val="p"/>
                      </m:rPr>
                      <a:rPr lang="es-CR" sz="2400" smtClean="0">
                        <a:latin typeface="Cambria Math" panose="02040503050406030204" pitchFamily="18" charset="0"/>
                        <a:ea typeface="Cambria Math" panose="02040503050406030204" pitchFamily="18" charset="0"/>
                      </a:rPr>
                      <m:t>t</m:t>
                    </m:r>
                    <m:r>
                      <a:rPr lang="es-CR" sz="2400" smtClean="0">
                        <a:latin typeface="Cambria Math" panose="02040503050406030204" pitchFamily="18" charset="0"/>
                        <a:ea typeface="Cambria Math" panose="02040503050406030204" pitchFamily="18" charset="0"/>
                      </a:rPr>
                      <m:t>=</m:t>
                    </m:r>
                    <m:f>
                      <m:fPr>
                        <m:ctrlPr>
                          <a:rPr lang="en-US" sz="2400" i="1" smtClean="0">
                            <a:latin typeface="Cambria Math" panose="02040503050406030204" pitchFamily="18" charset="0"/>
                            <a:ea typeface="Cambria Math" panose="02040503050406030204" pitchFamily="18" charset="0"/>
                          </a:rPr>
                        </m:ctrlPr>
                      </m:fPr>
                      <m:num>
                        <m:r>
                          <a:rPr lang="es-CR" sz="2400" b="0" i="1" smtClean="0">
                            <a:latin typeface="Cambria Math" panose="02040503050406030204" pitchFamily="18" charset="0"/>
                            <a:ea typeface="Cambria Math" panose="02040503050406030204" pitchFamily="18" charset="0"/>
                          </a:rPr>
                          <m:t>308.8</m:t>
                        </m:r>
                        <m:r>
                          <a:rPr lang="es-CR" sz="2400" i="1">
                            <a:latin typeface="Cambria Math" panose="02040503050406030204" pitchFamily="18" charset="0"/>
                          </a:rPr>
                          <m:t>−</m:t>
                        </m:r>
                        <m:r>
                          <a:rPr lang="es-CR" sz="2400" b="0" i="1" smtClean="0">
                            <a:latin typeface="Cambria Math" panose="02040503050406030204" pitchFamily="18" charset="0"/>
                            <a:ea typeface="Cambria Math" panose="02040503050406030204" pitchFamily="18" charset="0"/>
                          </a:rPr>
                          <m:t>500</m:t>
                        </m:r>
                      </m:num>
                      <m:den>
                        <m:f>
                          <m:fPr>
                            <m:type m:val="skw"/>
                            <m:ctrlPr>
                              <a:rPr lang="en-US" sz="2400" i="1">
                                <a:latin typeface="Cambria Math" panose="02040503050406030204" pitchFamily="18" charset="0"/>
                                <a:ea typeface="Cambria Math" panose="02040503050406030204" pitchFamily="18" charset="0"/>
                              </a:rPr>
                            </m:ctrlPr>
                          </m:fPr>
                          <m:num>
                            <m:r>
                              <a:rPr lang="es-CR" sz="2400" b="0" i="1" smtClean="0">
                                <a:latin typeface="Cambria Math" panose="02040503050406030204" pitchFamily="18" charset="0"/>
                                <a:ea typeface="Cambria Math" panose="02040503050406030204" pitchFamily="18" charset="0"/>
                              </a:rPr>
                              <m:t>115.15</m:t>
                            </m:r>
                          </m:num>
                          <m:den>
                            <m:rad>
                              <m:radPr>
                                <m:degHide m:val="on"/>
                                <m:ctrlPr>
                                  <a:rPr lang="en-US" sz="2400" i="1">
                                    <a:latin typeface="Cambria Math" panose="02040503050406030204" pitchFamily="18" charset="0"/>
                                    <a:ea typeface="Cambria Math" panose="02040503050406030204" pitchFamily="18" charset="0"/>
                                  </a:rPr>
                                </m:ctrlPr>
                              </m:radPr>
                              <m:deg/>
                              <m:e>
                                <m:r>
                                  <a:rPr lang="es-CR" sz="2400" b="0" i="1" smtClean="0">
                                    <a:latin typeface="Cambria Math" panose="02040503050406030204" pitchFamily="18" charset="0"/>
                                    <a:ea typeface="Cambria Math" panose="02040503050406030204" pitchFamily="18" charset="0"/>
                                  </a:rPr>
                                  <m:t>25</m:t>
                                </m:r>
                              </m:e>
                            </m:rad>
                          </m:den>
                        </m:f>
                      </m:den>
                    </m:f>
                    <m:r>
                      <a:rPr lang="es-CR" sz="2400" b="0" i="1" smtClean="0">
                        <a:latin typeface="Cambria Math" panose="02040503050406030204" pitchFamily="18" charset="0"/>
                        <a:ea typeface="Cambria Math" panose="02040503050406030204" pitchFamily="18" charset="0"/>
                      </a:rPr>
                      <m:t>=−8.30</m:t>
                    </m:r>
                  </m:oMath>
                </a14:m>
                <a:endParaRPr lang="es-CR" sz="2400" dirty="0"/>
              </a:p>
              <a:p>
                <a:pPr marL="514350" indent="-514350">
                  <a:buFont typeface="+mj-lt"/>
                  <a:buAutoNum type="arabicPeriod"/>
                </a:pPr>
                <a:endParaRPr lang="es-CR" sz="2400" dirty="0"/>
              </a:p>
              <a:p>
                <a:pPr marL="514350" indent="-514350">
                  <a:buFont typeface="+mj-lt"/>
                  <a:buAutoNum type="arabicPeriod"/>
                </a:pPr>
                <a14:m>
                  <m:oMath xmlns:m="http://schemas.openxmlformats.org/officeDocument/2006/math">
                    <m:r>
                      <a:rPr lang="es-CR" sz="2400" b="0" i="0" smtClean="0">
                        <a:latin typeface="Cambria Math" panose="02040503050406030204" pitchFamily="18" charset="0"/>
                        <a:ea typeface="Cambria Math" panose="02040503050406030204" pitchFamily="18" charset="0"/>
                      </a:rPr>
                      <m:t>−8.33</m:t>
                    </m:r>
                    <m:r>
                      <a:rPr lang="es-CR" sz="2400" i="1" smtClean="0">
                        <a:latin typeface="Cambria Math" panose="02040503050406030204" pitchFamily="18" charset="0"/>
                        <a:ea typeface="Cambria Math" panose="02040503050406030204" pitchFamily="18" charset="0"/>
                      </a:rPr>
                      <m:t>≤</m:t>
                    </m:r>
                    <m:r>
                      <a:rPr lang="es-CR" sz="2400" b="0" i="1" smtClean="0">
                        <a:latin typeface="Cambria Math" panose="02040503050406030204" pitchFamily="18" charset="0"/>
                        <a:ea typeface="Cambria Math" panose="02040503050406030204" pitchFamily="18" charset="0"/>
                      </a:rPr>
                      <m:t>−2.492</m:t>
                    </m:r>
                  </m:oMath>
                </a14:m>
                <a:endParaRPr lang="es-CR" sz="2400" dirty="0"/>
              </a:p>
              <a:p>
                <a:pPr marL="514350" indent="-514350">
                  <a:buFont typeface="+mj-lt"/>
                  <a:buAutoNum type="arabicPeriod"/>
                </a:pPr>
                <a:endParaRPr lang="es-CR" sz="2400" dirty="0"/>
              </a:p>
              <a:p>
                <a:pPr marL="514350" indent="-514350">
                  <a:buFont typeface="+mj-lt"/>
                  <a:buAutoNum type="arabicPeriod"/>
                </a:pPr>
                <a:r>
                  <a:rPr lang="es-CR" sz="2400" dirty="0"/>
                  <a:t>Existe evidencia estadística suficiente para rechazar la hipótesis nula de que mu es igual a 500, con un nivel de significancia del 1%</a:t>
                </a:r>
              </a:p>
              <a:p>
                <a:endParaRPr lang="es-CR" sz="2400" dirty="0"/>
              </a:p>
              <a:p>
                <a:pPr marL="0" indent="0">
                  <a:buFont typeface="Arial" panose="020B0604020202020204" pitchFamily="34" charset="0"/>
                  <a:buNone/>
                </a:pPr>
                <a:endParaRPr lang="es-CR" sz="2400" dirty="0"/>
              </a:p>
            </p:txBody>
          </p:sp>
        </mc:Choice>
        <mc:Fallback xmlns="">
          <p:sp>
            <p:nvSpPr>
              <p:cNvPr id="5" name="Content Placeholder 1">
                <a:extLst>
                  <a:ext uri="{FF2B5EF4-FFF2-40B4-BE49-F238E27FC236}">
                    <a16:creationId xmlns:a16="http://schemas.microsoft.com/office/drawing/2014/main" id="{2C1F04A6-38B7-375B-A5C4-F2CC3CAC0D03}"/>
                  </a:ext>
                </a:extLst>
              </p:cNvPr>
              <p:cNvSpPr txBox="1">
                <a:spLocks noRot="1" noChangeAspect="1" noMove="1" noResize="1" noEditPoints="1" noAdjustHandles="1" noChangeArrowheads="1" noChangeShapeType="1" noTextEdit="1"/>
              </p:cNvSpPr>
              <p:nvPr/>
            </p:nvSpPr>
            <p:spPr>
              <a:xfrm>
                <a:off x="5047488" y="2067983"/>
                <a:ext cx="7022592" cy="3735410"/>
              </a:xfrm>
              <a:prstGeom prst="rect">
                <a:avLst/>
              </a:prstGeom>
              <a:blipFill>
                <a:blip r:embed="rId3"/>
                <a:stretch>
                  <a:fillRect l="-1128" t="-2773" r="-1476"/>
                </a:stretch>
              </a:blipFill>
            </p:spPr>
            <p:txBody>
              <a:bodyPr/>
              <a:lstStyle/>
              <a:p>
                <a:r>
                  <a:rPr lang="es-CR">
                    <a:noFill/>
                  </a:rPr>
                  <a:t> </a:t>
                </a:r>
              </a:p>
            </p:txBody>
          </p:sp>
        </mc:Fallback>
      </mc:AlternateContent>
    </p:spTree>
    <p:extLst>
      <p:ext uri="{BB962C8B-B14F-4D97-AF65-F5344CB8AC3E}">
        <p14:creationId xmlns:p14="http://schemas.microsoft.com/office/powerpoint/2010/main" val="4065431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D2F2094D-8538-503A-0739-CAC97B620E56}"/>
                  </a:ext>
                </a:extLst>
              </p:cNvPr>
              <p:cNvSpPr>
                <a:spLocks noGrp="1"/>
              </p:cNvSpPr>
              <p:nvPr>
                <p:ph sz="half" idx="1"/>
              </p:nvPr>
            </p:nvSpPr>
            <p:spPr>
              <a:xfrm>
                <a:off x="838199" y="2067983"/>
                <a:ext cx="10336877" cy="3735410"/>
              </a:xfrm>
            </p:spPr>
            <p:txBody>
              <a:bodyPr/>
              <a:lstStyle/>
              <a:p>
                <a:r>
                  <a:rPr lang="en-US" dirty="0"/>
                  <a:t>24 </a:t>
                </a:r>
                <a:r>
                  <a:rPr lang="en-US" dirty="0" err="1"/>
                  <a:t>estudiantes</a:t>
                </a:r>
                <a:r>
                  <a:rPr lang="en-US" dirty="0"/>
                  <a:t> </a:t>
                </a:r>
                <a:r>
                  <a:rPr lang="en-US" dirty="0" err="1"/>
                  <a:t>realizan</a:t>
                </a:r>
                <a:r>
                  <a:rPr lang="en-US" dirty="0"/>
                  <a:t> un </a:t>
                </a:r>
                <a:r>
                  <a:rPr lang="en-US" dirty="0" err="1"/>
                  <a:t>entrenamiento</a:t>
                </a:r>
                <a:r>
                  <a:rPr lang="en-US" dirty="0"/>
                  <a:t> </a:t>
                </a:r>
                <a:r>
                  <a:rPr lang="en-US" dirty="0" err="1"/>
                  <a:t>enfocado</a:t>
                </a:r>
                <a:r>
                  <a:rPr lang="en-US" dirty="0"/>
                  <a:t> </a:t>
                </a:r>
                <a:r>
                  <a:rPr lang="en-US" dirty="0" err="1"/>
                  <a:t>en</a:t>
                </a:r>
                <a:r>
                  <a:rPr lang="en-US" dirty="0"/>
                  <a:t> </a:t>
                </a:r>
                <a:r>
                  <a:rPr lang="en-US" dirty="0" err="1"/>
                  <a:t>mejorar</a:t>
                </a:r>
                <a:r>
                  <a:rPr lang="en-US" dirty="0"/>
                  <a:t> la </a:t>
                </a:r>
                <a:r>
                  <a:rPr lang="en-US" dirty="0" err="1"/>
                  <a:t>velocidad</a:t>
                </a:r>
                <a:r>
                  <a:rPr lang="en-US" dirty="0"/>
                  <a:t> para </a:t>
                </a:r>
                <a:r>
                  <a:rPr lang="en-US" dirty="0" err="1"/>
                  <a:t>recorrer</a:t>
                </a:r>
                <a:r>
                  <a:rPr lang="en-US" dirty="0"/>
                  <a:t> la </a:t>
                </a:r>
                <a:r>
                  <a:rPr lang="en-US" dirty="0" err="1"/>
                  <a:t>distancia</a:t>
                </a:r>
                <a:r>
                  <a:rPr lang="en-US" dirty="0"/>
                  <a:t> de 40 </a:t>
                </a:r>
                <a:r>
                  <a:rPr lang="en-US" dirty="0" err="1"/>
                  <a:t>yardas</a:t>
                </a:r>
                <a:r>
                  <a:rPr lang="en-US" dirty="0"/>
                  <a:t>. W </a:t>
                </a:r>
                <a:r>
                  <a:rPr lang="en-US" dirty="0" err="1"/>
                  <a:t>corresponde</a:t>
                </a:r>
                <a:r>
                  <a:rPr lang="en-US" dirty="0"/>
                  <a:t> a la </a:t>
                </a:r>
                <a:r>
                  <a:rPr lang="en-US" dirty="0" err="1"/>
                  <a:t>diferencia</a:t>
                </a:r>
                <a:r>
                  <a:rPr lang="en-US" dirty="0"/>
                  <a:t> entre </a:t>
                </a:r>
                <a:r>
                  <a:rPr lang="en-US" dirty="0" err="1"/>
                  <a:t>el</a:t>
                </a:r>
                <a:r>
                  <a:rPr lang="en-US" dirty="0"/>
                  <a:t>  </a:t>
                </a:r>
                <a:r>
                  <a:rPr lang="en-US" dirty="0" err="1"/>
                  <a:t>tiempo</a:t>
                </a:r>
                <a:r>
                  <a:rPr lang="en-US" dirty="0"/>
                  <a:t> antes y </a:t>
                </a:r>
                <a:r>
                  <a:rPr lang="en-US" dirty="0" err="1"/>
                  <a:t>después</a:t>
                </a:r>
                <a:r>
                  <a:rPr lang="en-US" dirty="0"/>
                  <a:t> del </a:t>
                </a:r>
                <a:r>
                  <a:rPr lang="en-US" dirty="0" err="1"/>
                  <a:t>entrenamiento</a:t>
                </a:r>
                <a:endParaRPr lang="en-US" dirty="0"/>
              </a:p>
              <a:p>
                <a14:m>
                  <m:oMath xmlns:m="http://schemas.openxmlformats.org/officeDocument/2006/math">
                    <m:sSub>
                      <m:sSubPr>
                        <m:ctrlPr>
                          <a:rPr lang="es-CR" sz="2800" i="1" smtClean="0">
                            <a:latin typeface="Cambria Math" panose="02040503050406030204" pitchFamily="18" charset="0"/>
                          </a:rPr>
                        </m:ctrlPr>
                      </m:sSubPr>
                      <m:e>
                        <m:r>
                          <a:rPr lang="es-CR" sz="2800" b="0" i="1" smtClean="0">
                            <a:latin typeface="Cambria Math" panose="02040503050406030204" pitchFamily="18" charset="0"/>
                          </a:rPr>
                          <m:t>𝐻</m:t>
                        </m:r>
                      </m:e>
                      <m:sub>
                        <m:r>
                          <a:rPr lang="es-CR" sz="2800" b="0" i="1" smtClean="0">
                            <a:latin typeface="Cambria Math" panose="02040503050406030204" pitchFamily="18" charset="0"/>
                          </a:rPr>
                          <m:t>0</m:t>
                        </m:r>
                      </m:sub>
                    </m:sSub>
                    <m:r>
                      <a:rPr lang="es-CR" sz="2800" b="0" i="1" smtClean="0">
                        <a:latin typeface="Cambria Math" panose="02040503050406030204" pitchFamily="18" charset="0"/>
                      </a:rPr>
                      <m:t>: </m:t>
                    </m:r>
                    <m:sSub>
                      <m:sSubPr>
                        <m:ctrlPr>
                          <a:rPr lang="es-CR" sz="2800" b="0" i="1" smtClean="0">
                            <a:latin typeface="Cambria Math" panose="02040503050406030204" pitchFamily="18" charset="0"/>
                          </a:rPr>
                        </m:ctrlPr>
                      </m:sSubPr>
                      <m:e>
                        <m:r>
                          <a:rPr lang="es-CR" i="1">
                            <a:latin typeface="Cambria Math" panose="02040503050406030204" pitchFamily="18" charset="0"/>
                            <a:ea typeface="Cambria Math" panose="02040503050406030204" pitchFamily="18" charset="0"/>
                          </a:rPr>
                          <m:t>𝜇</m:t>
                        </m:r>
                      </m:e>
                      <m:sub>
                        <m:r>
                          <a:rPr lang="en-US" sz="2800" b="0" i="1" smtClean="0">
                            <a:latin typeface="Cambria Math" panose="02040503050406030204" pitchFamily="18" charset="0"/>
                          </a:rPr>
                          <m:t>𝑤</m:t>
                        </m:r>
                      </m:sub>
                    </m:sSub>
                    <m:r>
                      <a:rPr lang="es-CR"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0</m:t>
                    </m:r>
                  </m:oMath>
                </a14:m>
                <a:endParaRPr lang="es-CR" dirty="0"/>
              </a:p>
              <a:p>
                <a14:m>
                  <m:oMath xmlns:m="http://schemas.openxmlformats.org/officeDocument/2006/math">
                    <m:sSub>
                      <m:sSubPr>
                        <m:ctrlPr>
                          <a:rPr lang="es-CR" sz="2800" i="1" smtClean="0">
                            <a:latin typeface="Cambria Math" panose="02040503050406030204" pitchFamily="18" charset="0"/>
                          </a:rPr>
                        </m:ctrlPr>
                      </m:sSubPr>
                      <m:e>
                        <m:r>
                          <a:rPr lang="es-CR" sz="2800" b="0" i="1" smtClean="0">
                            <a:latin typeface="Cambria Math" panose="02040503050406030204" pitchFamily="18" charset="0"/>
                          </a:rPr>
                          <m:t>𝐻</m:t>
                        </m:r>
                      </m:e>
                      <m:sub>
                        <m:r>
                          <a:rPr lang="es-CR" sz="2800" b="0" i="1" smtClean="0">
                            <a:latin typeface="Cambria Math" panose="02040503050406030204" pitchFamily="18" charset="0"/>
                          </a:rPr>
                          <m:t>1</m:t>
                        </m:r>
                      </m:sub>
                    </m:sSub>
                    <m:r>
                      <a:rPr lang="es-CR" sz="2800" b="0" i="1" smtClean="0">
                        <a:latin typeface="Cambria Math" panose="02040503050406030204" pitchFamily="18" charset="0"/>
                      </a:rPr>
                      <m:t>:</m:t>
                    </m:r>
                    <m:sSub>
                      <m:sSubPr>
                        <m:ctrlPr>
                          <a:rPr lang="es-CR" i="1">
                            <a:latin typeface="Cambria Math" panose="02040503050406030204" pitchFamily="18" charset="0"/>
                          </a:rPr>
                        </m:ctrlPr>
                      </m:sSubPr>
                      <m:e>
                        <m:r>
                          <a:rPr lang="es-CR" i="1">
                            <a:latin typeface="Cambria Math" panose="02040503050406030204" pitchFamily="18" charset="0"/>
                            <a:ea typeface="Cambria Math" panose="02040503050406030204" pitchFamily="18" charset="0"/>
                          </a:rPr>
                          <m:t>𝜇</m:t>
                        </m:r>
                      </m:e>
                      <m:sub>
                        <m:r>
                          <a:rPr lang="en-US" i="1">
                            <a:latin typeface="Cambria Math" panose="02040503050406030204" pitchFamily="18" charset="0"/>
                          </a:rPr>
                          <m:t>𝑤</m:t>
                        </m:r>
                      </m:sub>
                    </m:sSub>
                    <m:r>
                      <a:rPr lang="es-CR" b="0" i="1" smtClean="0">
                        <a:latin typeface="Cambria Math" panose="02040503050406030204" pitchFamily="18" charset="0"/>
                      </a:rPr>
                      <m:t>&gt;</m:t>
                    </m:r>
                    <m:r>
                      <a:rPr lang="es-CR" sz="2800" b="0" i="1" smtClean="0">
                        <a:latin typeface="Cambria Math" panose="02040503050406030204" pitchFamily="18" charset="0"/>
                        <a:ea typeface="Cambria Math" panose="02040503050406030204" pitchFamily="18" charset="0"/>
                      </a:rPr>
                      <m:t>0</m:t>
                    </m:r>
                  </m:oMath>
                </a14:m>
                <a:endParaRPr lang="es-CR" sz="2800" b="0" dirty="0">
                  <a:ea typeface="Cambria Math" panose="02040503050406030204" pitchFamily="18" charset="0"/>
                </a:endParaRPr>
              </a:p>
              <a:p>
                <a:r>
                  <a:rPr lang="es-CR" sz="2800" b="0" dirty="0">
                    <a:ea typeface="Cambria Math" panose="02040503050406030204" pitchFamily="18" charset="0"/>
                  </a:rPr>
                  <a:t>Realizar la prueba de hipótesis con un nivel de significancia de 5%.</a:t>
                </a:r>
              </a:p>
              <a:p>
                <a:endParaRPr lang="es-CR" dirty="0"/>
              </a:p>
            </p:txBody>
          </p:sp>
        </mc:Choice>
        <mc:Fallback xmlns="">
          <p:sp>
            <p:nvSpPr>
              <p:cNvPr id="2" name="Content Placeholder 1">
                <a:extLst>
                  <a:ext uri="{FF2B5EF4-FFF2-40B4-BE49-F238E27FC236}">
                    <a16:creationId xmlns:a16="http://schemas.microsoft.com/office/drawing/2014/main" id="{D2F2094D-8538-503A-0739-CAC97B620E56}"/>
                  </a:ext>
                </a:extLst>
              </p:cNvPr>
              <p:cNvSpPr>
                <a:spLocks noGrp="1" noRot="1" noChangeAspect="1" noMove="1" noResize="1" noEditPoints="1" noAdjustHandles="1" noChangeArrowheads="1" noChangeShapeType="1" noTextEdit="1"/>
              </p:cNvSpPr>
              <p:nvPr>
                <p:ph sz="half" idx="1"/>
              </p:nvPr>
            </p:nvSpPr>
            <p:spPr>
              <a:xfrm>
                <a:off x="838199" y="2067983"/>
                <a:ext cx="10336877" cy="3735410"/>
              </a:xfrm>
              <a:blipFill>
                <a:blip r:embed="rId2"/>
                <a:stretch>
                  <a:fillRect l="-1002" t="-2610"/>
                </a:stretch>
              </a:blipFill>
            </p:spPr>
            <p:txBody>
              <a:bodyPr/>
              <a:lstStyle/>
              <a:p>
                <a:r>
                  <a:rPr lang="es-CR">
                    <a:noFill/>
                  </a:rPr>
                  <a:t> </a:t>
                </a:r>
              </a:p>
            </p:txBody>
          </p:sp>
        </mc:Fallback>
      </mc:AlternateContent>
      <p:sp>
        <p:nvSpPr>
          <p:cNvPr id="4" name="Title 3">
            <a:extLst>
              <a:ext uri="{FF2B5EF4-FFF2-40B4-BE49-F238E27FC236}">
                <a16:creationId xmlns:a16="http://schemas.microsoft.com/office/drawing/2014/main" id="{B9579EFD-C39D-9264-859C-CE216741197C}"/>
              </a:ext>
            </a:extLst>
          </p:cNvPr>
          <p:cNvSpPr>
            <a:spLocks noGrp="1"/>
          </p:cNvSpPr>
          <p:nvPr>
            <p:ph type="title"/>
          </p:nvPr>
        </p:nvSpPr>
        <p:spPr/>
        <p:txBody>
          <a:bodyPr/>
          <a:lstStyle/>
          <a:p>
            <a:r>
              <a:rPr lang="en-US" dirty="0" err="1"/>
              <a:t>Ejercicio</a:t>
            </a:r>
            <a:endParaRPr lang="es-CR" dirty="0"/>
          </a:p>
        </p:txBody>
      </p:sp>
    </p:spTree>
    <p:extLst>
      <p:ext uri="{BB962C8B-B14F-4D97-AF65-F5344CB8AC3E}">
        <p14:creationId xmlns:p14="http://schemas.microsoft.com/office/powerpoint/2010/main" val="15830870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BAE2867-CECC-32D2-032E-990D7DF049CD}"/>
              </a:ext>
            </a:extLst>
          </p:cNvPr>
          <p:cNvSpPr>
            <a:spLocks noGrp="1"/>
          </p:cNvSpPr>
          <p:nvPr>
            <p:ph sz="half" idx="1"/>
          </p:nvPr>
        </p:nvSpPr>
        <p:spPr>
          <a:xfrm>
            <a:off x="838199" y="2067983"/>
            <a:ext cx="10336877" cy="1492081"/>
          </a:xfrm>
        </p:spPr>
        <p:txBody>
          <a:bodyPr/>
          <a:lstStyle/>
          <a:p>
            <a:r>
              <a:rPr lang="pl-PL" dirty="0"/>
              <a:t>W &lt;- c(0.28, 0.01, 0.13, 0.33, -0.03, 0.07, -0.18, -0.14,        -0.33, 0.01, 0.22, 0.29, -0.08, 0.23, 0.08, 0.04,       -0.30, -0.08, 0.09, 0.70, 0.33, -0.34, 0.50, 0.06)</a:t>
            </a:r>
            <a:endParaRPr lang="es-CR" dirty="0"/>
          </a:p>
        </p:txBody>
      </p:sp>
      <p:sp>
        <p:nvSpPr>
          <p:cNvPr id="4" name="Title 3">
            <a:extLst>
              <a:ext uri="{FF2B5EF4-FFF2-40B4-BE49-F238E27FC236}">
                <a16:creationId xmlns:a16="http://schemas.microsoft.com/office/drawing/2014/main" id="{47E88C57-58C4-0BEC-F092-1C362328D5AF}"/>
              </a:ext>
            </a:extLst>
          </p:cNvPr>
          <p:cNvSpPr>
            <a:spLocks noGrp="1"/>
          </p:cNvSpPr>
          <p:nvPr>
            <p:ph type="title"/>
          </p:nvPr>
        </p:nvSpPr>
        <p:spPr/>
        <p:txBody>
          <a:bodyPr/>
          <a:lstStyle/>
          <a:p>
            <a:r>
              <a:rPr lang="es-CR" dirty="0"/>
              <a:t>Datos de W</a:t>
            </a:r>
          </a:p>
        </p:txBody>
      </p:sp>
    </p:spTree>
    <p:extLst>
      <p:ext uri="{BB962C8B-B14F-4D97-AF65-F5344CB8AC3E}">
        <p14:creationId xmlns:p14="http://schemas.microsoft.com/office/powerpoint/2010/main" val="5522645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47963-9847-D956-EC01-6D075D5EFA04}"/>
              </a:ext>
            </a:extLst>
          </p:cNvPr>
          <p:cNvSpPr>
            <a:spLocks noGrp="1"/>
          </p:cNvSpPr>
          <p:nvPr>
            <p:ph type="title"/>
          </p:nvPr>
        </p:nvSpPr>
        <p:spPr/>
        <p:txBody>
          <a:bodyPr/>
          <a:lstStyle/>
          <a:p>
            <a:r>
              <a:rPr lang="es-CR" dirty="0"/>
              <a:t>Bibliografía</a:t>
            </a:r>
          </a:p>
        </p:txBody>
      </p:sp>
      <p:sp>
        <p:nvSpPr>
          <p:cNvPr id="3" name="Content Placeholder 2">
            <a:extLst>
              <a:ext uri="{FF2B5EF4-FFF2-40B4-BE49-F238E27FC236}">
                <a16:creationId xmlns:a16="http://schemas.microsoft.com/office/drawing/2014/main" id="{FE1C764F-3023-9E9E-4783-CDF2241DDB9B}"/>
              </a:ext>
            </a:extLst>
          </p:cNvPr>
          <p:cNvSpPr>
            <a:spLocks noGrp="1"/>
          </p:cNvSpPr>
          <p:nvPr>
            <p:ph sz="half" idx="1"/>
          </p:nvPr>
        </p:nvSpPr>
        <p:spPr>
          <a:xfrm>
            <a:off x="838199" y="2067983"/>
            <a:ext cx="10336877" cy="3735410"/>
          </a:xfrm>
        </p:spPr>
        <p:txBody>
          <a:bodyPr/>
          <a:lstStyle/>
          <a:p>
            <a:r>
              <a:rPr lang="en-US" b="0" i="0" dirty="0">
                <a:solidFill>
                  <a:srgbClr val="373A3C"/>
                </a:solidFill>
                <a:effectLst/>
                <a:latin typeface="Source Sans Pro" panose="020B0503030403020204" pitchFamily="34" charset="0"/>
              </a:rPr>
              <a:t>Hogg, Robert V.., Elliot A.. Tanis, and Dale L.. Zimmerman. 2015. </a:t>
            </a:r>
            <a:r>
              <a:rPr lang="en-US" b="0" i="1" dirty="0">
                <a:solidFill>
                  <a:srgbClr val="373A3C"/>
                </a:solidFill>
                <a:effectLst/>
                <a:latin typeface="Source Sans Pro" panose="020B0503030403020204" pitchFamily="34" charset="0"/>
              </a:rPr>
              <a:t>Probability and Statistical Inference</a:t>
            </a:r>
            <a:r>
              <a:rPr lang="en-US" b="0" i="0" dirty="0">
                <a:solidFill>
                  <a:srgbClr val="373A3C"/>
                </a:solidFill>
                <a:effectLst/>
                <a:latin typeface="Source Sans Pro" panose="020B0503030403020204" pitchFamily="34" charset="0"/>
              </a:rPr>
              <a:t>. Pearson</a:t>
            </a:r>
          </a:p>
          <a:p>
            <a:endParaRPr lang="en-US" dirty="0">
              <a:solidFill>
                <a:srgbClr val="373A3C"/>
              </a:solidFill>
              <a:latin typeface="Source Sans Pro" panose="020B0503030403020204" pitchFamily="34" charset="0"/>
            </a:endParaRPr>
          </a:p>
          <a:p>
            <a:r>
              <a:rPr lang="en-US" b="0" i="0" dirty="0">
                <a:solidFill>
                  <a:srgbClr val="373A3C"/>
                </a:solidFill>
                <a:effectLst/>
                <a:latin typeface="Source Sans Pro" panose="020B0503030403020204" pitchFamily="34" charset="0"/>
              </a:rPr>
              <a:t>Sahu, Sujit K. 2024. </a:t>
            </a:r>
            <a:r>
              <a:rPr lang="en-US" b="0" i="1" dirty="0">
                <a:solidFill>
                  <a:srgbClr val="373A3C"/>
                </a:solidFill>
                <a:effectLst/>
                <a:latin typeface="Source Sans Pro" panose="020B0503030403020204" pitchFamily="34" charset="0"/>
              </a:rPr>
              <a:t>Introduction to Probability, Statistics &amp; r</a:t>
            </a:r>
            <a:r>
              <a:rPr lang="en-US" b="0" i="0" dirty="0">
                <a:solidFill>
                  <a:srgbClr val="373A3C"/>
                </a:solidFill>
                <a:effectLst/>
                <a:latin typeface="Source Sans Pro" panose="020B0503030403020204" pitchFamily="34" charset="0"/>
              </a:rPr>
              <a:t>. </a:t>
            </a:r>
            <a:r>
              <a:rPr lang="en-US" b="0" i="1" dirty="0">
                <a:solidFill>
                  <a:srgbClr val="373A3C"/>
                </a:solidFill>
                <a:effectLst/>
                <a:latin typeface="Source Sans Pro" panose="020B0503030403020204" pitchFamily="34" charset="0"/>
              </a:rPr>
              <a:t>Introduction to Probability, Statistics &amp; R</a:t>
            </a:r>
            <a:r>
              <a:rPr lang="en-US" b="0" i="0" dirty="0">
                <a:solidFill>
                  <a:srgbClr val="373A3C"/>
                </a:solidFill>
                <a:effectLst/>
                <a:latin typeface="Source Sans Pro" panose="020B0503030403020204" pitchFamily="34" charset="0"/>
              </a:rPr>
              <a:t>. Springer International Publishing. </a:t>
            </a:r>
            <a:r>
              <a:rPr lang="en-US" b="0" i="0" u="sng" dirty="0">
                <a:effectLst/>
                <a:latin typeface="Source Sans Pro" panose="020B0503030403020204" pitchFamily="34" charset="0"/>
                <a:hlinkClick r:id="rId2"/>
              </a:rPr>
              <a:t>https://doi.org/10.1007/978-3-031-37865-2</a:t>
            </a:r>
            <a:r>
              <a:rPr lang="en-US" b="0" i="0" dirty="0">
                <a:solidFill>
                  <a:srgbClr val="373A3C"/>
                </a:solidFill>
                <a:effectLst/>
                <a:latin typeface="Source Sans Pro" panose="020B0503030403020204" pitchFamily="34" charset="0"/>
              </a:rPr>
              <a:t>.</a:t>
            </a:r>
            <a:endParaRPr lang="es-CR" dirty="0"/>
          </a:p>
        </p:txBody>
      </p:sp>
    </p:spTree>
    <p:extLst>
      <p:ext uri="{BB962C8B-B14F-4D97-AF65-F5344CB8AC3E}">
        <p14:creationId xmlns:p14="http://schemas.microsoft.com/office/powerpoint/2010/main" val="3875904549"/>
      </p:ext>
    </p:extLst>
  </p:cSld>
  <p:clrMapOvr>
    <a:masterClrMapping/>
  </p:clrMapOvr>
</p:sld>
</file>

<file path=ppt/theme/theme1.xml><?xml version="1.0" encoding="utf-8"?>
<a:theme xmlns:a="http://schemas.openxmlformats.org/drawingml/2006/main" name="Fidélitas ">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13349</TotalTime>
  <Words>1256</Words>
  <Application>Microsoft Office PowerPoint</Application>
  <PresentationFormat>Widescreen</PresentationFormat>
  <Paragraphs>137</Paragraphs>
  <Slides>26</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Arial</vt:lpstr>
      <vt:lpstr>Calibri</vt:lpstr>
      <vt:lpstr>Cambria Math</vt:lpstr>
      <vt:lpstr>Source Sans Pro</vt:lpstr>
      <vt:lpstr>Trust Sans</vt:lpstr>
      <vt:lpstr>Trust Sans Black</vt:lpstr>
      <vt:lpstr>Trust Sans Bold</vt:lpstr>
      <vt:lpstr>Fidélitas </vt:lpstr>
      <vt:lpstr>Unidad 4: Pruebas de hipótesis</vt:lpstr>
      <vt:lpstr>Contenido</vt:lpstr>
      <vt:lpstr>Teorema del Límite Central</vt:lpstr>
      <vt:lpstr>Prueba de Hipótesis</vt:lpstr>
      <vt:lpstr>Definición</vt:lpstr>
      <vt:lpstr>Siguiendo con el ejemplo…</vt:lpstr>
      <vt:lpstr>Error tipo I y error tipo II</vt:lpstr>
      <vt:lpstr>Valor p</vt:lpstr>
      <vt:lpstr>Prueba de hipótesis de una media</vt:lpstr>
      <vt:lpstr>Prueba de hipótesis de una media</vt:lpstr>
      <vt:lpstr>Prueba de hipótesis de una media, varianza conocida</vt:lpstr>
      <vt:lpstr>Prueba de hipótesis de una media, varianza desconocida</vt:lpstr>
      <vt:lpstr>Región de Rechazo</vt:lpstr>
      <vt:lpstr>Resumen</vt:lpstr>
      <vt:lpstr>Tabla de la Distribución Normal Estándar</vt:lpstr>
      <vt:lpstr>Recordando distribución normal…</vt:lpstr>
      <vt:lpstr>Tabla t-student</vt:lpstr>
      <vt:lpstr>Ejemplo: n pequeño y varianza desconocida</vt:lpstr>
      <vt:lpstr>Primer paso: encontrar el valor t en la tabla</vt:lpstr>
      <vt:lpstr>Siguiente paso: Evaluar región crítica</vt:lpstr>
      <vt:lpstr>Resultado de la prueba</vt:lpstr>
      <vt:lpstr>Ejercicio</vt:lpstr>
      <vt:lpstr>Resultado</vt:lpstr>
      <vt:lpstr>Ejercicio</vt:lpstr>
      <vt:lpstr>Datos de W</vt:lpstr>
      <vt:lpstr>Bibliografía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TÍTULO</dc:title>
  <dc:creator>Fiorella Chacón Morales</dc:creator>
  <cp:lastModifiedBy>Fabian Brenes</cp:lastModifiedBy>
  <cp:revision>117</cp:revision>
  <dcterms:created xsi:type="dcterms:W3CDTF">2023-02-23T21:29:48Z</dcterms:created>
  <dcterms:modified xsi:type="dcterms:W3CDTF">2026-02-27T17:33:42Z</dcterms:modified>
</cp:coreProperties>
</file>